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5" d="100"/>
          <a:sy n="145" d="100"/>
        </p:scale>
        <p:origin x="858"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4A0148-9966-4AB0-8C8D-9FD9BAFA14F6}" type="datetimeFigureOut">
              <a:rPr lang="en-US" smtClean="0"/>
              <a:t>9/29/2026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633430-4F69-4C9A-9580-5A9D9A40C5BC}" type="slidenum">
              <a:rPr lang="en-US" smtClean="0"/>
              <a:t>‹#›</a:t>
            </a:fld>
            <a:endParaRPr lang="en-US"/>
          </a:p>
        </p:txBody>
      </p:sp>
    </p:spTree>
    <p:extLst>
      <p:ext uri="{BB962C8B-B14F-4D97-AF65-F5344CB8AC3E}">
        <p14:creationId xmlns:p14="http://schemas.microsoft.com/office/powerpoint/2010/main" val="412452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Opening: FixProof is an evidence-first workflow for evaluating AI-generated vulnerability repairs. This update focuses on evidence that changed later human review. The study uses three controlled Express fixtures, so the results support the workflow design rather than a production repair-success rate.</a:t>
            </a:r>
          </a:p>
        </p:txBody>
      </p:sp>
      <p:sp>
        <p:nvSpPr>
          <p:cNvPr id="4" name="Slide Number Placeholder 3"/>
          <p:cNvSpPr>
            <a:spLocks noGrp="1"/>
          </p:cNvSpPr>
          <p:nvPr>
            <p:ph type="sldNum" sz="quarter" idx="5"/>
          </p:nvPr>
        </p:nvSpPr>
        <p:spPr/>
        <p:txBody>
          <a:bodyPr/>
          <a:lstStyle/>
          <a:p>
            <a:fld id="{2B633430-4F69-4C9A-9580-5A9D9A40C5BC}" type="slidenum">
              <a:rPr lang="en-US" smtClean="0"/>
              <a:t>1</a:t>
            </a:fld>
            <a:endParaRPr lang="en-US"/>
          </a:p>
        </p:txBody>
      </p:sp>
    </p:spTree>
    <p:extLst>
      <p:ext uri="{BB962C8B-B14F-4D97-AF65-F5344CB8AC3E}">
        <p14:creationId xmlns:p14="http://schemas.microsoft.com/office/powerpoint/2010/main" val="952957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FixProof asks whether separate evidence channels improve a patch decision. The benchmark is intentionally small: one XSS, one SQLi, and one traversal fixture, with five initial calls per fixture. The generator and prompt are fixed. This lets me preserve a complete evidence chain, but it does not represent production repositories or broad application diversity.</a:t>
            </a:r>
          </a:p>
        </p:txBody>
      </p:sp>
      <p:sp>
        <p:nvSpPr>
          <p:cNvPr id="4" name="Slide Number Placeholder 3"/>
          <p:cNvSpPr>
            <a:spLocks noGrp="1"/>
          </p:cNvSpPr>
          <p:nvPr>
            <p:ph type="sldNum" sz="quarter" idx="5"/>
          </p:nvPr>
        </p:nvSpPr>
        <p:spPr/>
        <p:txBody>
          <a:bodyPr/>
          <a:lstStyle/>
          <a:p>
            <a:fld id="{2B633430-4F69-4C9A-9580-5A9D9A40C5BC}" type="slidenum">
              <a:rPr lang="en-US" smtClean="0"/>
              <a:t>2</a:t>
            </a:fld>
            <a:endParaRPr lang="en-US"/>
          </a:p>
        </p:txBody>
      </p:sp>
    </p:spTree>
    <p:extLst>
      <p:ext uri="{BB962C8B-B14F-4D97-AF65-F5344CB8AC3E}">
        <p14:creationId xmlns:p14="http://schemas.microsoft.com/office/powerpoint/2010/main" val="3220154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Walk left to right through primary-v1: controlled fixtures, focused repair prompt, copied workspace, separate validators, deterministic policy, and human review for selected cases. Supplemental-v1 later reused saved inputs and candidates, made no new model calls, and stored later qualifications without rewriting the primary record. The supplemental cases were predefined and frozen in the project's internal registry before candidate execution; this was not an external public preregistration. Copied workspaces preserve study inputs; they are not security sandboxes.</a:t>
            </a:r>
          </a:p>
        </p:txBody>
      </p:sp>
      <p:sp>
        <p:nvSpPr>
          <p:cNvPr id="4" name="Slide Number Placeholder 3"/>
          <p:cNvSpPr>
            <a:spLocks noGrp="1"/>
          </p:cNvSpPr>
          <p:nvPr>
            <p:ph type="sldNum" sz="quarter" idx="5"/>
          </p:nvPr>
        </p:nvSpPr>
        <p:spPr/>
        <p:txBody>
          <a:bodyPr/>
          <a:lstStyle/>
          <a:p>
            <a:fld id="{2B633430-4F69-4C9A-9580-5A9D9A40C5BC}" type="slidenum">
              <a:rPr lang="en-US" smtClean="0"/>
              <a:t>3</a:t>
            </a:fld>
            <a:endParaRPr lang="en-US"/>
          </a:p>
        </p:txBody>
      </p:sp>
    </p:spTree>
    <p:extLst>
      <p:ext uri="{BB962C8B-B14F-4D97-AF65-F5344CB8AC3E}">
        <p14:creationId xmlns:p14="http://schemas.microsoft.com/office/powerpoint/2010/main" val="22964643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The primary protocol scheduled five calls for each fixture and required all 15. Every candidate passed its complete frozen primary security and functional suite. Only the five SQLi targets disappeared from SAST. XSS and traversal retained their findings while runtime checks passed, producing ten SAST/runtime disagreements and human adjudication. The pass columns count candidates, not individual test cases.</a:t>
            </a:r>
          </a:p>
        </p:txBody>
      </p:sp>
      <p:sp>
        <p:nvSpPr>
          <p:cNvPr id="4" name="Slide Number Placeholder 3"/>
          <p:cNvSpPr>
            <a:spLocks noGrp="1"/>
          </p:cNvSpPr>
          <p:nvPr>
            <p:ph type="sldNum" sz="quarter" idx="5"/>
          </p:nvPr>
        </p:nvSpPr>
        <p:spPr/>
        <p:txBody>
          <a:bodyPr/>
          <a:lstStyle/>
          <a:p>
            <a:fld id="{2B633430-4F69-4C9A-9580-5A9D9A40C5BC}" type="slidenum">
              <a:rPr lang="en-US" smtClean="0"/>
              <a:t>4</a:t>
            </a:fld>
            <a:endParaRPr lang="en-US"/>
          </a:p>
        </p:txBody>
      </p:sp>
    </p:spTree>
    <p:extLst>
      <p:ext uri="{BB962C8B-B14F-4D97-AF65-F5344CB8AC3E}">
        <p14:creationId xmlns:p14="http://schemas.microsoft.com/office/powerpoint/2010/main" val="26073064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The supplement first characterized each vulnerable baseline, then applied the same relevant cases to the five saved candidates for that CWE. The 28 case definitions were recorded and frozen in the project's internal registry before candidate execution. The 140 observations are case-level outcomes, not 140 patches. Security, parity, and robustness answer different questions, so I report their denominators separately. Five traversal symlink observations remain inconclusive, not passed.</a:t>
            </a:r>
          </a:p>
        </p:txBody>
      </p:sp>
      <p:sp>
        <p:nvSpPr>
          <p:cNvPr id="4" name="Slide Number Placeholder 3"/>
          <p:cNvSpPr>
            <a:spLocks noGrp="1"/>
          </p:cNvSpPr>
          <p:nvPr>
            <p:ph type="sldNum" sz="quarter" idx="5"/>
          </p:nvPr>
        </p:nvSpPr>
        <p:spPr/>
        <p:txBody>
          <a:bodyPr/>
          <a:lstStyle/>
          <a:p>
            <a:fld id="{2B633430-4F69-4C9A-9580-5A9D9A40C5BC}" type="slidenum">
              <a:rPr lang="en-US" smtClean="0"/>
              <a:t>5</a:t>
            </a:fld>
            <a:endParaRPr lang="en-US"/>
          </a:p>
        </p:txBody>
      </p:sp>
    </p:spTree>
    <p:extLst>
      <p:ext uri="{BB962C8B-B14F-4D97-AF65-F5344CB8AC3E}">
        <p14:creationId xmlns:p14="http://schemas.microsoft.com/office/powerpoint/2010/main" val="325600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Switch to https://fixproof.netlify.app/. Explain that this is a sanitized, read-only presentation layer over the saved evidence. Filter to Reflected XSS and open XSS 04. Point to the frozen primary result, the XSS-P01 parity failure, the original and later human records, and the patch excerpt. If asked where the application ran, explain that validators launched the saved candidate app/app.js on 127.0.0.1 inside a disposable workspace copy. The website displays results; it does not execute the app, replay tests, or call the model.</a:t>
            </a:r>
          </a:p>
        </p:txBody>
      </p:sp>
      <p:sp>
        <p:nvSpPr>
          <p:cNvPr id="4" name="Slide Number Placeholder 3"/>
          <p:cNvSpPr>
            <a:spLocks noGrp="1"/>
          </p:cNvSpPr>
          <p:nvPr>
            <p:ph type="sldNum" sz="quarter" idx="5"/>
          </p:nvPr>
        </p:nvSpPr>
        <p:spPr/>
        <p:txBody>
          <a:bodyPr/>
          <a:lstStyle/>
          <a:p>
            <a:fld id="{2B633430-4F69-4C9A-9580-5A9D9A40C5BC}" type="slidenum">
              <a:rPr lang="en-US" smtClean="0"/>
              <a:t>6</a:t>
            </a:fld>
            <a:endParaRPr lang="en-US"/>
          </a:p>
        </p:txBody>
      </p:sp>
    </p:spTree>
    <p:extLst>
      <p:ext uri="{BB962C8B-B14F-4D97-AF65-F5344CB8AC3E}">
        <p14:creationId xmlns:p14="http://schemas.microsoft.com/office/powerpoint/2010/main" val="21607685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This is the central comparison. Both candidates encode HTML and blocked all three registered supplemental XSS attacks. XSS 03 uses String(value), so an omitted name remains the text undefined and passes all five parity cases. XSS 04 uses nullish coalescing to replace a missing name with an empty string, so XSS-P01 fails exact parity. The later rejection is bounded to the frozen parity criterion; it does not mean the registered XSS attacks still worked.</a:t>
            </a:r>
          </a:p>
        </p:txBody>
      </p:sp>
      <p:sp>
        <p:nvSpPr>
          <p:cNvPr id="4" name="Slide Number Placeholder 3"/>
          <p:cNvSpPr>
            <a:spLocks noGrp="1"/>
          </p:cNvSpPr>
          <p:nvPr>
            <p:ph type="sldNum" sz="quarter" idx="5"/>
          </p:nvPr>
        </p:nvSpPr>
        <p:spPr/>
        <p:txBody>
          <a:bodyPr/>
          <a:lstStyle/>
          <a:p>
            <a:fld id="{2B633430-4F69-4C9A-9580-5A9D9A40C5BC}" type="slidenum">
              <a:rPr lang="en-US" smtClean="0"/>
              <a:t>7</a:t>
            </a:fld>
            <a:endParaRPr lang="en-US"/>
          </a:p>
        </p:txBody>
      </p:sp>
    </p:spTree>
    <p:extLst>
      <p:ext uri="{BB962C8B-B14F-4D97-AF65-F5344CB8AC3E}">
        <p14:creationId xmlns:p14="http://schemas.microsoft.com/office/powerpoint/2010/main" val="22923385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The original ten reviews and the later fourteen records are separate evidence layers. The later decisions include five rejections, five bounded SQLi acceptances, and four traversal requests for more testing. Tell students that https://fixproof.netlify.app/ is a read-only reference for all 15 candidates, tests, and rationales. State the limits explicitly. Then ask which bounded extension would strengthen confidence more for Report 4: adding a second fixture for an existing CWE or resolving PATH-S06 in a symlink-capable environment. Progress Report 4 is due October 18 and will focus on control and failure-handling evidence, related-work comparison, limitations, and reproducibility. Close with the course AI-use disclosure: Codex and ChatGPT assisted implementation, analysis, documentation, and presentation preparation; separate saved OpenAI API calls proposed experimental repairs; I made the recorded human decisions and remain responsible for the claims.</a:t>
            </a:r>
          </a:p>
        </p:txBody>
      </p:sp>
      <p:sp>
        <p:nvSpPr>
          <p:cNvPr id="4" name="Slide Number Placeholder 3"/>
          <p:cNvSpPr>
            <a:spLocks noGrp="1"/>
          </p:cNvSpPr>
          <p:nvPr>
            <p:ph type="sldNum" sz="quarter" idx="5"/>
          </p:nvPr>
        </p:nvSpPr>
        <p:spPr/>
        <p:txBody>
          <a:bodyPr/>
          <a:lstStyle/>
          <a:p>
            <a:fld id="{2B633430-4F69-4C9A-9580-5A9D9A40C5BC}" type="slidenum">
              <a:rPr lang="en-US" smtClean="0"/>
              <a:t>8</a:t>
            </a:fld>
            <a:endParaRPr lang="en-US"/>
          </a:p>
        </p:txBody>
      </p:sp>
    </p:spTree>
    <p:extLst>
      <p:ext uri="{BB962C8B-B14F-4D97-AF65-F5344CB8AC3E}">
        <p14:creationId xmlns:p14="http://schemas.microsoft.com/office/powerpoint/2010/main" val="26778816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Backup only. Use this slide if someone asks why SQLi was accepted despite SQL-R01 or why traversal requests more testing. Keep security, parity, and robustness interpretations separate. SQL-R01 is a low-impact robustness failure under Tony's bounded criterion. PATH-S06 is inconclusive and prevents a complete symlink-safety claim.</a:t>
            </a:r>
          </a:p>
        </p:txBody>
      </p:sp>
      <p:sp>
        <p:nvSpPr>
          <p:cNvPr id="4" name="Slide Number Placeholder 3"/>
          <p:cNvSpPr>
            <a:spLocks noGrp="1"/>
          </p:cNvSpPr>
          <p:nvPr>
            <p:ph type="sldNum" sz="quarter" idx="5"/>
          </p:nvPr>
        </p:nvSpPr>
        <p:spPr/>
        <p:txBody>
          <a:bodyPr/>
          <a:lstStyle/>
          <a:p>
            <a:fld id="{2B633430-4F69-4C9A-9580-5A9D9A40C5BC}" type="slidenum">
              <a:rPr lang="en-US" smtClean="0"/>
              <a:t>9</a:t>
            </a:fld>
            <a:endParaRPr lang="en-US"/>
          </a:p>
        </p:txBody>
      </p:sp>
    </p:spTree>
    <p:extLst>
      <p:ext uri="{BB962C8B-B14F-4D97-AF65-F5344CB8AC3E}">
        <p14:creationId xmlns:p14="http://schemas.microsoft.com/office/powerpoint/2010/main" val="12965769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FCF08-AD8B-A503-44E6-94290D91F2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FBFE05-5CAD-936E-70C5-53F10AF4EE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F2476CD-20D7-1745-992B-AA6F59549E20}"/>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5" name="Footer Placeholder 4">
            <a:extLst>
              <a:ext uri="{FF2B5EF4-FFF2-40B4-BE49-F238E27FC236}">
                <a16:creationId xmlns:a16="http://schemas.microsoft.com/office/drawing/2014/main" id="{7CDC604E-36B1-C22F-8D75-3394549F0F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846953-1C1D-D6EA-A2C4-D6F06D684FDD}"/>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1188975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90994-CE90-A093-CD9D-6313029D57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7DE0EF-583E-DC62-9D3B-39A63A63F6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C48C40-53F3-3610-9465-9BAEB8A196FF}"/>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5" name="Footer Placeholder 4">
            <a:extLst>
              <a:ext uri="{FF2B5EF4-FFF2-40B4-BE49-F238E27FC236}">
                <a16:creationId xmlns:a16="http://schemas.microsoft.com/office/drawing/2014/main" id="{C5058BD4-A6F1-D28B-B9B7-849565833D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BF9209-2B2E-F715-DFD4-9AE273EAEDFE}"/>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3593931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F2483-CEA6-0492-8FFB-90D8506C7C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7F4EDD-5406-94C3-FCB2-E416D0B3429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90EA26-D080-9D5A-5565-574FDF9B5FC2}"/>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5" name="Footer Placeholder 4">
            <a:extLst>
              <a:ext uri="{FF2B5EF4-FFF2-40B4-BE49-F238E27FC236}">
                <a16:creationId xmlns:a16="http://schemas.microsoft.com/office/drawing/2014/main" id="{94257B6F-B5F7-F59B-1ACE-C26E2007C9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264D5D-36FB-B0FA-7D41-B477B5224326}"/>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2649998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FEC6A-18D4-C422-2D98-42C7F976F9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523865-CBDC-56E7-00F0-C46CD723AC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EA904EC-EB4C-80F1-8D6F-5B0D742992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BDA5934-A2E5-3B5A-C368-3BF425981DC9}"/>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6" name="Footer Placeholder 5">
            <a:extLst>
              <a:ext uri="{FF2B5EF4-FFF2-40B4-BE49-F238E27FC236}">
                <a16:creationId xmlns:a16="http://schemas.microsoft.com/office/drawing/2014/main" id="{D4EB7093-3A61-A47A-3B9A-581C773E03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AF47EC-FAAC-A373-DA84-0C08C31C2692}"/>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3243583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9A65B-7DC7-6A27-3A8F-BBBAEBDBB5B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776071C-13FD-E7F7-C05C-4246FB888E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F4BF58-5A82-0FB3-661C-8601EA8324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92ED7A-8BC4-9EF6-E5BD-8F082E4B6D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F0C154-8175-3B18-CBCB-7A05A60BA8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29B297-9522-1475-1B7A-79FF3241B3E3}"/>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8" name="Footer Placeholder 7">
            <a:extLst>
              <a:ext uri="{FF2B5EF4-FFF2-40B4-BE49-F238E27FC236}">
                <a16:creationId xmlns:a16="http://schemas.microsoft.com/office/drawing/2014/main" id="{A8387045-247A-5403-54D1-25AEE544AC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62628B2-CE92-901D-5C37-1366A6EB7ADE}"/>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1183231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D504A-2043-05BE-310F-DB5384A0775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425041-2CAF-A867-6D62-05ED25A87C8A}"/>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4" name="Footer Placeholder 3">
            <a:extLst>
              <a:ext uri="{FF2B5EF4-FFF2-40B4-BE49-F238E27FC236}">
                <a16:creationId xmlns:a16="http://schemas.microsoft.com/office/drawing/2014/main" id="{C404C01C-C159-1534-5FF5-4A640D00544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76E5F2-85BC-1DCD-C108-7F168C21508D}"/>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2178380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E50F73-BC52-2A07-7E21-2FABD34D294B}"/>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3" name="Footer Placeholder 2">
            <a:extLst>
              <a:ext uri="{FF2B5EF4-FFF2-40B4-BE49-F238E27FC236}">
                <a16:creationId xmlns:a16="http://schemas.microsoft.com/office/drawing/2014/main" id="{FBF83E7B-3CE4-3470-2B4A-D14B09B99B7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C71C21-EFF8-A97F-74F2-8E99EF2BF887}"/>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144889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A1CF6-595B-8130-53DA-579C6586CD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67ADAC4-A9C4-6B97-2F14-26640BC699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3AD355-0945-9AEB-8181-0A1F4ECBA7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9D2CC1-B283-D62E-7D7E-7BACA76C939F}"/>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6" name="Footer Placeholder 5">
            <a:extLst>
              <a:ext uri="{FF2B5EF4-FFF2-40B4-BE49-F238E27FC236}">
                <a16:creationId xmlns:a16="http://schemas.microsoft.com/office/drawing/2014/main" id="{8425DD1A-B34E-8255-98C6-F636B3CAC7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051D0E-9697-D9BA-41DA-E81209976473}"/>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4638248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4A4C9-22F7-DAE2-B113-CADC721443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54A8DBA-2E7B-85A9-0569-35552B4683EE}"/>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4C5EA76-37CC-CF87-CD77-AFA15D3178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650BA2-F16D-B7F4-5517-11D9D658BAF5}"/>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6" name="Footer Placeholder 5">
            <a:extLst>
              <a:ext uri="{FF2B5EF4-FFF2-40B4-BE49-F238E27FC236}">
                <a16:creationId xmlns:a16="http://schemas.microsoft.com/office/drawing/2014/main" id="{F3011F4E-2CA2-30CC-702E-941EE90293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657EED-C9E8-E9C2-6499-4121390252C0}"/>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1349116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B97E1-40D8-009D-4DB1-91869BEC7B7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3E245B-32F4-BE63-56DD-E45FD2A84E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C7EE8E-28EB-D30F-722F-F251E9761859}"/>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5" name="Footer Placeholder 4">
            <a:extLst>
              <a:ext uri="{FF2B5EF4-FFF2-40B4-BE49-F238E27FC236}">
                <a16:creationId xmlns:a16="http://schemas.microsoft.com/office/drawing/2014/main" id="{6DAD406B-BAAF-8554-E0CD-4931A7D625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52B3D-8535-D1D0-7220-9FD08A99739C}"/>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3760124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449C9C-DFCE-D82F-77BB-E5FACAABB35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7C799BD-D2E2-C57B-0ABE-B0CC9B93F7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917AD8-5208-8EF6-7072-3615822D3616}"/>
              </a:ext>
            </a:extLst>
          </p:cNvPr>
          <p:cNvSpPr>
            <a:spLocks noGrp="1"/>
          </p:cNvSpPr>
          <p:nvPr>
            <p:ph type="dt" sz="half" idx="10"/>
          </p:nvPr>
        </p:nvSpPr>
        <p:spPr/>
        <p:txBody>
          <a:bodyPr/>
          <a:lstStyle/>
          <a:p>
            <a:fld id="{0DB9C7C9-7A34-4ADA-9761-18A9B8AD7481}" type="datetimeFigureOut">
              <a:rPr lang="en-US" smtClean="0"/>
              <a:t>9/29/2026</a:t>
            </a:fld>
            <a:endParaRPr lang="en-US"/>
          </a:p>
        </p:txBody>
      </p:sp>
      <p:sp>
        <p:nvSpPr>
          <p:cNvPr id="5" name="Footer Placeholder 4">
            <a:extLst>
              <a:ext uri="{FF2B5EF4-FFF2-40B4-BE49-F238E27FC236}">
                <a16:creationId xmlns:a16="http://schemas.microsoft.com/office/drawing/2014/main" id="{125D1D0D-6FEF-F472-2D2A-E7116B992A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57CF78-A9D5-27D0-F1E5-549B24833C13}"/>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30325791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6A8166-D2E3-ECB8-9483-155AF40505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CB54FAD-5401-CC8D-8D24-502F0C78F5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ADB7A6-703B-2743-A465-99FDEE7C3E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B9C7C9-7A34-4ADA-9761-18A9B8AD7481}" type="datetimeFigureOut">
              <a:rPr lang="en-US" smtClean="0"/>
              <a:t>9/29/2026</a:t>
            </a:fld>
            <a:endParaRPr lang="en-US"/>
          </a:p>
        </p:txBody>
      </p:sp>
      <p:sp>
        <p:nvSpPr>
          <p:cNvPr id="5" name="Footer Placeholder 4">
            <a:extLst>
              <a:ext uri="{FF2B5EF4-FFF2-40B4-BE49-F238E27FC236}">
                <a16:creationId xmlns:a16="http://schemas.microsoft.com/office/drawing/2014/main" id="{99257176-39D6-3407-4343-36752D88C3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644A64B-C7C1-33A1-5A96-941C65C3B4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E90BA7C-6A98-4F12-A50D-3D5C8A272CFD}" type="slidenum">
              <a:rPr lang="en-US" smtClean="0"/>
              <a:t>‹#›</a:t>
            </a:fld>
            <a:endParaRPr lang="en-US"/>
          </a:p>
        </p:txBody>
      </p:sp>
    </p:spTree>
    <p:extLst>
      <p:ext uri="{BB962C8B-B14F-4D97-AF65-F5344CB8AC3E}">
        <p14:creationId xmlns:p14="http://schemas.microsoft.com/office/powerpoint/2010/main" val="34328233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95C3D9-B280-299F-AFD3-3A4414CC515E}"/>
              </a:ext>
            </a:extLst>
          </p:cNvPr>
          <p:cNvSpPr/>
          <p:nvPr/>
        </p:nvSpPr>
        <p:spPr>
          <a:xfrm>
            <a:off x="0" y="0"/>
            <a:ext cx="279400" cy="6858000"/>
          </a:xfrm>
          <a:prstGeom prst="rect">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9F9AEA10-7E4C-FBFD-227E-8F66098ECF3C}"/>
              </a:ext>
            </a:extLst>
          </p:cNvPr>
          <p:cNvSpPr/>
          <p:nvPr/>
        </p:nvSpPr>
        <p:spPr>
          <a:xfrm>
            <a:off x="787400" y="965200"/>
            <a:ext cx="2286000" cy="304800"/>
          </a:xfrm>
          <a:prstGeom prst="roundRect">
            <a:avLst/>
          </a:prstGeom>
          <a:solidFill>
            <a:srgbClr val="EAF1FA"/>
          </a:solidFill>
          <a:ln w="6350">
            <a:solidFill>
              <a:srgbClr val="EAF1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FBA0ED0-A4AC-4593-2F31-66A49BF2513F}"/>
              </a:ext>
            </a:extLst>
          </p:cNvPr>
          <p:cNvSpPr txBox="1"/>
          <p:nvPr/>
        </p:nvSpPr>
        <p:spPr>
          <a:xfrm>
            <a:off x="850900" y="990600"/>
            <a:ext cx="2159000" cy="276999"/>
          </a:xfrm>
          <a:prstGeom prst="rect">
            <a:avLst/>
          </a:prstGeom>
          <a:noFill/>
        </p:spPr>
        <p:txBody>
          <a:bodyPr vert="horz" wrap="square" lIns="0" tIns="0" rIns="0" bIns="0" rtlCol="0" anchor="ctr">
            <a:noAutofit/>
          </a:bodyPr>
          <a:lstStyle/>
          <a:p>
            <a:pPr algn="ctr"/>
            <a:r>
              <a:rPr lang="en-US" sz="1100" b="1">
                <a:solidFill>
                  <a:srgbClr val="0B2447"/>
                </a:solidFill>
                <a:latin typeface="Aptos" panose="020B0004020202020204" pitchFamily="34" charset="0"/>
              </a:rPr>
              <a:t>POST VIDEO III | OCT 6</a:t>
            </a:r>
          </a:p>
        </p:txBody>
      </p:sp>
      <p:sp>
        <p:nvSpPr>
          <p:cNvPr id="5" name="TextBox 4">
            <a:extLst>
              <a:ext uri="{FF2B5EF4-FFF2-40B4-BE49-F238E27FC236}">
                <a16:creationId xmlns:a16="http://schemas.microsoft.com/office/drawing/2014/main" id="{E23C76C0-98BD-AA55-5D5C-AD45C330B8D5}"/>
              </a:ext>
            </a:extLst>
          </p:cNvPr>
          <p:cNvSpPr txBox="1"/>
          <p:nvPr/>
        </p:nvSpPr>
        <p:spPr>
          <a:xfrm>
            <a:off x="762000" y="1574800"/>
            <a:ext cx="10160000" cy="276999"/>
          </a:xfrm>
          <a:prstGeom prst="rect">
            <a:avLst/>
          </a:prstGeom>
          <a:noFill/>
        </p:spPr>
        <p:txBody>
          <a:bodyPr vert="horz" wrap="square" lIns="0" tIns="0" rIns="0" bIns="0" rtlCol="0" anchor="t">
            <a:noAutofit/>
          </a:bodyPr>
          <a:lstStyle/>
          <a:p>
            <a:r>
              <a:rPr lang="en-US" sz="4300" b="1">
                <a:solidFill>
                  <a:srgbClr val="0B2447"/>
                </a:solidFill>
                <a:latin typeface="Aptos" panose="020B0004020202020204" pitchFamily="34" charset="0"/>
              </a:rPr>
              <a:t>FIXPROOF</a:t>
            </a:r>
          </a:p>
        </p:txBody>
      </p:sp>
      <p:sp>
        <p:nvSpPr>
          <p:cNvPr id="6" name="TextBox 5">
            <a:extLst>
              <a:ext uri="{FF2B5EF4-FFF2-40B4-BE49-F238E27FC236}">
                <a16:creationId xmlns:a16="http://schemas.microsoft.com/office/drawing/2014/main" id="{8D453255-D07B-09BB-3D26-93F1FD1088B8}"/>
              </a:ext>
            </a:extLst>
          </p:cNvPr>
          <p:cNvSpPr txBox="1"/>
          <p:nvPr/>
        </p:nvSpPr>
        <p:spPr>
          <a:xfrm>
            <a:off x="762000" y="2413000"/>
            <a:ext cx="10414000" cy="276999"/>
          </a:xfrm>
          <a:prstGeom prst="rect">
            <a:avLst/>
          </a:prstGeom>
          <a:noFill/>
        </p:spPr>
        <p:txBody>
          <a:bodyPr vert="horz" wrap="square" lIns="0" tIns="0" rIns="0" bIns="0" rtlCol="0" anchor="t">
            <a:noAutofit/>
          </a:bodyPr>
          <a:lstStyle/>
          <a:p>
            <a:r>
              <a:rPr lang="en-US" sz="2900">
                <a:solidFill>
                  <a:srgbClr val="526C8E"/>
                </a:solidFill>
                <a:latin typeface="Aptos" panose="020B0004020202020204" pitchFamily="34" charset="0"/>
              </a:rPr>
              <a:t>Evidence that changed the review</a:t>
            </a:r>
          </a:p>
        </p:txBody>
      </p:sp>
      <p:sp>
        <p:nvSpPr>
          <p:cNvPr id="7" name="TextBox 6">
            <a:extLst>
              <a:ext uri="{FF2B5EF4-FFF2-40B4-BE49-F238E27FC236}">
                <a16:creationId xmlns:a16="http://schemas.microsoft.com/office/drawing/2014/main" id="{833F1633-41D7-1948-A01B-FA72BD983976}"/>
              </a:ext>
            </a:extLst>
          </p:cNvPr>
          <p:cNvSpPr txBox="1"/>
          <p:nvPr/>
        </p:nvSpPr>
        <p:spPr>
          <a:xfrm>
            <a:off x="787400" y="3505200"/>
            <a:ext cx="9144000" cy="276999"/>
          </a:xfrm>
          <a:prstGeom prst="rect">
            <a:avLst/>
          </a:prstGeom>
          <a:noFill/>
        </p:spPr>
        <p:txBody>
          <a:bodyPr vert="horz" wrap="square" lIns="0" tIns="0" rIns="0" bIns="0" rtlCol="0" anchor="t">
            <a:noAutofit/>
          </a:bodyPr>
          <a:lstStyle/>
          <a:p>
            <a:r>
              <a:rPr lang="en-US" sz="2100">
                <a:solidFill>
                  <a:srgbClr val="102A4D"/>
                </a:solidFill>
                <a:latin typeface="Aptos" panose="020B0004020202020204" pitchFamily="34" charset="0"/>
              </a:rPr>
              <a:t>A frozen primary study, later supplemental evidence, and bounded human decisions</a:t>
            </a:r>
          </a:p>
        </p:txBody>
      </p:sp>
      <p:sp>
        <p:nvSpPr>
          <p:cNvPr id="8" name="Rectangle: Rounded Corners 7">
            <a:extLst>
              <a:ext uri="{FF2B5EF4-FFF2-40B4-BE49-F238E27FC236}">
                <a16:creationId xmlns:a16="http://schemas.microsoft.com/office/drawing/2014/main" id="{FC6F7B36-D81F-B623-A348-70C4C1A30229}"/>
              </a:ext>
            </a:extLst>
          </p:cNvPr>
          <p:cNvSpPr/>
          <p:nvPr/>
        </p:nvSpPr>
        <p:spPr>
          <a:xfrm>
            <a:off x="787400" y="4851400"/>
            <a:ext cx="8382000" cy="889000"/>
          </a:xfrm>
          <a:prstGeom prst="roundRect">
            <a:avLst/>
          </a:prstGeom>
          <a:solidFill>
            <a:srgbClr val="FFFFFF"/>
          </a:solidFill>
          <a:ln w="1524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E94B534-506F-9687-08C3-40D38B3CC228}"/>
              </a:ext>
            </a:extLst>
          </p:cNvPr>
          <p:cNvSpPr txBox="1"/>
          <p:nvPr/>
        </p:nvSpPr>
        <p:spPr>
          <a:xfrm>
            <a:off x="1016000" y="5041900"/>
            <a:ext cx="7937500" cy="276999"/>
          </a:xfrm>
          <a:prstGeom prst="rect">
            <a:avLst/>
          </a:prstGeom>
          <a:noFill/>
        </p:spPr>
        <p:txBody>
          <a:bodyPr vert="horz" wrap="square" lIns="0" tIns="0" rIns="0" bIns="0" rtlCol="0" anchor="ctr">
            <a:noAutofit/>
          </a:bodyPr>
          <a:lstStyle/>
          <a:p>
            <a:r>
              <a:rPr lang="en-US" sz="1500" b="1">
                <a:solidFill>
                  <a:srgbClr val="0B2447"/>
                </a:solidFill>
                <a:latin typeface="Aptos" panose="020B0004020202020204" pitchFamily="34" charset="0"/>
              </a:rPr>
              <a:t>Python orchestrator | JavaScript/Express fixtures | XSS, SQLi, traversal</a:t>
            </a:r>
          </a:p>
        </p:txBody>
      </p:sp>
      <p:sp>
        <p:nvSpPr>
          <p:cNvPr id="10" name="TextBox 9">
            <a:extLst>
              <a:ext uri="{FF2B5EF4-FFF2-40B4-BE49-F238E27FC236}">
                <a16:creationId xmlns:a16="http://schemas.microsoft.com/office/drawing/2014/main" id="{8728175A-4D44-BC48-C12F-8DC953CA8265}"/>
              </a:ext>
            </a:extLst>
          </p:cNvPr>
          <p:cNvSpPr txBox="1"/>
          <p:nvPr/>
        </p:nvSpPr>
        <p:spPr>
          <a:xfrm>
            <a:off x="787400" y="6045200"/>
            <a:ext cx="7874000" cy="276999"/>
          </a:xfrm>
          <a:prstGeom prst="rect">
            <a:avLst/>
          </a:prstGeom>
          <a:noFill/>
        </p:spPr>
        <p:txBody>
          <a:bodyPr vert="horz" wrap="square" lIns="0" tIns="0" rIns="0" bIns="0" rtlCol="0" anchor="t">
            <a:noAutofit/>
          </a:bodyPr>
          <a:lstStyle/>
          <a:p>
            <a:r>
              <a:rPr lang="en-US" sz="1200">
                <a:solidFill>
                  <a:srgbClr val="6B7F99"/>
                </a:solidFill>
                <a:latin typeface="Aptos" panose="020B0004020202020204" pitchFamily="34" charset="0"/>
              </a:rPr>
              <a:t>Tony Tran | CS6727 Cyber Security Practicum | Fall 2026</a:t>
            </a:r>
          </a:p>
        </p:txBody>
      </p:sp>
      <p:sp>
        <p:nvSpPr>
          <p:cNvPr id="11" name="TextBox 10">
            <a:extLst>
              <a:ext uri="{FF2B5EF4-FFF2-40B4-BE49-F238E27FC236}">
                <a16:creationId xmlns:a16="http://schemas.microsoft.com/office/drawing/2014/main" id="{A89866D1-B6AA-BDC5-D6B6-BC3E85BF6A83}"/>
              </a:ext>
            </a:extLst>
          </p:cNvPr>
          <p:cNvSpPr txBox="1"/>
          <p:nvPr/>
        </p:nvSpPr>
        <p:spPr>
          <a:xfrm>
            <a:off x="10414000" y="5867400"/>
            <a:ext cx="1143000" cy="276999"/>
          </a:xfrm>
          <a:prstGeom prst="rect">
            <a:avLst/>
          </a:prstGeom>
          <a:noFill/>
        </p:spPr>
        <p:txBody>
          <a:bodyPr vert="horz" wrap="square" lIns="0" tIns="0" rIns="0" bIns="0" rtlCol="0" anchor="ctr">
            <a:noAutofit/>
          </a:bodyPr>
          <a:lstStyle/>
          <a:p>
            <a:pPr algn="ctr"/>
            <a:r>
              <a:rPr lang="en-US" sz="1500" b="1">
                <a:solidFill>
                  <a:srgbClr val="0B2447"/>
                </a:solidFill>
                <a:latin typeface="Aptos" panose="020B0004020202020204" pitchFamily="34" charset="0"/>
              </a:rPr>
              <a:t>VIDEO
III</a:t>
            </a:r>
          </a:p>
        </p:txBody>
      </p:sp>
    </p:spTree>
    <p:extLst>
      <p:ext uri="{BB962C8B-B14F-4D97-AF65-F5344CB8AC3E}">
        <p14:creationId xmlns:p14="http://schemas.microsoft.com/office/powerpoint/2010/main" val="4280047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DB1777-852F-78A9-DCA5-DEAC2E2B1AE3}"/>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1. Research question and bounded scope</a:t>
            </a:r>
          </a:p>
        </p:txBody>
      </p:sp>
      <p:sp>
        <p:nvSpPr>
          <p:cNvPr id="3" name="TextBox 2">
            <a:extLst>
              <a:ext uri="{FF2B5EF4-FFF2-40B4-BE49-F238E27FC236}">
                <a16:creationId xmlns:a16="http://schemas.microsoft.com/office/drawing/2014/main" id="{0F27A942-AAC4-CCF3-5656-4BBF1D9A4184}"/>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What can this controlled benchmark establish - and what can it not establish?</a:t>
            </a:r>
          </a:p>
        </p:txBody>
      </p:sp>
      <p:cxnSp>
        <p:nvCxnSpPr>
          <p:cNvPr id="4" name="Straight Connector 3">
            <a:extLst>
              <a:ext uri="{FF2B5EF4-FFF2-40B4-BE49-F238E27FC236}">
                <a16:creationId xmlns:a16="http://schemas.microsoft.com/office/drawing/2014/main" id="{7B7A1482-36F9-9AE7-C710-DB81FF27D5B0}"/>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D300B519-D7F0-B501-3FF6-DD7C63AE2252}"/>
              </a:ext>
            </a:extLst>
          </p:cNvPr>
          <p:cNvSpPr/>
          <p:nvPr/>
        </p:nvSpPr>
        <p:spPr>
          <a:xfrm>
            <a:off x="533400" y="1473200"/>
            <a:ext cx="7112000" cy="1473200"/>
          </a:xfrm>
          <a:prstGeom prst="roundRect">
            <a:avLst/>
          </a:prstGeom>
          <a:solidFill>
            <a:srgbClr val="FFFFFF"/>
          </a:solidFill>
          <a:ln w="1905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5C2F52B-680E-0596-BE1C-9EE970372986}"/>
              </a:ext>
            </a:extLst>
          </p:cNvPr>
          <p:cNvSpPr txBox="1"/>
          <p:nvPr/>
        </p:nvSpPr>
        <p:spPr>
          <a:xfrm>
            <a:off x="762000" y="1676400"/>
            <a:ext cx="6667500" cy="276999"/>
          </a:xfrm>
          <a:prstGeom prst="rect">
            <a:avLst/>
          </a:prstGeom>
          <a:noFill/>
        </p:spPr>
        <p:txBody>
          <a:bodyPr vert="horz" wrap="square" lIns="0" tIns="0" rIns="0" bIns="0" rtlCol="0" anchor="t">
            <a:noAutofit/>
          </a:bodyPr>
          <a:lstStyle/>
          <a:p>
            <a:r>
              <a:rPr lang="en-US" sz="1100" b="1">
                <a:solidFill>
                  <a:srgbClr val="5878A5"/>
                </a:solidFill>
                <a:latin typeface="Aptos" panose="020B0004020202020204" pitchFamily="34" charset="0"/>
              </a:rPr>
              <a:t>RESEARCH QUESTION</a:t>
            </a:r>
          </a:p>
        </p:txBody>
      </p:sp>
      <p:sp>
        <p:nvSpPr>
          <p:cNvPr id="7" name="TextBox 6">
            <a:extLst>
              <a:ext uri="{FF2B5EF4-FFF2-40B4-BE49-F238E27FC236}">
                <a16:creationId xmlns:a16="http://schemas.microsoft.com/office/drawing/2014/main" id="{9B88E852-765C-75F1-FF61-E8619189C59B}"/>
              </a:ext>
            </a:extLst>
          </p:cNvPr>
          <p:cNvSpPr txBox="1"/>
          <p:nvPr/>
        </p:nvSpPr>
        <p:spPr>
          <a:xfrm>
            <a:off x="762000" y="2032000"/>
            <a:ext cx="6604000" cy="276999"/>
          </a:xfrm>
          <a:prstGeom prst="rect">
            <a:avLst/>
          </a:prstGeom>
          <a:noFill/>
        </p:spPr>
        <p:txBody>
          <a:bodyPr vert="horz" wrap="square" lIns="0" tIns="0" rIns="0" bIns="0" rtlCol="0" anchor="t">
            <a:noAutofit/>
          </a:bodyPr>
          <a:lstStyle/>
          <a:p>
            <a:r>
              <a:rPr lang="en-US" sz="2000" b="1">
                <a:solidFill>
                  <a:srgbClr val="0B2447"/>
                </a:solidFill>
                <a:latin typeface="Aptos" panose="020B0004020202020204" pitchFamily="34" charset="0"/>
              </a:rPr>
              <a:t>Can separately recorded static, runtime, behavioral, policy, and human evidence support a defensible patch decision?</a:t>
            </a:r>
          </a:p>
        </p:txBody>
      </p:sp>
      <p:sp>
        <p:nvSpPr>
          <p:cNvPr id="8" name="Rectangle: Rounded Corners 7">
            <a:extLst>
              <a:ext uri="{FF2B5EF4-FFF2-40B4-BE49-F238E27FC236}">
                <a16:creationId xmlns:a16="http://schemas.microsoft.com/office/drawing/2014/main" id="{47F4EC24-4823-27F9-A093-05B9CC095272}"/>
              </a:ext>
            </a:extLst>
          </p:cNvPr>
          <p:cNvSpPr/>
          <p:nvPr/>
        </p:nvSpPr>
        <p:spPr>
          <a:xfrm>
            <a:off x="7950200" y="1473200"/>
            <a:ext cx="3708400" cy="1473200"/>
          </a:xfrm>
          <a:prstGeom prst="roundRect">
            <a:avLst/>
          </a:prstGeom>
          <a:solidFill>
            <a:srgbClr val="FFF3DE"/>
          </a:solidFill>
          <a:ln w="1905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CE2D6BA-8672-B321-630B-82E8A3C8A3BB}"/>
              </a:ext>
            </a:extLst>
          </p:cNvPr>
          <p:cNvSpPr txBox="1"/>
          <p:nvPr/>
        </p:nvSpPr>
        <p:spPr>
          <a:xfrm>
            <a:off x="8166100" y="1676400"/>
            <a:ext cx="3276600" cy="276999"/>
          </a:xfrm>
          <a:prstGeom prst="rect">
            <a:avLst/>
          </a:prstGeom>
          <a:noFill/>
        </p:spPr>
        <p:txBody>
          <a:bodyPr vert="horz" wrap="square" lIns="0" tIns="0" rIns="0" bIns="0" rtlCol="0" anchor="t">
            <a:noAutofit/>
          </a:bodyPr>
          <a:lstStyle/>
          <a:p>
            <a:r>
              <a:rPr lang="en-US" sz="1100" b="1">
                <a:solidFill>
                  <a:srgbClr val="D9A64E"/>
                </a:solidFill>
                <a:latin typeface="Aptos" panose="020B0004020202020204" pitchFamily="34" charset="0"/>
              </a:rPr>
              <a:t>CLAIM BOUNDARY</a:t>
            </a:r>
          </a:p>
        </p:txBody>
      </p:sp>
      <p:sp>
        <p:nvSpPr>
          <p:cNvPr id="10" name="TextBox 9">
            <a:extLst>
              <a:ext uri="{FF2B5EF4-FFF2-40B4-BE49-F238E27FC236}">
                <a16:creationId xmlns:a16="http://schemas.microsoft.com/office/drawing/2014/main" id="{6D47727B-2F1C-3ACE-56F1-1F83CD1D3CE2}"/>
              </a:ext>
            </a:extLst>
          </p:cNvPr>
          <p:cNvSpPr txBox="1"/>
          <p:nvPr/>
        </p:nvSpPr>
        <p:spPr>
          <a:xfrm>
            <a:off x="8166100" y="2057400"/>
            <a:ext cx="3276600" cy="276999"/>
          </a:xfrm>
          <a:prstGeom prst="rect">
            <a:avLst/>
          </a:prstGeom>
          <a:noFill/>
        </p:spPr>
        <p:txBody>
          <a:bodyPr vert="horz" wrap="square" lIns="0" tIns="0" rIns="0" bIns="0" rtlCol="0" anchor="t">
            <a:noAutofit/>
          </a:bodyPr>
          <a:lstStyle/>
          <a:p>
            <a:r>
              <a:rPr lang="en-US" sz="1700" b="1">
                <a:solidFill>
                  <a:srgbClr val="0B2447"/>
                </a:solidFill>
                <a:latin typeface="Aptos" panose="020B0004020202020204" pitchFamily="34" charset="0"/>
              </a:rPr>
              <a:t>Workflow evidence - not a production success-rate estimate.</a:t>
            </a:r>
          </a:p>
        </p:txBody>
      </p:sp>
      <p:sp>
        <p:nvSpPr>
          <p:cNvPr id="11" name="Rectangle: Rounded Corners 10">
            <a:extLst>
              <a:ext uri="{FF2B5EF4-FFF2-40B4-BE49-F238E27FC236}">
                <a16:creationId xmlns:a16="http://schemas.microsoft.com/office/drawing/2014/main" id="{B4E55D49-FC7B-56D6-02FD-B8BED3D24054}"/>
              </a:ext>
            </a:extLst>
          </p:cNvPr>
          <p:cNvSpPr/>
          <p:nvPr/>
        </p:nvSpPr>
        <p:spPr>
          <a:xfrm>
            <a:off x="533400" y="3378200"/>
            <a:ext cx="3606800" cy="2260600"/>
          </a:xfrm>
          <a:prstGeom prst="roundRect">
            <a:avLst/>
          </a:prstGeom>
          <a:solidFill>
            <a:srgbClr val="EAF1FA"/>
          </a:solidFill>
          <a:ln w="1778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07BE32A-23CF-D3A9-C870-D10D84C640E9}"/>
              </a:ext>
            </a:extLst>
          </p:cNvPr>
          <p:cNvSpPr txBox="1"/>
          <p:nvPr/>
        </p:nvSpPr>
        <p:spPr>
          <a:xfrm>
            <a:off x="762000" y="3606800"/>
            <a:ext cx="3149600" cy="276999"/>
          </a:xfrm>
          <a:prstGeom prst="rect">
            <a:avLst/>
          </a:prstGeom>
          <a:noFill/>
        </p:spPr>
        <p:txBody>
          <a:bodyPr vert="horz" wrap="square" lIns="0" tIns="0" rIns="0" bIns="0" rtlCol="0" anchor="t">
            <a:noAutofit/>
          </a:bodyPr>
          <a:lstStyle/>
          <a:p>
            <a:r>
              <a:rPr lang="en-US" sz="1700" b="1">
                <a:solidFill>
                  <a:srgbClr val="0B2447"/>
                </a:solidFill>
                <a:latin typeface="Aptos" panose="020B0004020202020204" pitchFamily="34" charset="0"/>
              </a:rPr>
              <a:t>Three fixtures</a:t>
            </a:r>
          </a:p>
        </p:txBody>
      </p:sp>
      <p:sp>
        <p:nvSpPr>
          <p:cNvPr id="13" name="TextBox 12">
            <a:extLst>
              <a:ext uri="{FF2B5EF4-FFF2-40B4-BE49-F238E27FC236}">
                <a16:creationId xmlns:a16="http://schemas.microsoft.com/office/drawing/2014/main" id="{C3CBDC15-1FD3-C9DC-5410-978E148CB239}"/>
              </a:ext>
            </a:extLst>
          </p:cNvPr>
          <p:cNvSpPr txBox="1"/>
          <p:nvPr/>
        </p:nvSpPr>
        <p:spPr>
          <a:xfrm>
            <a:off x="762000" y="4114800"/>
            <a:ext cx="3149600" cy="276999"/>
          </a:xfrm>
          <a:prstGeom prst="rect">
            <a:avLst/>
          </a:prstGeom>
          <a:noFill/>
        </p:spPr>
        <p:txBody>
          <a:bodyPr vert="horz" wrap="square" lIns="0" tIns="0" rIns="0" bIns="0" rtlCol="0" anchor="ctr">
            <a:noAutofit/>
          </a:bodyPr>
          <a:lstStyle/>
          <a:p>
            <a:r>
              <a:rPr lang="en-US" sz="1600">
                <a:solidFill>
                  <a:srgbClr val="102A4D"/>
                </a:solidFill>
                <a:latin typeface="Aptos" panose="020B0004020202020204" pitchFamily="34" charset="0"/>
              </a:rPr>
              <a:t>Reflected XSS
SQL injection
Path traversal</a:t>
            </a:r>
          </a:p>
        </p:txBody>
      </p:sp>
      <p:sp>
        <p:nvSpPr>
          <p:cNvPr id="14" name="Rectangle: Rounded Corners 13">
            <a:extLst>
              <a:ext uri="{FF2B5EF4-FFF2-40B4-BE49-F238E27FC236}">
                <a16:creationId xmlns:a16="http://schemas.microsoft.com/office/drawing/2014/main" id="{A67114B7-93C8-8710-D5C0-C6ACD3AAC613}"/>
              </a:ext>
            </a:extLst>
          </p:cNvPr>
          <p:cNvSpPr/>
          <p:nvPr/>
        </p:nvSpPr>
        <p:spPr>
          <a:xfrm>
            <a:off x="4292600" y="3378200"/>
            <a:ext cx="3606800" cy="2260600"/>
          </a:xfrm>
          <a:prstGeom prst="roundRect">
            <a:avLst/>
          </a:prstGeom>
          <a:solidFill>
            <a:srgbClr val="FFF3DE"/>
          </a:solidFill>
          <a:ln w="1778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A2899E5-78AE-48CD-7528-E632DE1E911C}"/>
              </a:ext>
            </a:extLst>
          </p:cNvPr>
          <p:cNvSpPr txBox="1"/>
          <p:nvPr/>
        </p:nvSpPr>
        <p:spPr>
          <a:xfrm>
            <a:off x="4521200" y="3606800"/>
            <a:ext cx="3149600" cy="276999"/>
          </a:xfrm>
          <a:prstGeom prst="rect">
            <a:avLst/>
          </a:prstGeom>
          <a:noFill/>
        </p:spPr>
        <p:txBody>
          <a:bodyPr vert="horz" wrap="square" lIns="0" tIns="0" rIns="0" bIns="0" rtlCol="0" anchor="t">
            <a:noAutofit/>
          </a:bodyPr>
          <a:lstStyle/>
          <a:p>
            <a:r>
              <a:rPr lang="en-US" sz="1700" b="1">
                <a:solidFill>
                  <a:srgbClr val="0B2447"/>
                </a:solidFill>
                <a:latin typeface="Aptos" panose="020B0004020202020204" pitchFamily="34" charset="0"/>
              </a:rPr>
              <a:t>Fixed generation</a:t>
            </a:r>
          </a:p>
        </p:txBody>
      </p:sp>
      <p:sp>
        <p:nvSpPr>
          <p:cNvPr id="16" name="TextBox 15">
            <a:extLst>
              <a:ext uri="{FF2B5EF4-FFF2-40B4-BE49-F238E27FC236}">
                <a16:creationId xmlns:a16="http://schemas.microsoft.com/office/drawing/2014/main" id="{EFC5521A-BE9F-7561-1F24-B712C86EF2A0}"/>
              </a:ext>
            </a:extLst>
          </p:cNvPr>
          <p:cNvSpPr txBox="1"/>
          <p:nvPr/>
        </p:nvSpPr>
        <p:spPr>
          <a:xfrm>
            <a:off x="4521200" y="4114800"/>
            <a:ext cx="3149600" cy="276999"/>
          </a:xfrm>
          <a:prstGeom prst="rect">
            <a:avLst/>
          </a:prstGeom>
          <a:noFill/>
        </p:spPr>
        <p:txBody>
          <a:bodyPr vert="horz" wrap="square" lIns="0" tIns="0" rIns="0" bIns="0" rtlCol="0" anchor="ctr">
            <a:noAutofit/>
          </a:bodyPr>
          <a:lstStyle/>
          <a:p>
            <a:r>
              <a:rPr lang="en-US" sz="1600">
                <a:solidFill>
                  <a:srgbClr val="102A4D"/>
                </a:solidFill>
                <a:latin typeface="Aptos" panose="020B0004020202020204" pitchFamily="34" charset="0"/>
              </a:rPr>
              <a:t>gpt-5.2
Prompt v1.0
No model tools</a:t>
            </a:r>
          </a:p>
        </p:txBody>
      </p:sp>
      <p:sp>
        <p:nvSpPr>
          <p:cNvPr id="17" name="Rectangle: Rounded Corners 16">
            <a:extLst>
              <a:ext uri="{FF2B5EF4-FFF2-40B4-BE49-F238E27FC236}">
                <a16:creationId xmlns:a16="http://schemas.microsoft.com/office/drawing/2014/main" id="{595CB593-A0C5-2A50-A323-5C83D3AA3161}"/>
              </a:ext>
            </a:extLst>
          </p:cNvPr>
          <p:cNvSpPr/>
          <p:nvPr/>
        </p:nvSpPr>
        <p:spPr>
          <a:xfrm>
            <a:off x="8051800" y="3378200"/>
            <a:ext cx="3606800" cy="2260600"/>
          </a:xfrm>
          <a:prstGeom prst="roundRect">
            <a:avLst/>
          </a:prstGeom>
          <a:solidFill>
            <a:srgbClr val="EFEAFA"/>
          </a:solidFill>
          <a:ln w="17780">
            <a:solidFill>
              <a:srgbClr val="8D79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8A4CF71-A4DC-F028-3924-FAE8FDB9EEA9}"/>
              </a:ext>
            </a:extLst>
          </p:cNvPr>
          <p:cNvSpPr txBox="1"/>
          <p:nvPr/>
        </p:nvSpPr>
        <p:spPr>
          <a:xfrm>
            <a:off x="8280400" y="3606800"/>
            <a:ext cx="3149600" cy="276999"/>
          </a:xfrm>
          <a:prstGeom prst="rect">
            <a:avLst/>
          </a:prstGeom>
          <a:noFill/>
        </p:spPr>
        <p:txBody>
          <a:bodyPr vert="horz" wrap="square" lIns="0" tIns="0" rIns="0" bIns="0" rtlCol="0" anchor="t">
            <a:noAutofit/>
          </a:bodyPr>
          <a:lstStyle/>
          <a:p>
            <a:r>
              <a:rPr lang="en-US" sz="1700" b="1">
                <a:solidFill>
                  <a:srgbClr val="0B2447"/>
                </a:solidFill>
                <a:latin typeface="Aptos" panose="020B0004020202020204" pitchFamily="34" charset="0"/>
              </a:rPr>
              <a:t>Separate authority</a:t>
            </a:r>
          </a:p>
        </p:txBody>
      </p:sp>
      <p:sp>
        <p:nvSpPr>
          <p:cNvPr id="19" name="TextBox 18">
            <a:extLst>
              <a:ext uri="{FF2B5EF4-FFF2-40B4-BE49-F238E27FC236}">
                <a16:creationId xmlns:a16="http://schemas.microsoft.com/office/drawing/2014/main" id="{F617A2BD-3E32-3C63-4BB2-5FEDBE1E7FD5}"/>
              </a:ext>
            </a:extLst>
          </p:cNvPr>
          <p:cNvSpPr txBox="1"/>
          <p:nvPr/>
        </p:nvSpPr>
        <p:spPr>
          <a:xfrm>
            <a:off x="8280400" y="4114800"/>
            <a:ext cx="3149600" cy="276999"/>
          </a:xfrm>
          <a:prstGeom prst="rect">
            <a:avLst/>
          </a:prstGeom>
          <a:noFill/>
        </p:spPr>
        <p:txBody>
          <a:bodyPr vert="horz" wrap="square" lIns="0" tIns="0" rIns="0" bIns="0" rtlCol="0" anchor="ctr">
            <a:noAutofit/>
          </a:bodyPr>
          <a:lstStyle/>
          <a:p>
            <a:r>
              <a:rPr lang="en-US" sz="1600">
                <a:solidFill>
                  <a:srgbClr val="102A4D"/>
                </a:solidFill>
                <a:latin typeface="Aptos" panose="020B0004020202020204" pitchFamily="34" charset="0"/>
              </a:rPr>
              <a:t>Model proposes
Validators measure
Human decides</a:t>
            </a:r>
          </a:p>
        </p:txBody>
      </p:sp>
      <p:sp>
        <p:nvSpPr>
          <p:cNvPr id="20" name="TextBox 19">
            <a:extLst>
              <a:ext uri="{FF2B5EF4-FFF2-40B4-BE49-F238E27FC236}">
                <a16:creationId xmlns:a16="http://schemas.microsoft.com/office/drawing/2014/main" id="{319A13BE-C8A7-A059-48F6-60B0CD2A291E}"/>
              </a:ext>
            </a:extLst>
          </p:cNvPr>
          <p:cNvSpPr txBox="1"/>
          <p:nvPr/>
        </p:nvSpPr>
        <p:spPr>
          <a:xfrm>
            <a:off x="635000" y="5943600"/>
            <a:ext cx="10896600" cy="276999"/>
          </a:xfrm>
          <a:prstGeom prst="rect">
            <a:avLst/>
          </a:prstGeom>
          <a:noFill/>
        </p:spPr>
        <p:txBody>
          <a:bodyPr vert="horz" wrap="square" lIns="0" tIns="0" rIns="0" bIns="0" rtlCol="0" anchor="t">
            <a:noAutofit/>
          </a:bodyPr>
          <a:lstStyle/>
          <a:p>
            <a:pPr algn="ctr"/>
            <a:r>
              <a:rPr lang="en-US" sz="1250">
                <a:solidFill>
                  <a:srgbClr val="526C8E"/>
                </a:solidFill>
                <a:latin typeface="Aptos" panose="020B0004020202020204" pitchFamily="34" charset="0"/>
              </a:rPr>
              <a:t>One fixture per CWE and repeated repairs support descriptive evidence, not population-level generalization.</a:t>
            </a:r>
          </a:p>
        </p:txBody>
      </p:sp>
      <p:sp>
        <p:nvSpPr>
          <p:cNvPr id="21" name="TextBox 20">
            <a:extLst>
              <a:ext uri="{FF2B5EF4-FFF2-40B4-BE49-F238E27FC236}">
                <a16:creationId xmlns:a16="http://schemas.microsoft.com/office/drawing/2014/main" id="{A574EC10-FF19-6C2F-B1D9-DFCEAB87A75B}"/>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22" name="TextBox 21">
            <a:extLst>
              <a:ext uri="{FF2B5EF4-FFF2-40B4-BE49-F238E27FC236}">
                <a16:creationId xmlns:a16="http://schemas.microsoft.com/office/drawing/2014/main" id="{3C432240-CAF7-66B9-818C-76CF28EB8477}"/>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2</a:t>
            </a:r>
          </a:p>
        </p:txBody>
      </p:sp>
    </p:spTree>
    <p:extLst>
      <p:ext uri="{BB962C8B-B14F-4D97-AF65-F5344CB8AC3E}">
        <p14:creationId xmlns:p14="http://schemas.microsoft.com/office/powerpoint/2010/main" val="3595746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EF650CE5-9D78-A2AD-C2AE-E37AB82542BE}"/>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55087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1BF05F-5430-1E35-86E4-42727D76DBD2}"/>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2. Frozen primary-v1 study</a:t>
            </a:r>
          </a:p>
        </p:txBody>
      </p:sp>
      <p:sp>
        <p:nvSpPr>
          <p:cNvPr id="3" name="TextBox 2">
            <a:extLst>
              <a:ext uri="{FF2B5EF4-FFF2-40B4-BE49-F238E27FC236}">
                <a16:creationId xmlns:a16="http://schemas.microsoft.com/office/drawing/2014/main" id="{F653D0C5-A9F2-1D86-D0A4-F23362277EED}"/>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Five initial calls per CWE; complete all 15; do not stop early based on outcomes</a:t>
            </a:r>
          </a:p>
        </p:txBody>
      </p:sp>
      <p:cxnSp>
        <p:nvCxnSpPr>
          <p:cNvPr id="4" name="Straight Connector 3">
            <a:extLst>
              <a:ext uri="{FF2B5EF4-FFF2-40B4-BE49-F238E27FC236}">
                <a16:creationId xmlns:a16="http://schemas.microsoft.com/office/drawing/2014/main" id="{3D97626F-4823-E0DF-A021-00B284D0D945}"/>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924FD4CC-76C5-4422-7E5B-F61372648F54}"/>
              </a:ext>
            </a:extLst>
          </p:cNvPr>
          <p:cNvSpPr/>
          <p:nvPr/>
        </p:nvSpPr>
        <p:spPr>
          <a:xfrm>
            <a:off x="533400" y="1371600"/>
            <a:ext cx="2489200" cy="1092200"/>
          </a:xfrm>
          <a:prstGeom prst="roundRect">
            <a:avLst/>
          </a:prstGeom>
          <a:solidFill>
            <a:srgbClr val="EAF1FA"/>
          </a:solidFill>
          <a:ln w="1778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5F31216-EFDF-AA49-A739-3C56F2C5A2BC}"/>
              </a:ext>
            </a:extLst>
          </p:cNvPr>
          <p:cNvSpPr txBox="1"/>
          <p:nvPr/>
        </p:nvSpPr>
        <p:spPr>
          <a:xfrm>
            <a:off x="6858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15</a:t>
            </a:r>
          </a:p>
        </p:txBody>
      </p:sp>
      <p:sp>
        <p:nvSpPr>
          <p:cNvPr id="7" name="TextBox 6">
            <a:extLst>
              <a:ext uri="{FF2B5EF4-FFF2-40B4-BE49-F238E27FC236}">
                <a16:creationId xmlns:a16="http://schemas.microsoft.com/office/drawing/2014/main" id="{54853AAC-38D0-A341-203A-00FC8A4C1D2C}"/>
              </a:ext>
            </a:extLst>
          </p:cNvPr>
          <p:cNvSpPr txBox="1"/>
          <p:nvPr/>
        </p:nvSpPr>
        <p:spPr>
          <a:xfrm>
            <a:off x="6604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scheduled model calls</a:t>
            </a:r>
          </a:p>
        </p:txBody>
      </p:sp>
      <p:sp>
        <p:nvSpPr>
          <p:cNvPr id="8" name="Rectangle: Rounded Corners 7">
            <a:extLst>
              <a:ext uri="{FF2B5EF4-FFF2-40B4-BE49-F238E27FC236}">
                <a16:creationId xmlns:a16="http://schemas.microsoft.com/office/drawing/2014/main" id="{FCB53FAC-2CC9-1248-D171-3277EBBA195A}"/>
              </a:ext>
            </a:extLst>
          </p:cNvPr>
          <p:cNvSpPr/>
          <p:nvPr/>
        </p:nvSpPr>
        <p:spPr>
          <a:xfrm>
            <a:off x="3251200" y="1371600"/>
            <a:ext cx="2489200" cy="1092200"/>
          </a:xfrm>
          <a:prstGeom prst="roundRect">
            <a:avLst/>
          </a:prstGeom>
          <a:solidFill>
            <a:srgbClr val="FFF3DE"/>
          </a:solidFill>
          <a:ln w="1778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AC16371-560C-D25A-94E9-2C44A740C7D1}"/>
              </a:ext>
            </a:extLst>
          </p:cNvPr>
          <p:cNvSpPr txBox="1"/>
          <p:nvPr/>
        </p:nvSpPr>
        <p:spPr>
          <a:xfrm>
            <a:off x="34036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5 / 15</a:t>
            </a:r>
          </a:p>
        </p:txBody>
      </p:sp>
      <p:sp>
        <p:nvSpPr>
          <p:cNvPr id="10" name="TextBox 9">
            <a:extLst>
              <a:ext uri="{FF2B5EF4-FFF2-40B4-BE49-F238E27FC236}">
                <a16:creationId xmlns:a16="http://schemas.microsoft.com/office/drawing/2014/main" id="{62E986DD-38BA-B47F-DE70-4C2F668A3E99}"/>
              </a:ext>
            </a:extLst>
          </p:cNvPr>
          <p:cNvSpPr txBox="1"/>
          <p:nvPr/>
        </p:nvSpPr>
        <p:spPr>
          <a:xfrm>
            <a:off x="33782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target SAST resolved</a:t>
            </a:r>
          </a:p>
        </p:txBody>
      </p:sp>
      <p:sp>
        <p:nvSpPr>
          <p:cNvPr id="11" name="Rectangle: Rounded Corners 10">
            <a:extLst>
              <a:ext uri="{FF2B5EF4-FFF2-40B4-BE49-F238E27FC236}">
                <a16:creationId xmlns:a16="http://schemas.microsoft.com/office/drawing/2014/main" id="{E32497AF-898F-25C1-83BE-3C15D76073DE}"/>
              </a:ext>
            </a:extLst>
          </p:cNvPr>
          <p:cNvSpPr/>
          <p:nvPr/>
        </p:nvSpPr>
        <p:spPr>
          <a:xfrm>
            <a:off x="5969000" y="1371600"/>
            <a:ext cx="2489200" cy="1092200"/>
          </a:xfrm>
          <a:prstGeom prst="roundRect">
            <a:avLst/>
          </a:prstGeom>
          <a:solidFill>
            <a:srgbClr val="E8F5F1"/>
          </a:solidFill>
          <a:ln w="17780">
            <a:solidFill>
              <a:srgbClr val="68A8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0FFE8B5-307F-2CD8-8246-D6BA8E83BCA0}"/>
              </a:ext>
            </a:extLst>
          </p:cNvPr>
          <p:cNvSpPr txBox="1"/>
          <p:nvPr/>
        </p:nvSpPr>
        <p:spPr>
          <a:xfrm>
            <a:off x="61214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15 / 15</a:t>
            </a:r>
          </a:p>
        </p:txBody>
      </p:sp>
      <p:sp>
        <p:nvSpPr>
          <p:cNvPr id="13" name="TextBox 12">
            <a:extLst>
              <a:ext uri="{FF2B5EF4-FFF2-40B4-BE49-F238E27FC236}">
                <a16:creationId xmlns:a16="http://schemas.microsoft.com/office/drawing/2014/main" id="{EF6DEF66-476E-A04C-29B1-1EA91E3AB6B9}"/>
              </a:ext>
            </a:extLst>
          </p:cNvPr>
          <p:cNvSpPr txBox="1"/>
          <p:nvPr/>
        </p:nvSpPr>
        <p:spPr>
          <a:xfrm>
            <a:off x="60960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primary security suites</a:t>
            </a:r>
          </a:p>
        </p:txBody>
      </p:sp>
      <p:sp>
        <p:nvSpPr>
          <p:cNvPr id="14" name="Rectangle: Rounded Corners 13">
            <a:extLst>
              <a:ext uri="{FF2B5EF4-FFF2-40B4-BE49-F238E27FC236}">
                <a16:creationId xmlns:a16="http://schemas.microsoft.com/office/drawing/2014/main" id="{4752A895-ACB8-1FE8-18C4-ACAB0EE988D8}"/>
              </a:ext>
            </a:extLst>
          </p:cNvPr>
          <p:cNvSpPr/>
          <p:nvPr/>
        </p:nvSpPr>
        <p:spPr>
          <a:xfrm>
            <a:off x="8686800" y="1371600"/>
            <a:ext cx="2971800" cy="1092200"/>
          </a:xfrm>
          <a:prstGeom prst="roundRect">
            <a:avLst/>
          </a:prstGeom>
          <a:solidFill>
            <a:srgbClr val="EFEAFA"/>
          </a:solidFill>
          <a:ln w="17780">
            <a:solidFill>
              <a:srgbClr val="8D79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6778C66-C763-F891-C006-F1558CC10CBF}"/>
              </a:ext>
            </a:extLst>
          </p:cNvPr>
          <p:cNvSpPr txBox="1"/>
          <p:nvPr/>
        </p:nvSpPr>
        <p:spPr>
          <a:xfrm>
            <a:off x="8839200" y="1498600"/>
            <a:ext cx="26670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10 / 15</a:t>
            </a:r>
          </a:p>
        </p:txBody>
      </p:sp>
      <p:sp>
        <p:nvSpPr>
          <p:cNvPr id="16" name="TextBox 15">
            <a:extLst>
              <a:ext uri="{FF2B5EF4-FFF2-40B4-BE49-F238E27FC236}">
                <a16:creationId xmlns:a16="http://schemas.microsoft.com/office/drawing/2014/main" id="{38E61F7A-8302-5B4D-B9FC-43C391EB722B}"/>
              </a:ext>
            </a:extLst>
          </p:cNvPr>
          <p:cNvSpPr txBox="1"/>
          <p:nvPr/>
        </p:nvSpPr>
        <p:spPr>
          <a:xfrm>
            <a:off x="8813800" y="2006600"/>
            <a:ext cx="27178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SAST/runtime disagreements</a:t>
            </a:r>
          </a:p>
        </p:txBody>
      </p:sp>
      <p:sp>
        <p:nvSpPr>
          <p:cNvPr id="17" name="Rectangle 16">
            <a:extLst>
              <a:ext uri="{FF2B5EF4-FFF2-40B4-BE49-F238E27FC236}">
                <a16:creationId xmlns:a16="http://schemas.microsoft.com/office/drawing/2014/main" id="{383429C3-9ACF-AA27-FA9B-C9CEE25DF899}"/>
              </a:ext>
            </a:extLst>
          </p:cNvPr>
          <p:cNvSpPr/>
          <p:nvPr/>
        </p:nvSpPr>
        <p:spPr>
          <a:xfrm>
            <a:off x="533400" y="2819400"/>
            <a:ext cx="19685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99953CA-3B8E-423C-BEDC-5FB7B0CC0FEE}"/>
              </a:ext>
            </a:extLst>
          </p:cNvPr>
          <p:cNvSpPr txBox="1"/>
          <p:nvPr/>
        </p:nvSpPr>
        <p:spPr>
          <a:xfrm>
            <a:off x="596900" y="2857500"/>
            <a:ext cx="18415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Primary case</a:t>
            </a:r>
          </a:p>
        </p:txBody>
      </p:sp>
      <p:sp>
        <p:nvSpPr>
          <p:cNvPr id="19" name="Rectangle 18">
            <a:extLst>
              <a:ext uri="{FF2B5EF4-FFF2-40B4-BE49-F238E27FC236}">
                <a16:creationId xmlns:a16="http://schemas.microsoft.com/office/drawing/2014/main" id="{92BD1EEA-1CEF-E3B8-1A49-7886295AF13D}"/>
              </a:ext>
            </a:extLst>
          </p:cNvPr>
          <p:cNvSpPr/>
          <p:nvPr/>
        </p:nvSpPr>
        <p:spPr>
          <a:xfrm>
            <a:off x="2501900" y="2819400"/>
            <a:ext cx="8890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83241C2-4BFF-F7B9-4CF2-E05CAC48D851}"/>
              </a:ext>
            </a:extLst>
          </p:cNvPr>
          <p:cNvSpPr txBox="1"/>
          <p:nvPr/>
        </p:nvSpPr>
        <p:spPr>
          <a:xfrm>
            <a:off x="2565400" y="2857500"/>
            <a:ext cx="7620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Calls</a:t>
            </a:r>
          </a:p>
        </p:txBody>
      </p:sp>
      <p:sp>
        <p:nvSpPr>
          <p:cNvPr id="21" name="Rectangle 20">
            <a:extLst>
              <a:ext uri="{FF2B5EF4-FFF2-40B4-BE49-F238E27FC236}">
                <a16:creationId xmlns:a16="http://schemas.microsoft.com/office/drawing/2014/main" id="{A9C59054-B5F7-B8A2-7ED8-346D585CD5DA}"/>
              </a:ext>
            </a:extLst>
          </p:cNvPr>
          <p:cNvSpPr/>
          <p:nvPr/>
        </p:nvSpPr>
        <p:spPr>
          <a:xfrm>
            <a:off x="3390900" y="2819400"/>
            <a:ext cx="15240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800A81DC-0740-D6EB-C449-4436C7722B87}"/>
              </a:ext>
            </a:extLst>
          </p:cNvPr>
          <p:cNvSpPr txBox="1"/>
          <p:nvPr/>
        </p:nvSpPr>
        <p:spPr>
          <a:xfrm>
            <a:off x="3454400" y="2857500"/>
            <a:ext cx="13970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SAST resolved</a:t>
            </a:r>
          </a:p>
        </p:txBody>
      </p:sp>
      <p:sp>
        <p:nvSpPr>
          <p:cNvPr id="23" name="Rectangle 22">
            <a:extLst>
              <a:ext uri="{FF2B5EF4-FFF2-40B4-BE49-F238E27FC236}">
                <a16:creationId xmlns:a16="http://schemas.microsoft.com/office/drawing/2014/main" id="{256BAC63-73F0-08B9-08F8-2B4728CCA6C5}"/>
              </a:ext>
            </a:extLst>
          </p:cNvPr>
          <p:cNvSpPr/>
          <p:nvPr/>
        </p:nvSpPr>
        <p:spPr>
          <a:xfrm>
            <a:off x="4914900" y="2819400"/>
            <a:ext cx="13335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48C2C96-8087-EBF9-76F8-77192BE56DBD}"/>
              </a:ext>
            </a:extLst>
          </p:cNvPr>
          <p:cNvSpPr txBox="1"/>
          <p:nvPr/>
        </p:nvSpPr>
        <p:spPr>
          <a:xfrm>
            <a:off x="4978400" y="2857500"/>
            <a:ext cx="12065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Security</a:t>
            </a:r>
          </a:p>
        </p:txBody>
      </p:sp>
      <p:sp>
        <p:nvSpPr>
          <p:cNvPr id="25" name="Rectangle 24">
            <a:extLst>
              <a:ext uri="{FF2B5EF4-FFF2-40B4-BE49-F238E27FC236}">
                <a16:creationId xmlns:a16="http://schemas.microsoft.com/office/drawing/2014/main" id="{5B2D5FF9-8E61-BB35-53E6-7B9890833FB0}"/>
              </a:ext>
            </a:extLst>
          </p:cNvPr>
          <p:cNvSpPr/>
          <p:nvPr/>
        </p:nvSpPr>
        <p:spPr>
          <a:xfrm>
            <a:off x="6248400" y="2819400"/>
            <a:ext cx="13335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F9A1737E-3FDF-26F4-0048-4ED88C10084F}"/>
              </a:ext>
            </a:extLst>
          </p:cNvPr>
          <p:cNvSpPr txBox="1"/>
          <p:nvPr/>
        </p:nvSpPr>
        <p:spPr>
          <a:xfrm>
            <a:off x="6311900" y="2857500"/>
            <a:ext cx="12065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Functional</a:t>
            </a:r>
          </a:p>
        </p:txBody>
      </p:sp>
      <p:sp>
        <p:nvSpPr>
          <p:cNvPr id="27" name="Rectangle 26">
            <a:extLst>
              <a:ext uri="{FF2B5EF4-FFF2-40B4-BE49-F238E27FC236}">
                <a16:creationId xmlns:a16="http://schemas.microsoft.com/office/drawing/2014/main" id="{437F599E-D128-3C0D-E847-FF4E2B8C9C34}"/>
              </a:ext>
            </a:extLst>
          </p:cNvPr>
          <p:cNvSpPr/>
          <p:nvPr/>
        </p:nvSpPr>
        <p:spPr>
          <a:xfrm>
            <a:off x="7581900" y="2819400"/>
            <a:ext cx="31496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4087B5BD-7928-F3E1-8005-6C5F27235ABC}"/>
              </a:ext>
            </a:extLst>
          </p:cNvPr>
          <p:cNvSpPr txBox="1"/>
          <p:nvPr/>
        </p:nvSpPr>
        <p:spPr>
          <a:xfrm>
            <a:off x="7645400" y="2857500"/>
            <a:ext cx="30226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Automated state</a:t>
            </a:r>
          </a:p>
        </p:txBody>
      </p:sp>
      <p:sp>
        <p:nvSpPr>
          <p:cNvPr id="29" name="Rectangle 28">
            <a:extLst>
              <a:ext uri="{FF2B5EF4-FFF2-40B4-BE49-F238E27FC236}">
                <a16:creationId xmlns:a16="http://schemas.microsoft.com/office/drawing/2014/main" id="{9AF9AF25-6159-7B81-4783-09BBC618EE3E}"/>
              </a:ext>
            </a:extLst>
          </p:cNvPr>
          <p:cNvSpPr/>
          <p:nvPr/>
        </p:nvSpPr>
        <p:spPr>
          <a:xfrm>
            <a:off x="533400" y="3314700"/>
            <a:ext cx="1968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28DAA3E9-2B2E-4251-8CA4-84A58AF86613}"/>
              </a:ext>
            </a:extLst>
          </p:cNvPr>
          <p:cNvSpPr txBox="1"/>
          <p:nvPr/>
        </p:nvSpPr>
        <p:spPr>
          <a:xfrm>
            <a:off x="596900" y="3352800"/>
            <a:ext cx="1841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Reflected XSS</a:t>
            </a:r>
          </a:p>
        </p:txBody>
      </p:sp>
      <p:sp>
        <p:nvSpPr>
          <p:cNvPr id="31" name="Rectangle 30">
            <a:extLst>
              <a:ext uri="{FF2B5EF4-FFF2-40B4-BE49-F238E27FC236}">
                <a16:creationId xmlns:a16="http://schemas.microsoft.com/office/drawing/2014/main" id="{ED8F6265-C2E1-5AF5-B085-2A314BE1CC5F}"/>
              </a:ext>
            </a:extLst>
          </p:cNvPr>
          <p:cNvSpPr/>
          <p:nvPr/>
        </p:nvSpPr>
        <p:spPr>
          <a:xfrm>
            <a:off x="2501900" y="3314700"/>
            <a:ext cx="889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B83824CB-7545-A8B6-9F9E-6A97E315A6E4}"/>
              </a:ext>
            </a:extLst>
          </p:cNvPr>
          <p:cNvSpPr txBox="1"/>
          <p:nvPr/>
        </p:nvSpPr>
        <p:spPr>
          <a:xfrm>
            <a:off x="2565400" y="33528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33" name="Rectangle 32">
            <a:extLst>
              <a:ext uri="{FF2B5EF4-FFF2-40B4-BE49-F238E27FC236}">
                <a16:creationId xmlns:a16="http://schemas.microsoft.com/office/drawing/2014/main" id="{2F97BA34-C216-C456-39DB-81F51EA7A9C7}"/>
              </a:ext>
            </a:extLst>
          </p:cNvPr>
          <p:cNvSpPr/>
          <p:nvPr/>
        </p:nvSpPr>
        <p:spPr>
          <a:xfrm>
            <a:off x="3390900" y="3314700"/>
            <a:ext cx="1524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7E7A88AD-4319-1E51-A0B9-97ACAA1C3A53}"/>
              </a:ext>
            </a:extLst>
          </p:cNvPr>
          <p:cNvSpPr txBox="1"/>
          <p:nvPr/>
        </p:nvSpPr>
        <p:spPr>
          <a:xfrm>
            <a:off x="3454400" y="3352800"/>
            <a:ext cx="1397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0 / 5</a:t>
            </a:r>
          </a:p>
        </p:txBody>
      </p:sp>
      <p:sp>
        <p:nvSpPr>
          <p:cNvPr id="35" name="Rectangle 34">
            <a:extLst>
              <a:ext uri="{FF2B5EF4-FFF2-40B4-BE49-F238E27FC236}">
                <a16:creationId xmlns:a16="http://schemas.microsoft.com/office/drawing/2014/main" id="{86668ADF-3FC4-F269-F5B7-62F044D28A53}"/>
              </a:ext>
            </a:extLst>
          </p:cNvPr>
          <p:cNvSpPr/>
          <p:nvPr/>
        </p:nvSpPr>
        <p:spPr>
          <a:xfrm>
            <a:off x="4914900" y="3314700"/>
            <a:ext cx="1333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787BFF37-3DF4-7FB8-44A0-9B4A08B2D05A}"/>
              </a:ext>
            </a:extLst>
          </p:cNvPr>
          <p:cNvSpPr txBox="1"/>
          <p:nvPr/>
        </p:nvSpPr>
        <p:spPr>
          <a:xfrm>
            <a:off x="4978400" y="33528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37" name="Rectangle 36">
            <a:extLst>
              <a:ext uri="{FF2B5EF4-FFF2-40B4-BE49-F238E27FC236}">
                <a16:creationId xmlns:a16="http://schemas.microsoft.com/office/drawing/2014/main" id="{07B80B17-D74E-FD6F-A949-1A9B41642724}"/>
              </a:ext>
            </a:extLst>
          </p:cNvPr>
          <p:cNvSpPr/>
          <p:nvPr/>
        </p:nvSpPr>
        <p:spPr>
          <a:xfrm>
            <a:off x="6248400" y="3314700"/>
            <a:ext cx="1333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EAF44DC8-DEC8-B158-1B41-4E8B4CB7413E}"/>
              </a:ext>
            </a:extLst>
          </p:cNvPr>
          <p:cNvSpPr txBox="1"/>
          <p:nvPr/>
        </p:nvSpPr>
        <p:spPr>
          <a:xfrm>
            <a:off x="6311900" y="33528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39" name="Rectangle 38">
            <a:extLst>
              <a:ext uri="{FF2B5EF4-FFF2-40B4-BE49-F238E27FC236}">
                <a16:creationId xmlns:a16="http://schemas.microsoft.com/office/drawing/2014/main" id="{C3C897A5-F8DC-1F58-DC44-B93BD2801E72}"/>
              </a:ext>
            </a:extLst>
          </p:cNvPr>
          <p:cNvSpPr/>
          <p:nvPr/>
        </p:nvSpPr>
        <p:spPr>
          <a:xfrm>
            <a:off x="7581900" y="3314700"/>
            <a:ext cx="31496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AED29C25-C9C9-41AB-0EFC-4CB2ADA98920}"/>
              </a:ext>
            </a:extLst>
          </p:cNvPr>
          <p:cNvSpPr txBox="1"/>
          <p:nvPr/>
        </p:nvSpPr>
        <p:spPr>
          <a:xfrm>
            <a:off x="7645400" y="3352800"/>
            <a:ext cx="30226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Needs adjudication</a:t>
            </a:r>
          </a:p>
        </p:txBody>
      </p:sp>
      <p:sp>
        <p:nvSpPr>
          <p:cNvPr id="41" name="Rectangle 40">
            <a:extLst>
              <a:ext uri="{FF2B5EF4-FFF2-40B4-BE49-F238E27FC236}">
                <a16:creationId xmlns:a16="http://schemas.microsoft.com/office/drawing/2014/main" id="{78A96108-269E-CB86-5A43-ECB13A53D23F}"/>
              </a:ext>
            </a:extLst>
          </p:cNvPr>
          <p:cNvSpPr/>
          <p:nvPr/>
        </p:nvSpPr>
        <p:spPr>
          <a:xfrm>
            <a:off x="533400" y="3810000"/>
            <a:ext cx="1968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A22AEF11-C54F-B3AC-B5B7-4E5268DE7DA9}"/>
              </a:ext>
            </a:extLst>
          </p:cNvPr>
          <p:cNvSpPr txBox="1"/>
          <p:nvPr/>
        </p:nvSpPr>
        <p:spPr>
          <a:xfrm>
            <a:off x="596900" y="3848100"/>
            <a:ext cx="1841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SQL injection</a:t>
            </a:r>
          </a:p>
        </p:txBody>
      </p:sp>
      <p:sp>
        <p:nvSpPr>
          <p:cNvPr id="43" name="Rectangle 42">
            <a:extLst>
              <a:ext uri="{FF2B5EF4-FFF2-40B4-BE49-F238E27FC236}">
                <a16:creationId xmlns:a16="http://schemas.microsoft.com/office/drawing/2014/main" id="{03E82E60-25F3-1F5A-2072-ED1675C1C2AD}"/>
              </a:ext>
            </a:extLst>
          </p:cNvPr>
          <p:cNvSpPr/>
          <p:nvPr/>
        </p:nvSpPr>
        <p:spPr>
          <a:xfrm>
            <a:off x="2501900" y="3810000"/>
            <a:ext cx="889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190EDC65-79C2-E6BE-F760-B72D0E636F42}"/>
              </a:ext>
            </a:extLst>
          </p:cNvPr>
          <p:cNvSpPr txBox="1"/>
          <p:nvPr/>
        </p:nvSpPr>
        <p:spPr>
          <a:xfrm>
            <a:off x="2565400" y="38481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45" name="Rectangle 44">
            <a:extLst>
              <a:ext uri="{FF2B5EF4-FFF2-40B4-BE49-F238E27FC236}">
                <a16:creationId xmlns:a16="http://schemas.microsoft.com/office/drawing/2014/main" id="{05A8EEA7-2011-B8C3-0551-B3B1DF239C93}"/>
              </a:ext>
            </a:extLst>
          </p:cNvPr>
          <p:cNvSpPr/>
          <p:nvPr/>
        </p:nvSpPr>
        <p:spPr>
          <a:xfrm>
            <a:off x="3390900" y="3810000"/>
            <a:ext cx="1524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07816D56-54DB-2C0E-0971-3090309659AD}"/>
              </a:ext>
            </a:extLst>
          </p:cNvPr>
          <p:cNvSpPr txBox="1"/>
          <p:nvPr/>
        </p:nvSpPr>
        <p:spPr>
          <a:xfrm>
            <a:off x="3454400" y="3848100"/>
            <a:ext cx="1397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47" name="Rectangle 46">
            <a:extLst>
              <a:ext uri="{FF2B5EF4-FFF2-40B4-BE49-F238E27FC236}">
                <a16:creationId xmlns:a16="http://schemas.microsoft.com/office/drawing/2014/main" id="{6C9F29DE-AC7D-1FD2-DAC0-3618E7AF760E}"/>
              </a:ext>
            </a:extLst>
          </p:cNvPr>
          <p:cNvSpPr/>
          <p:nvPr/>
        </p:nvSpPr>
        <p:spPr>
          <a:xfrm>
            <a:off x="4914900" y="3810000"/>
            <a:ext cx="1333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A77DADD0-A6EF-3979-2F86-48ABDEBB3BBB}"/>
              </a:ext>
            </a:extLst>
          </p:cNvPr>
          <p:cNvSpPr txBox="1"/>
          <p:nvPr/>
        </p:nvSpPr>
        <p:spPr>
          <a:xfrm>
            <a:off x="4978400" y="38481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49" name="Rectangle 48">
            <a:extLst>
              <a:ext uri="{FF2B5EF4-FFF2-40B4-BE49-F238E27FC236}">
                <a16:creationId xmlns:a16="http://schemas.microsoft.com/office/drawing/2014/main" id="{E5358BDA-83C1-E470-038F-C27BEE779CE6}"/>
              </a:ext>
            </a:extLst>
          </p:cNvPr>
          <p:cNvSpPr/>
          <p:nvPr/>
        </p:nvSpPr>
        <p:spPr>
          <a:xfrm>
            <a:off x="6248400" y="3810000"/>
            <a:ext cx="1333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F54E6BC0-6E6B-55FB-DDD5-823457ED33F0}"/>
              </a:ext>
            </a:extLst>
          </p:cNvPr>
          <p:cNvSpPr txBox="1"/>
          <p:nvPr/>
        </p:nvSpPr>
        <p:spPr>
          <a:xfrm>
            <a:off x="6311900" y="38481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51" name="Rectangle 50">
            <a:extLst>
              <a:ext uri="{FF2B5EF4-FFF2-40B4-BE49-F238E27FC236}">
                <a16:creationId xmlns:a16="http://schemas.microsoft.com/office/drawing/2014/main" id="{6FBAB29C-FC3C-F28B-10EE-6F5AB44C9C82}"/>
              </a:ext>
            </a:extLst>
          </p:cNvPr>
          <p:cNvSpPr/>
          <p:nvPr/>
        </p:nvSpPr>
        <p:spPr>
          <a:xfrm>
            <a:off x="7581900" y="3810000"/>
            <a:ext cx="31496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C29A76DE-D22F-D6C4-0C7E-6716E6D4E118}"/>
              </a:ext>
            </a:extLst>
          </p:cNvPr>
          <p:cNvSpPr txBox="1"/>
          <p:nvPr/>
        </p:nvSpPr>
        <p:spPr>
          <a:xfrm>
            <a:off x="7645400" y="3848100"/>
            <a:ext cx="30226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Ready for review</a:t>
            </a:r>
          </a:p>
        </p:txBody>
      </p:sp>
      <p:sp>
        <p:nvSpPr>
          <p:cNvPr id="53" name="Rectangle 52">
            <a:extLst>
              <a:ext uri="{FF2B5EF4-FFF2-40B4-BE49-F238E27FC236}">
                <a16:creationId xmlns:a16="http://schemas.microsoft.com/office/drawing/2014/main" id="{97D4F287-A379-C7E1-38E7-4790CD403799}"/>
              </a:ext>
            </a:extLst>
          </p:cNvPr>
          <p:cNvSpPr/>
          <p:nvPr/>
        </p:nvSpPr>
        <p:spPr>
          <a:xfrm>
            <a:off x="533400" y="4305300"/>
            <a:ext cx="1968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EE49D71A-2A50-EABD-CD14-C31F82F8BE62}"/>
              </a:ext>
            </a:extLst>
          </p:cNvPr>
          <p:cNvSpPr txBox="1"/>
          <p:nvPr/>
        </p:nvSpPr>
        <p:spPr>
          <a:xfrm>
            <a:off x="596900" y="4343400"/>
            <a:ext cx="1841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Path traversal</a:t>
            </a:r>
          </a:p>
        </p:txBody>
      </p:sp>
      <p:sp>
        <p:nvSpPr>
          <p:cNvPr id="55" name="Rectangle 54">
            <a:extLst>
              <a:ext uri="{FF2B5EF4-FFF2-40B4-BE49-F238E27FC236}">
                <a16:creationId xmlns:a16="http://schemas.microsoft.com/office/drawing/2014/main" id="{B8DA0A9C-D5CE-B884-6890-DA5573061CF0}"/>
              </a:ext>
            </a:extLst>
          </p:cNvPr>
          <p:cNvSpPr/>
          <p:nvPr/>
        </p:nvSpPr>
        <p:spPr>
          <a:xfrm>
            <a:off x="2501900" y="4305300"/>
            <a:ext cx="889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F5424895-BAA7-BDED-33A9-2344C7E64EC8}"/>
              </a:ext>
            </a:extLst>
          </p:cNvPr>
          <p:cNvSpPr txBox="1"/>
          <p:nvPr/>
        </p:nvSpPr>
        <p:spPr>
          <a:xfrm>
            <a:off x="2565400" y="43434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57" name="Rectangle 56">
            <a:extLst>
              <a:ext uri="{FF2B5EF4-FFF2-40B4-BE49-F238E27FC236}">
                <a16:creationId xmlns:a16="http://schemas.microsoft.com/office/drawing/2014/main" id="{ACD29C85-DB95-086D-5B2D-728F5BA27328}"/>
              </a:ext>
            </a:extLst>
          </p:cNvPr>
          <p:cNvSpPr/>
          <p:nvPr/>
        </p:nvSpPr>
        <p:spPr>
          <a:xfrm>
            <a:off x="3390900" y="4305300"/>
            <a:ext cx="1524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539BD590-691B-6C41-D82C-B5475B1E3A45}"/>
              </a:ext>
            </a:extLst>
          </p:cNvPr>
          <p:cNvSpPr txBox="1"/>
          <p:nvPr/>
        </p:nvSpPr>
        <p:spPr>
          <a:xfrm>
            <a:off x="3454400" y="4343400"/>
            <a:ext cx="1397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0 / 5</a:t>
            </a:r>
          </a:p>
        </p:txBody>
      </p:sp>
      <p:sp>
        <p:nvSpPr>
          <p:cNvPr id="59" name="Rectangle 58">
            <a:extLst>
              <a:ext uri="{FF2B5EF4-FFF2-40B4-BE49-F238E27FC236}">
                <a16:creationId xmlns:a16="http://schemas.microsoft.com/office/drawing/2014/main" id="{AE4DF60B-8665-AECC-D089-280D65D3BF47}"/>
              </a:ext>
            </a:extLst>
          </p:cNvPr>
          <p:cNvSpPr/>
          <p:nvPr/>
        </p:nvSpPr>
        <p:spPr>
          <a:xfrm>
            <a:off x="4914900" y="4305300"/>
            <a:ext cx="1333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D6D2ACC4-14FB-A39F-F314-BE344A1C623E}"/>
              </a:ext>
            </a:extLst>
          </p:cNvPr>
          <p:cNvSpPr txBox="1"/>
          <p:nvPr/>
        </p:nvSpPr>
        <p:spPr>
          <a:xfrm>
            <a:off x="4978400" y="43434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61" name="Rectangle 60">
            <a:extLst>
              <a:ext uri="{FF2B5EF4-FFF2-40B4-BE49-F238E27FC236}">
                <a16:creationId xmlns:a16="http://schemas.microsoft.com/office/drawing/2014/main" id="{6A196CB0-FBFA-593B-C232-61A2966621E8}"/>
              </a:ext>
            </a:extLst>
          </p:cNvPr>
          <p:cNvSpPr/>
          <p:nvPr/>
        </p:nvSpPr>
        <p:spPr>
          <a:xfrm>
            <a:off x="6248400" y="4305300"/>
            <a:ext cx="1333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8D2EE614-1170-8507-4433-DABDFE976028}"/>
              </a:ext>
            </a:extLst>
          </p:cNvPr>
          <p:cNvSpPr txBox="1"/>
          <p:nvPr/>
        </p:nvSpPr>
        <p:spPr>
          <a:xfrm>
            <a:off x="6311900" y="43434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63" name="Rectangle 62">
            <a:extLst>
              <a:ext uri="{FF2B5EF4-FFF2-40B4-BE49-F238E27FC236}">
                <a16:creationId xmlns:a16="http://schemas.microsoft.com/office/drawing/2014/main" id="{B37A7950-9768-AB46-9CFC-AFAE29AEDD9F}"/>
              </a:ext>
            </a:extLst>
          </p:cNvPr>
          <p:cNvSpPr/>
          <p:nvPr/>
        </p:nvSpPr>
        <p:spPr>
          <a:xfrm>
            <a:off x="7581900" y="4305300"/>
            <a:ext cx="31496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EE1847AF-60E1-0098-7D10-6504C8B67F2F}"/>
              </a:ext>
            </a:extLst>
          </p:cNvPr>
          <p:cNvSpPr txBox="1"/>
          <p:nvPr/>
        </p:nvSpPr>
        <p:spPr>
          <a:xfrm>
            <a:off x="7645400" y="4343400"/>
            <a:ext cx="30226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Needs adjudication</a:t>
            </a:r>
          </a:p>
        </p:txBody>
      </p:sp>
      <p:sp>
        <p:nvSpPr>
          <p:cNvPr id="65" name="Rectangle 64">
            <a:extLst>
              <a:ext uri="{FF2B5EF4-FFF2-40B4-BE49-F238E27FC236}">
                <a16:creationId xmlns:a16="http://schemas.microsoft.com/office/drawing/2014/main" id="{B589749A-BD08-7839-F263-9B13AC8D6A45}"/>
              </a:ext>
            </a:extLst>
          </p:cNvPr>
          <p:cNvSpPr/>
          <p:nvPr/>
        </p:nvSpPr>
        <p:spPr>
          <a:xfrm>
            <a:off x="533400" y="4800600"/>
            <a:ext cx="1968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B274AE35-CEC3-A63B-2F53-48818C393F3E}"/>
              </a:ext>
            </a:extLst>
          </p:cNvPr>
          <p:cNvSpPr txBox="1"/>
          <p:nvPr/>
        </p:nvSpPr>
        <p:spPr>
          <a:xfrm>
            <a:off x="596900" y="4838700"/>
            <a:ext cx="1841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Total</a:t>
            </a:r>
          </a:p>
        </p:txBody>
      </p:sp>
      <p:sp>
        <p:nvSpPr>
          <p:cNvPr id="67" name="Rectangle 66">
            <a:extLst>
              <a:ext uri="{FF2B5EF4-FFF2-40B4-BE49-F238E27FC236}">
                <a16:creationId xmlns:a16="http://schemas.microsoft.com/office/drawing/2014/main" id="{920A3F64-7E64-AA88-D3F1-E5BE74564080}"/>
              </a:ext>
            </a:extLst>
          </p:cNvPr>
          <p:cNvSpPr/>
          <p:nvPr/>
        </p:nvSpPr>
        <p:spPr>
          <a:xfrm>
            <a:off x="2501900" y="4800600"/>
            <a:ext cx="889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525741BC-81FB-9CCC-63C5-9A55AE4D91BC}"/>
              </a:ext>
            </a:extLst>
          </p:cNvPr>
          <p:cNvSpPr txBox="1"/>
          <p:nvPr/>
        </p:nvSpPr>
        <p:spPr>
          <a:xfrm>
            <a:off x="2565400" y="48387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15</a:t>
            </a:r>
          </a:p>
        </p:txBody>
      </p:sp>
      <p:sp>
        <p:nvSpPr>
          <p:cNvPr id="69" name="Rectangle 68">
            <a:extLst>
              <a:ext uri="{FF2B5EF4-FFF2-40B4-BE49-F238E27FC236}">
                <a16:creationId xmlns:a16="http://schemas.microsoft.com/office/drawing/2014/main" id="{DC3CA7A2-21C5-C7AE-2082-9DF8541986CC}"/>
              </a:ext>
            </a:extLst>
          </p:cNvPr>
          <p:cNvSpPr/>
          <p:nvPr/>
        </p:nvSpPr>
        <p:spPr>
          <a:xfrm>
            <a:off x="3390900" y="4800600"/>
            <a:ext cx="1524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69">
            <a:extLst>
              <a:ext uri="{FF2B5EF4-FFF2-40B4-BE49-F238E27FC236}">
                <a16:creationId xmlns:a16="http://schemas.microsoft.com/office/drawing/2014/main" id="{60692BA2-1FEF-37B9-B888-79E6721A716C}"/>
              </a:ext>
            </a:extLst>
          </p:cNvPr>
          <p:cNvSpPr txBox="1"/>
          <p:nvPr/>
        </p:nvSpPr>
        <p:spPr>
          <a:xfrm>
            <a:off x="3454400" y="4838700"/>
            <a:ext cx="1397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15</a:t>
            </a:r>
          </a:p>
        </p:txBody>
      </p:sp>
      <p:sp>
        <p:nvSpPr>
          <p:cNvPr id="71" name="Rectangle 70">
            <a:extLst>
              <a:ext uri="{FF2B5EF4-FFF2-40B4-BE49-F238E27FC236}">
                <a16:creationId xmlns:a16="http://schemas.microsoft.com/office/drawing/2014/main" id="{1A274E5F-594B-1AB1-C4D7-DD1246ABE798}"/>
              </a:ext>
            </a:extLst>
          </p:cNvPr>
          <p:cNvSpPr/>
          <p:nvPr/>
        </p:nvSpPr>
        <p:spPr>
          <a:xfrm>
            <a:off x="4914900" y="4800600"/>
            <a:ext cx="1333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82BBEB5B-DE92-0E0C-08A9-DC438236DC13}"/>
              </a:ext>
            </a:extLst>
          </p:cNvPr>
          <p:cNvSpPr txBox="1"/>
          <p:nvPr/>
        </p:nvSpPr>
        <p:spPr>
          <a:xfrm>
            <a:off x="4978400" y="48387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15 / 15</a:t>
            </a:r>
          </a:p>
        </p:txBody>
      </p:sp>
      <p:sp>
        <p:nvSpPr>
          <p:cNvPr id="73" name="Rectangle 72">
            <a:extLst>
              <a:ext uri="{FF2B5EF4-FFF2-40B4-BE49-F238E27FC236}">
                <a16:creationId xmlns:a16="http://schemas.microsoft.com/office/drawing/2014/main" id="{E0512146-4B40-098F-4AEB-2C4AC5FBFC91}"/>
              </a:ext>
            </a:extLst>
          </p:cNvPr>
          <p:cNvSpPr/>
          <p:nvPr/>
        </p:nvSpPr>
        <p:spPr>
          <a:xfrm>
            <a:off x="6248400" y="4800600"/>
            <a:ext cx="1333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E2D7E504-3CC8-8596-46B6-EF07ED66F88D}"/>
              </a:ext>
            </a:extLst>
          </p:cNvPr>
          <p:cNvSpPr txBox="1"/>
          <p:nvPr/>
        </p:nvSpPr>
        <p:spPr>
          <a:xfrm>
            <a:off x="6311900" y="48387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15 / 15</a:t>
            </a:r>
          </a:p>
        </p:txBody>
      </p:sp>
      <p:sp>
        <p:nvSpPr>
          <p:cNvPr id="75" name="Rectangle 74">
            <a:extLst>
              <a:ext uri="{FF2B5EF4-FFF2-40B4-BE49-F238E27FC236}">
                <a16:creationId xmlns:a16="http://schemas.microsoft.com/office/drawing/2014/main" id="{46D83A7D-2BCE-5918-C49D-1C56F1C76681}"/>
              </a:ext>
            </a:extLst>
          </p:cNvPr>
          <p:cNvSpPr/>
          <p:nvPr/>
        </p:nvSpPr>
        <p:spPr>
          <a:xfrm>
            <a:off x="7581900" y="4800600"/>
            <a:ext cx="31496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40F32807-2C19-64CB-0CC9-AC4AF57FDCE0}"/>
              </a:ext>
            </a:extLst>
          </p:cNvPr>
          <p:cNvSpPr txBox="1"/>
          <p:nvPr/>
        </p:nvSpPr>
        <p:spPr>
          <a:xfrm>
            <a:off x="7645400" y="4838700"/>
            <a:ext cx="30226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ready | 10 adjudicate</a:t>
            </a:r>
          </a:p>
        </p:txBody>
      </p:sp>
      <p:sp>
        <p:nvSpPr>
          <p:cNvPr id="77" name="Rectangle: Rounded Corners 76">
            <a:extLst>
              <a:ext uri="{FF2B5EF4-FFF2-40B4-BE49-F238E27FC236}">
                <a16:creationId xmlns:a16="http://schemas.microsoft.com/office/drawing/2014/main" id="{639A0346-9346-A989-C883-296E0C0D9401}"/>
              </a:ext>
            </a:extLst>
          </p:cNvPr>
          <p:cNvSpPr/>
          <p:nvPr/>
        </p:nvSpPr>
        <p:spPr>
          <a:xfrm>
            <a:off x="533400" y="5511800"/>
            <a:ext cx="11125200" cy="736600"/>
          </a:xfrm>
          <a:prstGeom prst="roundRect">
            <a:avLst/>
          </a:prstGeom>
          <a:solidFill>
            <a:srgbClr val="FFF3DE"/>
          </a:solidFill>
          <a:ln w="1524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1C225A16-D3AA-2FA9-4423-A1987F31EBDB}"/>
              </a:ext>
            </a:extLst>
          </p:cNvPr>
          <p:cNvSpPr txBox="1"/>
          <p:nvPr/>
        </p:nvSpPr>
        <p:spPr>
          <a:xfrm>
            <a:off x="736600" y="5638800"/>
            <a:ext cx="10718800" cy="276999"/>
          </a:xfrm>
          <a:prstGeom prst="rect">
            <a:avLst/>
          </a:prstGeom>
          <a:noFill/>
        </p:spPr>
        <p:txBody>
          <a:bodyPr vert="horz" wrap="square" lIns="0" tIns="0" rIns="0" bIns="0" rtlCol="0" anchor="ctr">
            <a:noAutofit/>
          </a:bodyPr>
          <a:lstStyle/>
          <a:p>
            <a:r>
              <a:rPr lang="en-US" sz="1400" b="1">
                <a:solidFill>
                  <a:srgbClr val="0B2447"/>
                </a:solidFill>
                <a:latin typeface="Aptos" panose="020B0004020202020204" pitchFamily="34" charset="0"/>
              </a:rPr>
              <a:t>0 / 5 resolved means the target scanner finding persisted - not that zero candidates blocked the tested attacks.</a:t>
            </a:r>
          </a:p>
        </p:txBody>
      </p:sp>
      <p:sp>
        <p:nvSpPr>
          <p:cNvPr id="79" name="TextBox 78">
            <a:extLst>
              <a:ext uri="{FF2B5EF4-FFF2-40B4-BE49-F238E27FC236}">
                <a16:creationId xmlns:a16="http://schemas.microsoft.com/office/drawing/2014/main" id="{A78B93F4-AFBB-1791-DE1A-0C5808AE4C99}"/>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80" name="TextBox 79">
            <a:extLst>
              <a:ext uri="{FF2B5EF4-FFF2-40B4-BE49-F238E27FC236}">
                <a16:creationId xmlns:a16="http://schemas.microsoft.com/office/drawing/2014/main" id="{552E51F6-E355-FB71-A132-2F44E05DD08E}"/>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4</a:t>
            </a:r>
          </a:p>
        </p:txBody>
      </p:sp>
    </p:spTree>
    <p:extLst>
      <p:ext uri="{BB962C8B-B14F-4D97-AF65-F5344CB8AC3E}">
        <p14:creationId xmlns:p14="http://schemas.microsoft.com/office/powerpoint/2010/main" val="27758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5ECA94-8A2F-4CA5-52B2-7772ED73634E}"/>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3. Supplemental-v1: later, predefined evidence</a:t>
            </a:r>
          </a:p>
        </p:txBody>
      </p:sp>
      <p:sp>
        <p:nvSpPr>
          <p:cNvPr id="3" name="TextBox 2">
            <a:extLst>
              <a:ext uri="{FF2B5EF4-FFF2-40B4-BE49-F238E27FC236}">
                <a16:creationId xmlns:a16="http://schemas.microsoft.com/office/drawing/2014/main" id="{27CC1846-096B-41C0-A7B1-4AFE6E591B9C}"/>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Same saved candidates | baseline gates first | no new model calls | primary metrics stay frozen</a:t>
            </a:r>
          </a:p>
        </p:txBody>
      </p:sp>
      <p:cxnSp>
        <p:nvCxnSpPr>
          <p:cNvPr id="4" name="Straight Connector 3">
            <a:extLst>
              <a:ext uri="{FF2B5EF4-FFF2-40B4-BE49-F238E27FC236}">
                <a16:creationId xmlns:a16="http://schemas.microsoft.com/office/drawing/2014/main" id="{7D649162-3100-04D8-D187-A4CBF29F75D1}"/>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70CB3E24-B796-84D7-1CBF-B54C66835BDA}"/>
              </a:ext>
            </a:extLst>
          </p:cNvPr>
          <p:cNvSpPr/>
          <p:nvPr/>
        </p:nvSpPr>
        <p:spPr>
          <a:xfrm>
            <a:off x="533400" y="1371600"/>
            <a:ext cx="2489200" cy="1092200"/>
          </a:xfrm>
          <a:prstGeom prst="roundRect">
            <a:avLst/>
          </a:prstGeom>
          <a:solidFill>
            <a:srgbClr val="EAF1FA"/>
          </a:solidFill>
          <a:ln w="1778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2A9FACF-0C83-C8BF-A56E-54A388A74433}"/>
              </a:ext>
            </a:extLst>
          </p:cNvPr>
          <p:cNvSpPr txBox="1"/>
          <p:nvPr/>
        </p:nvSpPr>
        <p:spPr>
          <a:xfrm>
            <a:off x="6858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28</a:t>
            </a:r>
          </a:p>
        </p:txBody>
      </p:sp>
      <p:sp>
        <p:nvSpPr>
          <p:cNvPr id="7" name="TextBox 6">
            <a:extLst>
              <a:ext uri="{FF2B5EF4-FFF2-40B4-BE49-F238E27FC236}">
                <a16:creationId xmlns:a16="http://schemas.microsoft.com/office/drawing/2014/main" id="{7B75D1D1-4CA0-93B4-96A9-694EE3BED51A}"/>
              </a:ext>
            </a:extLst>
          </p:cNvPr>
          <p:cNvSpPr txBox="1"/>
          <p:nvPr/>
        </p:nvSpPr>
        <p:spPr>
          <a:xfrm>
            <a:off x="6604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frozen case definitions</a:t>
            </a:r>
          </a:p>
        </p:txBody>
      </p:sp>
      <p:sp>
        <p:nvSpPr>
          <p:cNvPr id="8" name="Rectangle: Rounded Corners 7">
            <a:extLst>
              <a:ext uri="{FF2B5EF4-FFF2-40B4-BE49-F238E27FC236}">
                <a16:creationId xmlns:a16="http://schemas.microsoft.com/office/drawing/2014/main" id="{2BAF6785-3C4B-A052-D23F-C865B5177806}"/>
              </a:ext>
            </a:extLst>
          </p:cNvPr>
          <p:cNvSpPr/>
          <p:nvPr/>
        </p:nvSpPr>
        <p:spPr>
          <a:xfrm>
            <a:off x="3251200" y="1371600"/>
            <a:ext cx="2489200" cy="1092200"/>
          </a:xfrm>
          <a:prstGeom prst="roundRect">
            <a:avLst/>
          </a:prstGeom>
          <a:solidFill>
            <a:srgbClr val="FFF3DE"/>
          </a:solidFill>
          <a:ln w="1778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C524D1-A869-7B60-4A69-A06520B6F85C}"/>
              </a:ext>
            </a:extLst>
          </p:cNvPr>
          <p:cNvSpPr txBox="1"/>
          <p:nvPr/>
        </p:nvSpPr>
        <p:spPr>
          <a:xfrm>
            <a:off x="34036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3</a:t>
            </a:r>
          </a:p>
        </p:txBody>
      </p:sp>
      <p:sp>
        <p:nvSpPr>
          <p:cNvPr id="10" name="TextBox 9">
            <a:extLst>
              <a:ext uri="{FF2B5EF4-FFF2-40B4-BE49-F238E27FC236}">
                <a16:creationId xmlns:a16="http://schemas.microsoft.com/office/drawing/2014/main" id="{95813EFD-85A3-F99D-8107-220BC1484197}"/>
              </a:ext>
            </a:extLst>
          </p:cNvPr>
          <p:cNvSpPr txBox="1"/>
          <p:nvPr/>
        </p:nvSpPr>
        <p:spPr>
          <a:xfrm>
            <a:off x="33782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baseline characterizations</a:t>
            </a:r>
          </a:p>
        </p:txBody>
      </p:sp>
      <p:sp>
        <p:nvSpPr>
          <p:cNvPr id="11" name="Rectangle: Rounded Corners 10">
            <a:extLst>
              <a:ext uri="{FF2B5EF4-FFF2-40B4-BE49-F238E27FC236}">
                <a16:creationId xmlns:a16="http://schemas.microsoft.com/office/drawing/2014/main" id="{F231EF0A-4618-AC34-B726-961C58F66881}"/>
              </a:ext>
            </a:extLst>
          </p:cNvPr>
          <p:cNvSpPr/>
          <p:nvPr/>
        </p:nvSpPr>
        <p:spPr>
          <a:xfrm>
            <a:off x="5969000" y="1371600"/>
            <a:ext cx="2489200" cy="1092200"/>
          </a:xfrm>
          <a:prstGeom prst="roundRect">
            <a:avLst/>
          </a:prstGeom>
          <a:solidFill>
            <a:srgbClr val="E8F5F1"/>
          </a:solidFill>
          <a:ln w="17780">
            <a:solidFill>
              <a:srgbClr val="68A8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6C06E81-3078-6848-06FD-DB08BB794368}"/>
              </a:ext>
            </a:extLst>
          </p:cNvPr>
          <p:cNvSpPr txBox="1"/>
          <p:nvPr/>
        </p:nvSpPr>
        <p:spPr>
          <a:xfrm>
            <a:off x="61214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15</a:t>
            </a:r>
          </a:p>
        </p:txBody>
      </p:sp>
      <p:sp>
        <p:nvSpPr>
          <p:cNvPr id="13" name="TextBox 12">
            <a:extLst>
              <a:ext uri="{FF2B5EF4-FFF2-40B4-BE49-F238E27FC236}">
                <a16:creationId xmlns:a16="http://schemas.microsoft.com/office/drawing/2014/main" id="{0177FBFF-6D41-992A-CEA5-E6747B8851E6}"/>
              </a:ext>
            </a:extLst>
          </p:cNvPr>
          <p:cNvSpPr txBox="1"/>
          <p:nvPr/>
        </p:nvSpPr>
        <p:spPr>
          <a:xfrm>
            <a:off x="60960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saved primary candidates</a:t>
            </a:r>
          </a:p>
        </p:txBody>
      </p:sp>
      <p:sp>
        <p:nvSpPr>
          <p:cNvPr id="14" name="Rectangle: Rounded Corners 13">
            <a:extLst>
              <a:ext uri="{FF2B5EF4-FFF2-40B4-BE49-F238E27FC236}">
                <a16:creationId xmlns:a16="http://schemas.microsoft.com/office/drawing/2014/main" id="{730E4437-6F5B-2BC4-F101-C48114BEA09B}"/>
              </a:ext>
            </a:extLst>
          </p:cNvPr>
          <p:cNvSpPr/>
          <p:nvPr/>
        </p:nvSpPr>
        <p:spPr>
          <a:xfrm>
            <a:off x="8686800" y="1371600"/>
            <a:ext cx="2971800" cy="1092200"/>
          </a:xfrm>
          <a:prstGeom prst="roundRect">
            <a:avLst/>
          </a:prstGeom>
          <a:solidFill>
            <a:srgbClr val="EFEAFA"/>
          </a:solidFill>
          <a:ln w="17780">
            <a:solidFill>
              <a:srgbClr val="8D79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49A6B8D-E4C5-26DA-E6DF-DA84B8112EDB}"/>
              </a:ext>
            </a:extLst>
          </p:cNvPr>
          <p:cNvSpPr txBox="1"/>
          <p:nvPr/>
        </p:nvSpPr>
        <p:spPr>
          <a:xfrm>
            <a:off x="8839200" y="1498600"/>
            <a:ext cx="26670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140</a:t>
            </a:r>
          </a:p>
        </p:txBody>
      </p:sp>
      <p:sp>
        <p:nvSpPr>
          <p:cNvPr id="16" name="TextBox 15">
            <a:extLst>
              <a:ext uri="{FF2B5EF4-FFF2-40B4-BE49-F238E27FC236}">
                <a16:creationId xmlns:a16="http://schemas.microsoft.com/office/drawing/2014/main" id="{11E70F9F-50A1-57DF-DDF2-1B54FEDE5714}"/>
              </a:ext>
            </a:extLst>
          </p:cNvPr>
          <p:cNvSpPr txBox="1"/>
          <p:nvPr/>
        </p:nvSpPr>
        <p:spPr>
          <a:xfrm>
            <a:off x="8813800" y="2006600"/>
            <a:ext cx="27178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candidate-case observations</a:t>
            </a:r>
          </a:p>
        </p:txBody>
      </p:sp>
      <p:sp>
        <p:nvSpPr>
          <p:cNvPr id="17" name="Rectangle 16">
            <a:extLst>
              <a:ext uri="{FF2B5EF4-FFF2-40B4-BE49-F238E27FC236}">
                <a16:creationId xmlns:a16="http://schemas.microsoft.com/office/drawing/2014/main" id="{8551809D-6EE4-8EF3-79B7-909E916B4844}"/>
              </a:ext>
            </a:extLst>
          </p:cNvPr>
          <p:cNvSpPr/>
          <p:nvPr/>
        </p:nvSpPr>
        <p:spPr>
          <a:xfrm>
            <a:off x="533400" y="2819400"/>
            <a:ext cx="23495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981EFB8-F022-C89B-1BFA-0FAA265CFCFD}"/>
              </a:ext>
            </a:extLst>
          </p:cNvPr>
          <p:cNvSpPr txBox="1"/>
          <p:nvPr/>
        </p:nvSpPr>
        <p:spPr>
          <a:xfrm>
            <a:off x="596900" y="2857500"/>
            <a:ext cx="22225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Category</a:t>
            </a:r>
          </a:p>
        </p:txBody>
      </p:sp>
      <p:sp>
        <p:nvSpPr>
          <p:cNvPr id="19" name="Rectangle 18">
            <a:extLst>
              <a:ext uri="{FF2B5EF4-FFF2-40B4-BE49-F238E27FC236}">
                <a16:creationId xmlns:a16="http://schemas.microsoft.com/office/drawing/2014/main" id="{847581B3-4085-D0A0-CF4D-DE1692CD4943}"/>
              </a:ext>
            </a:extLst>
          </p:cNvPr>
          <p:cNvSpPr/>
          <p:nvPr/>
        </p:nvSpPr>
        <p:spPr>
          <a:xfrm>
            <a:off x="2882900" y="2819400"/>
            <a:ext cx="13970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E61B4DA-B642-9769-D1A1-372AE6904B4D}"/>
              </a:ext>
            </a:extLst>
          </p:cNvPr>
          <p:cNvSpPr txBox="1"/>
          <p:nvPr/>
        </p:nvSpPr>
        <p:spPr>
          <a:xfrm>
            <a:off x="2946400" y="2857500"/>
            <a:ext cx="12700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Observations</a:t>
            </a:r>
          </a:p>
        </p:txBody>
      </p:sp>
      <p:sp>
        <p:nvSpPr>
          <p:cNvPr id="21" name="Rectangle 20">
            <a:extLst>
              <a:ext uri="{FF2B5EF4-FFF2-40B4-BE49-F238E27FC236}">
                <a16:creationId xmlns:a16="http://schemas.microsoft.com/office/drawing/2014/main" id="{D43417F9-17B5-9AE7-D688-8F293F09AB31}"/>
              </a:ext>
            </a:extLst>
          </p:cNvPr>
          <p:cNvSpPr/>
          <p:nvPr/>
        </p:nvSpPr>
        <p:spPr>
          <a:xfrm>
            <a:off x="4279900" y="2819400"/>
            <a:ext cx="10160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57FEF100-E9B7-013E-FEF1-2A5B22F71A72}"/>
              </a:ext>
            </a:extLst>
          </p:cNvPr>
          <p:cNvSpPr txBox="1"/>
          <p:nvPr/>
        </p:nvSpPr>
        <p:spPr>
          <a:xfrm>
            <a:off x="4343400" y="2857500"/>
            <a:ext cx="8890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Pass</a:t>
            </a:r>
          </a:p>
        </p:txBody>
      </p:sp>
      <p:sp>
        <p:nvSpPr>
          <p:cNvPr id="23" name="Rectangle 22">
            <a:extLst>
              <a:ext uri="{FF2B5EF4-FFF2-40B4-BE49-F238E27FC236}">
                <a16:creationId xmlns:a16="http://schemas.microsoft.com/office/drawing/2014/main" id="{30754E22-6146-0D5F-0AE3-3F15494E0942}"/>
              </a:ext>
            </a:extLst>
          </p:cNvPr>
          <p:cNvSpPr/>
          <p:nvPr/>
        </p:nvSpPr>
        <p:spPr>
          <a:xfrm>
            <a:off x="5295900" y="2819400"/>
            <a:ext cx="8890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851B1D9-965A-6EA4-3B30-73BB6F6648EE}"/>
              </a:ext>
            </a:extLst>
          </p:cNvPr>
          <p:cNvSpPr txBox="1"/>
          <p:nvPr/>
        </p:nvSpPr>
        <p:spPr>
          <a:xfrm>
            <a:off x="5359400" y="2857500"/>
            <a:ext cx="7620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Fail</a:t>
            </a:r>
          </a:p>
        </p:txBody>
      </p:sp>
      <p:sp>
        <p:nvSpPr>
          <p:cNvPr id="25" name="Rectangle 24">
            <a:extLst>
              <a:ext uri="{FF2B5EF4-FFF2-40B4-BE49-F238E27FC236}">
                <a16:creationId xmlns:a16="http://schemas.microsoft.com/office/drawing/2014/main" id="{09998FB3-5D90-9CA6-A091-404B5102E753}"/>
              </a:ext>
            </a:extLst>
          </p:cNvPr>
          <p:cNvSpPr/>
          <p:nvPr/>
        </p:nvSpPr>
        <p:spPr>
          <a:xfrm>
            <a:off x="6184900" y="2819400"/>
            <a:ext cx="14605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E8DBBCAB-C36C-40A8-88D9-96438842349F}"/>
              </a:ext>
            </a:extLst>
          </p:cNvPr>
          <p:cNvSpPr txBox="1"/>
          <p:nvPr/>
        </p:nvSpPr>
        <p:spPr>
          <a:xfrm>
            <a:off x="6248400" y="2857500"/>
            <a:ext cx="13335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Inconclusive</a:t>
            </a:r>
          </a:p>
        </p:txBody>
      </p:sp>
      <p:sp>
        <p:nvSpPr>
          <p:cNvPr id="27" name="Rectangle 26">
            <a:extLst>
              <a:ext uri="{FF2B5EF4-FFF2-40B4-BE49-F238E27FC236}">
                <a16:creationId xmlns:a16="http://schemas.microsoft.com/office/drawing/2014/main" id="{43608C59-EAC1-474E-E50B-2E66A048CCCB}"/>
              </a:ext>
            </a:extLst>
          </p:cNvPr>
          <p:cNvSpPr/>
          <p:nvPr/>
        </p:nvSpPr>
        <p:spPr>
          <a:xfrm>
            <a:off x="7645400" y="2819400"/>
            <a:ext cx="28321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20C3AB69-9B80-3254-78A7-87C9D14F899C}"/>
              </a:ext>
            </a:extLst>
          </p:cNvPr>
          <p:cNvSpPr txBox="1"/>
          <p:nvPr/>
        </p:nvSpPr>
        <p:spPr>
          <a:xfrm>
            <a:off x="7708900" y="2857500"/>
            <a:ext cx="27051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Interpretation</a:t>
            </a:r>
          </a:p>
        </p:txBody>
      </p:sp>
      <p:sp>
        <p:nvSpPr>
          <p:cNvPr id="29" name="Rectangle 28">
            <a:extLst>
              <a:ext uri="{FF2B5EF4-FFF2-40B4-BE49-F238E27FC236}">
                <a16:creationId xmlns:a16="http://schemas.microsoft.com/office/drawing/2014/main" id="{38DDB0F5-4BE5-C113-D599-584E025233BB}"/>
              </a:ext>
            </a:extLst>
          </p:cNvPr>
          <p:cNvSpPr/>
          <p:nvPr/>
        </p:nvSpPr>
        <p:spPr>
          <a:xfrm>
            <a:off x="533400" y="3314700"/>
            <a:ext cx="2349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4C102499-3323-FBA6-7A3D-2807F87008AD}"/>
              </a:ext>
            </a:extLst>
          </p:cNvPr>
          <p:cNvSpPr txBox="1"/>
          <p:nvPr/>
        </p:nvSpPr>
        <p:spPr>
          <a:xfrm>
            <a:off x="596900" y="3352800"/>
            <a:ext cx="2222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Security</a:t>
            </a:r>
          </a:p>
        </p:txBody>
      </p:sp>
      <p:sp>
        <p:nvSpPr>
          <p:cNvPr id="31" name="Rectangle 30">
            <a:extLst>
              <a:ext uri="{FF2B5EF4-FFF2-40B4-BE49-F238E27FC236}">
                <a16:creationId xmlns:a16="http://schemas.microsoft.com/office/drawing/2014/main" id="{2A24890C-7600-9B00-D056-9C63432ED2E1}"/>
              </a:ext>
            </a:extLst>
          </p:cNvPr>
          <p:cNvSpPr/>
          <p:nvPr/>
        </p:nvSpPr>
        <p:spPr>
          <a:xfrm>
            <a:off x="2882900" y="3314700"/>
            <a:ext cx="1397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ABEE61E0-DF6A-B1BA-8E02-D6F75B9A3F5A}"/>
              </a:ext>
            </a:extLst>
          </p:cNvPr>
          <p:cNvSpPr txBox="1"/>
          <p:nvPr/>
        </p:nvSpPr>
        <p:spPr>
          <a:xfrm>
            <a:off x="2946400" y="3352800"/>
            <a:ext cx="1270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60</a:t>
            </a:r>
          </a:p>
        </p:txBody>
      </p:sp>
      <p:sp>
        <p:nvSpPr>
          <p:cNvPr id="33" name="Rectangle 32">
            <a:extLst>
              <a:ext uri="{FF2B5EF4-FFF2-40B4-BE49-F238E27FC236}">
                <a16:creationId xmlns:a16="http://schemas.microsoft.com/office/drawing/2014/main" id="{36651395-C437-AC8E-95E9-0C52DB39ABE5}"/>
              </a:ext>
            </a:extLst>
          </p:cNvPr>
          <p:cNvSpPr/>
          <p:nvPr/>
        </p:nvSpPr>
        <p:spPr>
          <a:xfrm>
            <a:off x="4279900" y="3314700"/>
            <a:ext cx="1016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BD1A87BE-C4C5-E056-90D1-8E3F482E5FA5}"/>
              </a:ext>
            </a:extLst>
          </p:cNvPr>
          <p:cNvSpPr txBox="1"/>
          <p:nvPr/>
        </p:nvSpPr>
        <p:spPr>
          <a:xfrm>
            <a:off x="4343400" y="3352800"/>
            <a:ext cx="889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55</a:t>
            </a:r>
          </a:p>
        </p:txBody>
      </p:sp>
      <p:sp>
        <p:nvSpPr>
          <p:cNvPr id="35" name="Rectangle 34">
            <a:extLst>
              <a:ext uri="{FF2B5EF4-FFF2-40B4-BE49-F238E27FC236}">
                <a16:creationId xmlns:a16="http://schemas.microsoft.com/office/drawing/2014/main" id="{E745B17E-5A3F-2B5E-4DFD-F59AA670B42C}"/>
              </a:ext>
            </a:extLst>
          </p:cNvPr>
          <p:cNvSpPr/>
          <p:nvPr/>
        </p:nvSpPr>
        <p:spPr>
          <a:xfrm>
            <a:off x="5295900" y="3314700"/>
            <a:ext cx="889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E0D8CF99-32FF-D7C3-21A5-F4EA0C45A54B}"/>
              </a:ext>
            </a:extLst>
          </p:cNvPr>
          <p:cNvSpPr txBox="1"/>
          <p:nvPr/>
        </p:nvSpPr>
        <p:spPr>
          <a:xfrm>
            <a:off x="5359400" y="33528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0</a:t>
            </a:r>
          </a:p>
        </p:txBody>
      </p:sp>
      <p:sp>
        <p:nvSpPr>
          <p:cNvPr id="37" name="Rectangle 36">
            <a:extLst>
              <a:ext uri="{FF2B5EF4-FFF2-40B4-BE49-F238E27FC236}">
                <a16:creationId xmlns:a16="http://schemas.microsoft.com/office/drawing/2014/main" id="{350D615C-172A-859E-8449-F55DB225E043}"/>
              </a:ext>
            </a:extLst>
          </p:cNvPr>
          <p:cNvSpPr/>
          <p:nvPr/>
        </p:nvSpPr>
        <p:spPr>
          <a:xfrm>
            <a:off x="6184900" y="3314700"/>
            <a:ext cx="1460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A8F68D84-5565-726F-DCEA-1F215C4398C7}"/>
              </a:ext>
            </a:extLst>
          </p:cNvPr>
          <p:cNvSpPr txBox="1"/>
          <p:nvPr/>
        </p:nvSpPr>
        <p:spPr>
          <a:xfrm>
            <a:off x="6248400" y="3352800"/>
            <a:ext cx="1333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39" name="Rectangle 38">
            <a:extLst>
              <a:ext uri="{FF2B5EF4-FFF2-40B4-BE49-F238E27FC236}">
                <a16:creationId xmlns:a16="http://schemas.microsoft.com/office/drawing/2014/main" id="{FC0008D3-55CF-1E25-C197-993212808CE6}"/>
              </a:ext>
            </a:extLst>
          </p:cNvPr>
          <p:cNvSpPr/>
          <p:nvPr/>
        </p:nvSpPr>
        <p:spPr>
          <a:xfrm>
            <a:off x="7645400" y="3314700"/>
            <a:ext cx="28321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EF5E3D4F-0B45-1CFE-8AAC-3B4395776ADA}"/>
              </a:ext>
            </a:extLst>
          </p:cNvPr>
          <p:cNvSpPr txBox="1"/>
          <p:nvPr/>
        </p:nvSpPr>
        <p:spPr>
          <a:xfrm>
            <a:off x="7708900" y="3352800"/>
            <a:ext cx="27051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Symlink unavailable</a:t>
            </a:r>
          </a:p>
        </p:txBody>
      </p:sp>
      <p:sp>
        <p:nvSpPr>
          <p:cNvPr id="41" name="Rectangle 40">
            <a:extLst>
              <a:ext uri="{FF2B5EF4-FFF2-40B4-BE49-F238E27FC236}">
                <a16:creationId xmlns:a16="http://schemas.microsoft.com/office/drawing/2014/main" id="{BCC48D92-D740-3628-D4A4-0F3D7DEB0FFB}"/>
              </a:ext>
            </a:extLst>
          </p:cNvPr>
          <p:cNvSpPr/>
          <p:nvPr/>
        </p:nvSpPr>
        <p:spPr>
          <a:xfrm>
            <a:off x="533400" y="3810000"/>
            <a:ext cx="2349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AAB5FF75-6B06-4B7C-AD0F-6C4AAFE55373}"/>
              </a:ext>
            </a:extLst>
          </p:cNvPr>
          <p:cNvSpPr txBox="1"/>
          <p:nvPr/>
        </p:nvSpPr>
        <p:spPr>
          <a:xfrm>
            <a:off x="596900" y="3848100"/>
            <a:ext cx="2222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Behavioral parity</a:t>
            </a:r>
          </a:p>
        </p:txBody>
      </p:sp>
      <p:sp>
        <p:nvSpPr>
          <p:cNvPr id="43" name="Rectangle 42">
            <a:extLst>
              <a:ext uri="{FF2B5EF4-FFF2-40B4-BE49-F238E27FC236}">
                <a16:creationId xmlns:a16="http://schemas.microsoft.com/office/drawing/2014/main" id="{97D8D5AC-42F0-826A-D6E3-FE0900308186}"/>
              </a:ext>
            </a:extLst>
          </p:cNvPr>
          <p:cNvSpPr/>
          <p:nvPr/>
        </p:nvSpPr>
        <p:spPr>
          <a:xfrm>
            <a:off x="2882900" y="3810000"/>
            <a:ext cx="1397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85E31261-B1D6-F985-0D00-6AD001E48B0D}"/>
              </a:ext>
            </a:extLst>
          </p:cNvPr>
          <p:cNvSpPr txBox="1"/>
          <p:nvPr/>
        </p:nvSpPr>
        <p:spPr>
          <a:xfrm>
            <a:off x="2946400" y="3848100"/>
            <a:ext cx="1270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45</a:t>
            </a:r>
          </a:p>
        </p:txBody>
      </p:sp>
      <p:sp>
        <p:nvSpPr>
          <p:cNvPr id="45" name="Rectangle 44">
            <a:extLst>
              <a:ext uri="{FF2B5EF4-FFF2-40B4-BE49-F238E27FC236}">
                <a16:creationId xmlns:a16="http://schemas.microsoft.com/office/drawing/2014/main" id="{B75C0BBD-3410-8B59-AB08-6E5A9CCC2A91}"/>
              </a:ext>
            </a:extLst>
          </p:cNvPr>
          <p:cNvSpPr/>
          <p:nvPr/>
        </p:nvSpPr>
        <p:spPr>
          <a:xfrm>
            <a:off x="4279900" y="3810000"/>
            <a:ext cx="1016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C3B50832-584D-ED45-EEBB-9B9C02E56E27}"/>
              </a:ext>
            </a:extLst>
          </p:cNvPr>
          <p:cNvSpPr txBox="1"/>
          <p:nvPr/>
        </p:nvSpPr>
        <p:spPr>
          <a:xfrm>
            <a:off x="4343400" y="3848100"/>
            <a:ext cx="889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40</a:t>
            </a:r>
          </a:p>
        </p:txBody>
      </p:sp>
      <p:sp>
        <p:nvSpPr>
          <p:cNvPr id="47" name="Rectangle 46">
            <a:extLst>
              <a:ext uri="{FF2B5EF4-FFF2-40B4-BE49-F238E27FC236}">
                <a16:creationId xmlns:a16="http://schemas.microsoft.com/office/drawing/2014/main" id="{D10B71AB-BFA8-F085-F128-02FA4E1AAADB}"/>
              </a:ext>
            </a:extLst>
          </p:cNvPr>
          <p:cNvSpPr/>
          <p:nvPr/>
        </p:nvSpPr>
        <p:spPr>
          <a:xfrm>
            <a:off x="5295900" y="3810000"/>
            <a:ext cx="889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5D369A58-791E-812F-5179-EA89326844AF}"/>
              </a:ext>
            </a:extLst>
          </p:cNvPr>
          <p:cNvSpPr txBox="1"/>
          <p:nvPr/>
        </p:nvSpPr>
        <p:spPr>
          <a:xfrm>
            <a:off x="5359400" y="38481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49" name="Rectangle 48">
            <a:extLst>
              <a:ext uri="{FF2B5EF4-FFF2-40B4-BE49-F238E27FC236}">
                <a16:creationId xmlns:a16="http://schemas.microsoft.com/office/drawing/2014/main" id="{2A37AA93-98F4-A41B-6FE4-1353DC605F58}"/>
              </a:ext>
            </a:extLst>
          </p:cNvPr>
          <p:cNvSpPr/>
          <p:nvPr/>
        </p:nvSpPr>
        <p:spPr>
          <a:xfrm>
            <a:off x="6184900" y="3810000"/>
            <a:ext cx="1460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4905D2D1-25CF-F126-10E3-B060D6747686}"/>
              </a:ext>
            </a:extLst>
          </p:cNvPr>
          <p:cNvSpPr txBox="1"/>
          <p:nvPr/>
        </p:nvSpPr>
        <p:spPr>
          <a:xfrm>
            <a:off x="6248400" y="3848100"/>
            <a:ext cx="1333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0</a:t>
            </a:r>
          </a:p>
        </p:txBody>
      </p:sp>
      <p:sp>
        <p:nvSpPr>
          <p:cNvPr id="51" name="Rectangle 50">
            <a:extLst>
              <a:ext uri="{FF2B5EF4-FFF2-40B4-BE49-F238E27FC236}">
                <a16:creationId xmlns:a16="http://schemas.microsoft.com/office/drawing/2014/main" id="{016595DB-866E-BBEE-17DF-81B15DBFA211}"/>
              </a:ext>
            </a:extLst>
          </p:cNvPr>
          <p:cNvSpPr/>
          <p:nvPr/>
        </p:nvSpPr>
        <p:spPr>
          <a:xfrm>
            <a:off x="7645400" y="3810000"/>
            <a:ext cx="28321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C9ADE2F2-F7B4-97D3-92C2-1FF24210EA7A}"/>
              </a:ext>
            </a:extLst>
          </p:cNvPr>
          <p:cNvSpPr txBox="1"/>
          <p:nvPr/>
        </p:nvSpPr>
        <p:spPr>
          <a:xfrm>
            <a:off x="7708900" y="3848100"/>
            <a:ext cx="27051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Observable changes</a:t>
            </a:r>
          </a:p>
        </p:txBody>
      </p:sp>
      <p:sp>
        <p:nvSpPr>
          <p:cNvPr id="53" name="Rectangle 52">
            <a:extLst>
              <a:ext uri="{FF2B5EF4-FFF2-40B4-BE49-F238E27FC236}">
                <a16:creationId xmlns:a16="http://schemas.microsoft.com/office/drawing/2014/main" id="{7AB36B25-A641-B436-449C-AA228A2DEF7B}"/>
              </a:ext>
            </a:extLst>
          </p:cNvPr>
          <p:cNvSpPr/>
          <p:nvPr/>
        </p:nvSpPr>
        <p:spPr>
          <a:xfrm>
            <a:off x="533400" y="4305300"/>
            <a:ext cx="2349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60B754A3-31CD-0A9A-E059-2ECBC0F47F50}"/>
              </a:ext>
            </a:extLst>
          </p:cNvPr>
          <p:cNvSpPr txBox="1"/>
          <p:nvPr/>
        </p:nvSpPr>
        <p:spPr>
          <a:xfrm>
            <a:off x="596900" y="4343400"/>
            <a:ext cx="2222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Robustness</a:t>
            </a:r>
          </a:p>
        </p:txBody>
      </p:sp>
      <p:sp>
        <p:nvSpPr>
          <p:cNvPr id="55" name="Rectangle 54">
            <a:extLst>
              <a:ext uri="{FF2B5EF4-FFF2-40B4-BE49-F238E27FC236}">
                <a16:creationId xmlns:a16="http://schemas.microsoft.com/office/drawing/2014/main" id="{F50B3CC3-4D51-8D00-144B-9A07BEC563BC}"/>
              </a:ext>
            </a:extLst>
          </p:cNvPr>
          <p:cNvSpPr/>
          <p:nvPr/>
        </p:nvSpPr>
        <p:spPr>
          <a:xfrm>
            <a:off x="2882900" y="4305300"/>
            <a:ext cx="1397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7D52083F-C793-69B6-6CEF-7B3B1B51849F}"/>
              </a:ext>
            </a:extLst>
          </p:cNvPr>
          <p:cNvSpPr txBox="1"/>
          <p:nvPr/>
        </p:nvSpPr>
        <p:spPr>
          <a:xfrm>
            <a:off x="2946400" y="4343400"/>
            <a:ext cx="1270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35</a:t>
            </a:r>
          </a:p>
        </p:txBody>
      </p:sp>
      <p:sp>
        <p:nvSpPr>
          <p:cNvPr id="57" name="Rectangle 56">
            <a:extLst>
              <a:ext uri="{FF2B5EF4-FFF2-40B4-BE49-F238E27FC236}">
                <a16:creationId xmlns:a16="http://schemas.microsoft.com/office/drawing/2014/main" id="{09B0683C-7423-74A0-69BF-660D79F7353F}"/>
              </a:ext>
            </a:extLst>
          </p:cNvPr>
          <p:cNvSpPr/>
          <p:nvPr/>
        </p:nvSpPr>
        <p:spPr>
          <a:xfrm>
            <a:off x="4279900" y="4305300"/>
            <a:ext cx="1016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D8BE29F1-72F3-E62F-36CE-6AC6576D723B}"/>
              </a:ext>
            </a:extLst>
          </p:cNvPr>
          <p:cNvSpPr txBox="1"/>
          <p:nvPr/>
        </p:nvSpPr>
        <p:spPr>
          <a:xfrm>
            <a:off x="4343400" y="4343400"/>
            <a:ext cx="889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25</a:t>
            </a:r>
          </a:p>
        </p:txBody>
      </p:sp>
      <p:sp>
        <p:nvSpPr>
          <p:cNvPr id="59" name="Rectangle 58">
            <a:extLst>
              <a:ext uri="{FF2B5EF4-FFF2-40B4-BE49-F238E27FC236}">
                <a16:creationId xmlns:a16="http://schemas.microsoft.com/office/drawing/2014/main" id="{DBDEC368-37A7-E51C-124D-947AD35CF9A9}"/>
              </a:ext>
            </a:extLst>
          </p:cNvPr>
          <p:cNvSpPr/>
          <p:nvPr/>
        </p:nvSpPr>
        <p:spPr>
          <a:xfrm>
            <a:off x="5295900" y="4305300"/>
            <a:ext cx="889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7AF6417D-9ADC-5F3D-DD0B-9BEFD39D70A2}"/>
              </a:ext>
            </a:extLst>
          </p:cNvPr>
          <p:cNvSpPr txBox="1"/>
          <p:nvPr/>
        </p:nvSpPr>
        <p:spPr>
          <a:xfrm>
            <a:off x="5359400" y="43434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10</a:t>
            </a:r>
          </a:p>
        </p:txBody>
      </p:sp>
      <p:sp>
        <p:nvSpPr>
          <p:cNvPr id="61" name="Rectangle 60">
            <a:extLst>
              <a:ext uri="{FF2B5EF4-FFF2-40B4-BE49-F238E27FC236}">
                <a16:creationId xmlns:a16="http://schemas.microsoft.com/office/drawing/2014/main" id="{E98D6013-DE47-C2BE-6340-6165BC1F5F78}"/>
              </a:ext>
            </a:extLst>
          </p:cNvPr>
          <p:cNvSpPr/>
          <p:nvPr/>
        </p:nvSpPr>
        <p:spPr>
          <a:xfrm>
            <a:off x="6184900" y="4305300"/>
            <a:ext cx="1460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19FBBDF6-5D66-074F-0F87-F69888EBEF28}"/>
              </a:ext>
            </a:extLst>
          </p:cNvPr>
          <p:cNvSpPr txBox="1"/>
          <p:nvPr/>
        </p:nvSpPr>
        <p:spPr>
          <a:xfrm>
            <a:off x="6248400" y="4343400"/>
            <a:ext cx="1333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0</a:t>
            </a:r>
          </a:p>
        </p:txBody>
      </p:sp>
      <p:sp>
        <p:nvSpPr>
          <p:cNvPr id="63" name="Rectangle 62">
            <a:extLst>
              <a:ext uri="{FF2B5EF4-FFF2-40B4-BE49-F238E27FC236}">
                <a16:creationId xmlns:a16="http://schemas.microsoft.com/office/drawing/2014/main" id="{9EF88659-5939-3975-87B7-DF5532D28DE0}"/>
              </a:ext>
            </a:extLst>
          </p:cNvPr>
          <p:cNvSpPr/>
          <p:nvPr/>
        </p:nvSpPr>
        <p:spPr>
          <a:xfrm>
            <a:off x="7645400" y="4305300"/>
            <a:ext cx="28321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95CCBA8B-28E2-E04D-B169-D9413A4F0A9F}"/>
              </a:ext>
            </a:extLst>
          </p:cNvPr>
          <p:cNvSpPr txBox="1"/>
          <p:nvPr/>
        </p:nvSpPr>
        <p:spPr>
          <a:xfrm>
            <a:off x="7708900" y="4343400"/>
            <a:ext cx="27051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New input contracts</a:t>
            </a:r>
          </a:p>
        </p:txBody>
      </p:sp>
      <p:sp>
        <p:nvSpPr>
          <p:cNvPr id="65" name="Rectangle 64">
            <a:extLst>
              <a:ext uri="{FF2B5EF4-FFF2-40B4-BE49-F238E27FC236}">
                <a16:creationId xmlns:a16="http://schemas.microsoft.com/office/drawing/2014/main" id="{AE97915B-2F5A-2B3E-F3E5-72E0D3B68648}"/>
              </a:ext>
            </a:extLst>
          </p:cNvPr>
          <p:cNvSpPr/>
          <p:nvPr/>
        </p:nvSpPr>
        <p:spPr>
          <a:xfrm>
            <a:off x="533400" y="4800600"/>
            <a:ext cx="2349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A29CE90C-8F1D-4A03-2644-DC04E10338E6}"/>
              </a:ext>
            </a:extLst>
          </p:cNvPr>
          <p:cNvSpPr txBox="1"/>
          <p:nvPr/>
        </p:nvSpPr>
        <p:spPr>
          <a:xfrm>
            <a:off x="596900" y="4838700"/>
            <a:ext cx="2222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Total</a:t>
            </a:r>
          </a:p>
        </p:txBody>
      </p:sp>
      <p:sp>
        <p:nvSpPr>
          <p:cNvPr id="67" name="Rectangle 66">
            <a:extLst>
              <a:ext uri="{FF2B5EF4-FFF2-40B4-BE49-F238E27FC236}">
                <a16:creationId xmlns:a16="http://schemas.microsoft.com/office/drawing/2014/main" id="{5FC838CE-F2D1-1FD4-8E7F-B68BBA9D7C91}"/>
              </a:ext>
            </a:extLst>
          </p:cNvPr>
          <p:cNvSpPr/>
          <p:nvPr/>
        </p:nvSpPr>
        <p:spPr>
          <a:xfrm>
            <a:off x="2882900" y="4800600"/>
            <a:ext cx="1397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0801CE15-B36B-36AB-14DC-701736A8C732}"/>
              </a:ext>
            </a:extLst>
          </p:cNvPr>
          <p:cNvSpPr txBox="1"/>
          <p:nvPr/>
        </p:nvSpPr>
        <p:spPr>
          <a:xfrm>
            <a:off x="2946400" y="4838700"/>
            <a:ext cx="1270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140</a:t>
            </a:r>
          </a:p>
        </p:txBody>
      </p:sp>
      <p:sp>
        <p:nvSpPr>
          <p:cNvPr id="69" name="Rectangle 68">
            <a:extLst>
              <a:ext uri="{FF2B5EF4-FFF2-40B4-BE49-F238E27FC236}">
                <a16:creationId xmlns:a16="http://schemas.microsoft.com/office/drawing/2014/main" id="{8186558C-C8E7-701D-8D48-7B855369699D}"/>
              </a:ext>
            </a:extLst>
          </p:cNvPr>
          <p:cNvSpPr/>
          <p:nvPr/>
        </p:nvSpPr>
        <p:spPr>
          <a:xfrm>
            <a:off x="4279900" y="4800600"/>
            <a:ext cx="1016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69">
            <a:extLst>
              <a:ext uri="{FF2B5EF4-FFF2-40B4-BE49-F238E27FC236}">
                <a16:creationId xmlns:a16="http://schemas.microsoft.com/office/drawing/2014/main" id="{04B35578-8B9E-41AA-8062-08A29E711660}"/>
              </a:ext>
            </a:extLst>
          </p:cNvPr>
          <p:cNvSpPr txBox="1"/>
          <p:nvPr/>
        </p:nvSpPr>
        <p:spPr>
          <a:xfrm>
            <a:off x="4343400" y="4838700"/>
            <a:ext cx="889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120</a:t>
            </a:r>
          </a:p>
        </p:txBody>
      </p:sp>
      <p:sp>
        <p:nvSpPr>
          <p:cNvPr id="71" name="Rectangle 70">
            <a:extLst>
              <a:ext uri="{FF2B5EF4-FFF2-40B4-BE49-F238E27FC236}">
                <a16:creationId xmlns:a16="http://schemas.microsoft.com/office/drawing/2014/main" id="{C138B1E2-E9DC-CCF8-8D41-CA7625628C16}"/>
              </a:ext>
            </a:extLst>
          </p:cNvPr>
          <p:cNvSpPr/>
          <p:nvPr/>
        </p:nvSpPr>
        <p:spPr>
          <a:xfrm>
            <a:off x="5295900" y="4800600"/>
            <a:ext cx="889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7DC06EF5-6377-F0B6-730C-F9CCAC62AC9A}"/>
              </a:ext>
            </a:extLst>
          </p:cNvPr>
          <p:cNvSpPr txBox="1"/>
          <p:nvPr/>
        </p:nvSpPr>
        <p:spPr>
          <a:xfrm>
            <a:off x="5359400" y="48387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15</a:t>
            </a:r>
          </a:p>
        </p:txBody>
      </p:sp>
      <p:sp>
        <p:nvSpPr>
          <p:cNvPr id="73" name="Rectangle 72">
            <a:extLst>
              <a:ext uri="{FF2B5EF4-FFF2-40B4-BE49-F238E27FC236}">
                <a16:creationId xmlns:a16="http://schemas.microsoft.com/office/drawing/2014/main" id="{77C9D5A4-034B-E55E-91E1-1A8F6D03B3F2}"/>
              </a:ext>
            </a:extLst>
          </p:cNvPr>
          <p:cNvSpPr/>
          <p:nvPr/>
        </p:nvSpPr>
        <p:spPr>
          <a:xfrm>
            <a:off x="6184900" y="4800600"/>
            <a:ext cx="1460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16655001-AB89-3C4F-23D2-020BDE2C721A}"/>
              </a:ext>
            </a:extLst>
          </p:cNvPr>
          <p:cNvSpPr txBox="1"/>
          <p:nvPr/>
        </p:nvSpPr>
        <p:spPr>
          <a:xfrm>
            <a:off x="6248400" y="4838700"/>
            <a:ext cx="1333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75" name="Rectangle 74">
            <a:extLst>
              <a:ext uri="{FF2B5EF4-FFF2-40B4-BE49-F238E27FC236}">
                <a16:creationId xmlns:a16="http://schemas.microsoft.com/office/drawing/2014/main" id="{08894D1C-A42A-4E57-E932-01E5CF5B67F8}"/>
              </a:ext>
            </a:extLst>
          </p:cNvPr>
          <p:cNvSpPr/>
          <p:nvPr/>
        </p:nvSpPr>
        <p:spPr>
          <a:xfrm>
            <a:off x="7645400" y="4800600"/>
            <a:ext cx="28321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5CD365F2-A74E-FFA0-EFC9-47720F644059}"/>
              </a:ext>
            </a:extLst>
          </p:cNvPr>
          <p:cNvSpPr txBox="1"/>
          <p:nvPr/>
        </p:nvSpPr>
        <p:spPr>
          <a:xfrm>
            <a:off x="7708900" y="4838700"/>
            <a:ext cx="27051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Mixed categories</a:t>
            </a:r>
          </a:p>
        </p:txBody>
      </p:sp>
      <p:sp>
        <p:nvSpPr>
          <p:cNvPr id="77" name="TextBox 76">
            <a:extLst>
              <a:ext uri="{FF2B5EF4-FFF2-40B4-BE49-F238E27FC236}">
                <a16:creationId xmlns:a16="http://schemas.microsoft.com/office/drawing/2014/main" id="{A10DE64E-376F-91C8-015F-7D10E7207EC8}"/>
              </a:ext>
            </a:extLst>
          </p:cNvPr>
          <p:cNvSpPr txBox="1"/>
          <p:nvPr/>
        </p:nvSpPr>
        <p:spPr>
          <a:xfrm>
            <a:off x="609600" y="5486400"/>
            <a:ext cx="10896600" cy="276999"/>
          </a:xfrm>
          <a:prstGeom prst="rect">
            <a:avLst/>
          </a:prstGeom>
          <a:noFill/>
        </p:spPr>
        <p:txBody>
          <a:bodyPr vert="horz" wrap="square" lIns="0" tIns="0" rIns="0" bIns="0" rtlCol="0" anchor="t">
            <a:noAutofit/>
          </a:bodyPr>
          <a:lstStyle/>
          <a:p>
            <a:pPr algn="ctr"/>
            <a:r>
              <a:rPr lang="en-US" sz="1200">
                <a:solidFill>
                  <a:srgbClr val="526C8E"/>
                </a:solidFill>
                <a:latin typeface="Aptos" panose="020B0004020202020204" pitchFamily="34" charset="0"/>
              </a:rPr>
              <a:t>Denominators: 12 security x 5 = 60  |  9 parity x 5 = 45  |  7 robustness x 5 = 35</a:t>
            </a:r>
          </a:p>
        </p:txBody>
      </p:sp>
      <p:sp>
        <p:nvSpPr>
          <p:cNvPr id="78" name="Rectangle: Rounded Corners 77">
            <a:extLst>
              <a:ext uri="{FF2B5EF4-FFF2-40B4-BE49-F238E27FC236}">
                <a16:creationId xmlns:a16="http://schemas.microsoft.com/office/drawing/2014/main" id="{457CA913-7728-013E-FD52-F27698E2F018}"/>
              </a:ext>
            </a:extLst>
          </p:cNvPr>
          <p:cNvSpPr/>
          <p:nvPr/>
        </p:nvSpPr>
        <p:spPr>
          <a:xfrm>
            <a:off x="2667000" y="5867400"/>
            <a:ext cx="6858000" cy="482600"/>
          </a:xfrm>
          <a:prstGeom prst="roundRect">
            <a:avLst/>
          </a:prstGeom>
          <a:solidFill>
            <a:srgbClr val="FBECEA"/>
          </a:solidFill>
          <a:ln w="15240">
            <a:solidFill>
              <a:srgbClr val="B35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a:extLst>
              <a:ext uri="{FF2B5EF4-FFF2-40B4-BE49-F238E27FC236}">
                <a16:creationId xmlns:a16="http://schemas.microsoft.com/office/drawing/2014/main" id="{84D569E4-C70C-7C7C-8975-FA823D228DBD}"/>
              </a:ext>
            </a:extLst>
          </p:cNvPr>
          <p:cNvSpPr txBox="1"/>
          <p:nvPr/>
        </p:nvSpPr>
        <p:spPr>
          <a:xfrm>
            <a:off x="2870200" y="5956300"/>
            <a:ext cx="6451600" cy="276999"/>
          </a:xfrm>
          <a:prstGeom prst="rect">
            <a:avLst/>
          </a:prstGeom>
          <a:noFill/>
        </p:spPr>
        <p:txBody>
          <a:bodyPr vert="horz" wrap="square" lIns="0" tIns="0" rIns="0" bIns="0" rtlCol="0" anchor="ctr">
            <a:noAutofit/>
          </a:bodyPr>
          <a:lstStyle/>
          <a:p>
            <a:pPr algn="ctr"/>
            <a:r>
              <a:rPr lang="en-US" sz="1350" b="1">
                <a:solidFill>
                  <a:srgbClr val="B35D5B"/>
                </a:solidFill>
                <a:latin typeface="Aptos" panose="020B0004020202020204" pitchFamily="34" charset="0"/>
              </a:rPr>
              <a:t>Do not pool these into one "security success rate."</a:t>
            </a:r>
          </a:p>
        </p:txBody>
      </p:sp>
      <p:sp>
        <p:nvSpPr>
          <p:cNvPr id="80" name="TextBox 79">
            <a:extLst>
              <a:ext uri="{FF2B5EF4-FFF2-40B4-BE49-F238E27FC236}">
                <a16:creationId xmlns:a16="http://schemas.microsoft.com/office/drawing/2014/main" id="{7C4D6E7A-BF7E-9F1A-3CDF-AFD69D820641}"/>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81" name="TextBox 80">
            <a:extLst>
              <a:ext uri="{FF2B5EF4-FFF2-40B4-BE49-F238E27FC236}">
                <a16:creationId xmlns:a16="http://schemas.microsoft.com/office/drawing/2014/main" id="{643F9578-A1D8-7745-A32E-A50C8511D829}"/>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5</a:t>
            </a:r>
          </a:p>
        </p:txBody>
      </p:sp>
    </p:spTree>
    <p:extLst>
      <p:ext uri="{BB962C8B-B14F-4D97-AF65-F5344CB8AC3E}">
        <p14:creationId xmlns:p14="http://schemas.microsoft.com/office/powerpoint/2010/main" val="3717774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93ADF2-8CF5-76C7-E3A0-9AE190667DB1}"/>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4. Evidence demo: follow one candidate chain</a:t>
            </a:r>
          </a:p>
        </p:txBody>
      </p:sp>
      <p:sp>
        <p:nvSpPr>
          <p:cNvPr id="3" name="TextBox 2">
            <a:extLst>
              <a:ext uri="{FF2B5EF4-FFF2-40B4-BE49-F238E27FC236}">
                <a16:creationId xmlns:a16="http://schemas.microsoft.com/office/drawing/2014/main" id="{A5EDD953-AECA-BC77-ACEE-3AD13427403A}"/>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Open the public evidence first; keep raw artifacts as technical backup</a:t>
            </a:r>
          </a:p>
        </p:txBody>
      </p:sp>
      <p:cxnSp>
        <p:nvCxnSpPr>
          <p:cNvPr id="4" name="Straight Connector 3">
            <a:extLst>
              <a:ext uri="{FF2B5EF4-FFF2-40B4-BE49-F238E27FC236}">
                <a16:creationId xmlns:a16="http://schemas.microsoft.com/office/drawing/2014/main" id="{3199D1AC-18E3-DFBF-BCA5-7B503EF52B9C}"/>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Oval 4">
            <a:extLst>
              <a:ext uri="{FF2B5EF4-FFF2-40B4-BE49-F238E27FC236}">
                <a16:creationId xmlns:a16="http://schemas.microsoft.com/office/drawing/2014/main" id="{FA368071-AB53-4E75-F402-D34ADDC8F09D}"/>
              </a:ext>
            </a:extLst>
          </p:cNvPr>
          <p:cNvSpPr/>
          <p:nvPr/>
        </p:nvSpPr>
        <p:spPr>
          <a:xfrm>
            <a:off x="609600" y="1422400"/>
            <a:ext cx="431800" cy="431800"/>
          </a:xfrm>
          <a:prstGeom prst="ellipse">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1BD396A-857E-0F12-1F38-3D37391A3FD9}"/>
              </a:ext>
            </a:extLst>
          </p:cNvPr>
          <p:cNvSpPr txBox="1"/>
          <p:nvPr/>
        </p:nvSpPr>
        <p:spPr>
          <a:xfrm>
            <a:off x="609600" y="1435100"/>
            <a:ext cx="431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1</a:t>
            </a:r>
          </a:p>
        </p:txBody>
      </p:sp>
      <p:sp>
        <p:nvSpPr>
          <p:cNvPr id="7" name="TextBox 6">
            <a:extLst>
              <a:ext uri="{FF2B5EF4-FFF2-40B4-BE49-F238E27FC236}">
                <a16:creationId xmlns:a16="http://schemas.microsoft.com/office/drawing/2014/main" id="{E37C5516-C10E-1120-012A-1EE83A095767}"/>
              </a:ext>
            </a:extLst>
          </p:cNvPr>
          <p:cNvSpPr txBox="1"/>
          <p:nvPr/>
        </p:nvSpPr>
        <p:spPr>
          <a:xfrm>
            <a:off x="1219200" y="1397000"/>
            <a:ext cx="2286000" cy="276999"/>
          </a:xfrm>
          <a:prstGeom prst="rect">
            <a:avLst/>
          </a:prstGeom>
          <a:noFill/>
        </p:spPr>
        <p:txBody>
          <a:bodyPr vert="horz" wrap="square" lIns="0" tIns="0" rIns="0" bIns="0" rtlCol="0" anchor="t">
            <a:noAutofit/>
          </a:bodyPr>
          <a:lstStyle/>
          <a:p>
            <a:r>
              <a:rPr lang="en-US" sz="1500" b="1">
                <a:solidFill>
                  <a:srgbClr val="0B2447"/>
                </a:solidFill>
                <a:latin typeface="Aptos" panose="020B0004020202020204" pitchFamily="34" charset="0"/>
              </a:rPr>
              <a:t>Frozen plan</a:t>
            </a:r>
          </a:p>
        </p:txBody>
      </p:sp>
      <p:sp>
        <p:nvSpPr>
          <p:cNvPr id="8" name="TextBox 7">
            <a:extLst>
              <a:ext uri="{FF2B5EF4-FFF2-40B4-BE49-F238E27FC236}">
                <a16:creationId xmlns:a16="http://schemas.microsoft.com/office/drawing/2014/main" id="{83EB2F21-8B87-B7E6-495B-329A737F57B9}"/>
              </a:ext>
            </a:extLst>
          </p:cNvPr>
          <p:cNvSpPr txBox="1"/>
          <p:nvPr/>
        </p:nvSpPr>
        <p:spPr>
          <a:xfrm>
            <a:off x="3505200" y="1397000"/>
            <a:ext cx="4699000" cy="276999"/>
          </a:xfrm>
          <a:prstGeom prst="rect">
            <a:avLst/>
          </a:prstGeom>
          <a:noFill/>
        </p:spPr>
        <p:txBody>
          <a:bodyPr vert="horz" wrap="square" lIns="0" tIns="0" rIns="0" bIns="0" rtlCol="0" anchor="t">
            <a:noAutofit/>
          </a:bodyPr>
          <a:lstStyle/>
          <a:p>
            <a:r>
              <a:rPr lang="en-US" sz="1250">
                <a:solidFill>
                  <a:srgbClr val="102A4D"/>
                </a:solidFill>
                <a:latin typeface="Aptos" panose="020B0004020202020204" pitchFamily="34" charset="0"/>
              </a:rPr>
              <a:t>Five calls per CWE; all 15 completed</a:t>
            </a:r>
          </a:p>
        </p:txBody>
      </p:sp>
      <p:cxnSp>
        <p:nvCxnSpPr>
          <p:cNvPr id="9" name="Straight Connector 8">
            <a:extLst>
              <a:ext uri="{FF2B5EF4-FFF2-40B4-BE49-F238E27FC236}">
                <a16:creationId xmlns:a16="http://schemas.microsoft.com/office/drawing/2014/main" id="{DE546671-1076-6ED7-0C8D-589D59CBF7BB}"/>
              </a:ext>
            </a:extLst>
          </p:cNvPr>
          <p:cNvCxnSpPr/>
          <p:nvPr/>
        </p:nvCxnSpPr>
        <p:spPr>
          <a:xfrm>
            <a:off x="825500" y="1866900"/>
            <a:ext cx="0" cy="241300"/>
          </a:xfrm>
          <a:prstGeom prst="line">
            <a:avLst/>
          </a:prstGeom>
          <a:ln w="25400">
            <a:solidFill>
              <a:srgbClr val="B9CBE1"/>
            </a:solidFill>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D3739F29-10EB-7D82-1855-80B4AF56A8C9}"/>
              </a:ext>
            </a:extLst>
          </p:cNvPr>
          <p:cNvSpPr/>
          <p:nvPr/>
        </p:nvSpPr>
        <p:spPr>
          <a:xfrm>
            <a:off x="609600" y="2286000"/>
            <a:ext cx="431800" cy="431800"/>
          </a:xfrm>
          <a:prstGeom prst="ellipse">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A483C38-8D10-4295-1F77-A76150A6DD54}"/>
              </a:ext>
            </a:extLst>
          </p:cNvPr>
          <p:cNvSpPr txBox="1"/>
          <p:nvPr/>
        </p:nvSpPr>
        <p:spPr>
          <a:xfrm>
            <a:off x="609600" y="2298700"/>
            <a:ext cx="431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2</a:t>
            </a:r>
          </a:p>
        </p:txBody>
      </p:sp>
      <p:sp>
        <p:nvSpPr>
          <p:cNvPr id="12" name="TextBox 11">
            <a:extLst>
              <a:ext uri="{FF2B5EF4-FFF2-40B4-BE49-F238E27FC236}">
                <a16:creationId xmlns:a16="http://schemas.microsoft.com/office/drawing/2014/main" id="{DD8DA1AA-C3AE-A9BD-CA9B-8B5BC966F788}"/>
              </a:ext>
            </a:extLst>
          </p:cNvPr>
          <p:cNvSpPr txBox="1"/>
          <p:nvPr/>
        </p:nvSpPr>
        <p:spPr>
          <a:xfrm>
            <a:off x="1219200" y="2260600"/>
            <a:ext cx="2286000" cy="276999"/>
          </a:xfrm>
          <a:prstGeom prst="rect">
            <a:avLst/>
          </a:prstGeom>
          <a:noFill/>
        </p:spPr>
        <p:txBody>
          <a:bodyPr vert="horz" wrap="square" lIns="0" tIns="0" rIns="0" bIns="0" rtlCol="0" anchor="t">
            <a:noAutofit/>
          </a:bodyPr>
          <a:lstStyle/>
          <a:p>
            <a:r>
              <a:rPr lang="en-US" sz="1500" b="1">
                <a:solidFill>
                  <a:srgbClr val="0B2447"/>
                </a:solidFill>
                <a:latin typeface="Aptos" panose="020B0004020202020204" pitchFamily="34" charset="0"/>
              </a:rPr>
              <a:t>Primary result</a:t>
            </a:r>
          </a:p>
        </p:txBody>
      </p:sp>
      <p:sp>
        <p:nvSpPr>
          <p:cNvPr id="13" name="TextBox 12">
            <a:extLst>
              <a:ext uri="{FF2B5EF4-FFF2-40B4-BE49-F238E27FC236}">
                <a16:creationId xmlns:a16="http://schemas.microsoft.com/office/drawing/2014/main" id="{9B2EFF73-CD9A-3908-D469-35EFA0005F5A}"/>
              </a:ext>
            </a:extLst>
          </p:cNvPr>
          <p:cNvSpPr txBox="1"/>
          <p:nvPr/>
        </p:nvSpPr>
        <p:spPr>
          <a:xfrm>
            <a:off x="3505200" y="2260600"/>
            <a:ext cx="4699000" cy="276999"/>
          </a:xfrm>
          <a:prstGeom prst="rect">
            <a:avLst/>
          </a:prstGeom>
          <a:noFill/>
        </p:spPr>
        <p:txBody>
          <a:bodyPr vert="horz" wrap="square" lIns="0" tIns="0" rIns="0" bIns="0" rtlCol="0" anchor="t">
            <a:noAutofit/>
          </a:bodyPr>
          <a:lstStyle/>
          <a:p>
            <a:r>
              <a:rPr lang="en-US" sz="1250">
                <a:solidFill>
                  <a:srgbClr val="102A4D"/>
                </a:solidFill>
                <a:latin typeface="Aptos" panose="020B0004020202020204" pitchFamily="34" charset="0"/>
              </a:rPr>
              <a:t>Target SAST finding persisted; runtime suites passed</a:t>
            </a:r>
          </a:p>
        </p:txBody>
      </p:sp>
      <p:cxnSp>
        <p:nvCxnSpPr>
          <p:cNvPr id="14" name="Straight Connector 13">
            <a:extLst>
              <a:ext uri="{FF2B5EF4-FFF2-40B4-BE49-F238E27FC236}">
                <a16:creationId xmlns:a16="http://schemas.microsoft.com/office/drawing/2014/main" id="{9DC2AF2B-484F-4AA5-E5F7-E7297E13DBA5}"/>
              </a:ext>
            </a:extLst>
          </p:cNvPr>
          <p:cNvCxnSpPr/>
          <p:nvPr/>
        </p:nvCxnSpPr>
        <p:spPr>
          <a:xfrm>
            <a:off x="825500" y="2730500"/>
            <a:ext cx="0" cy="241300"/>
          </a:xfrm>
          <a:prstGeom prst="line">
            <a:avLst/>
          </a:prstGeom>
          <a:ln w="25400">
            <a:solidFill>
              <a:srgbClr val="B9CBE1"/>
            </a:solidFill>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72391318-A4E5-8372-1BE2-1201B2363DFD}"/>
              </a:ext>
            </a:extLst>
          </p:cNvPr>
          <p:cNvSpPr/>
          <p:nvPr/>
        </p:nvSpPr>
        <p:spPr>
          <a:xfrm>
            <a:off x="609600" y="3149600"/>
            <a:ext cx="431800" cy="431800"/>
          </a:xfrm>
          <a:prstGeom prst="ellipse">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5DE7D8F-2CD0-39F6-5D67-93E0B4F5F3F9}"/>
              </a:ext>
            </a:extLst>
          </p:cNvPr>
          <p:cNvSpPr txBox="1"/>
          <p:nvPr/>
        </p:nvSpPr>
        <p:spPr>
          <a:xfrm>
            <a:off x="609600" y="3162300"/>
            <a:ext cx="431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3</a:t>
            </a:r>
          </a:p>
        </p:txBody>
      </p:sp>
      <p:sp>
        <p:nvSpPr>
          <p:cNvPr id="17" name="TextBox 16">
            <a:extLst>
              <a:ext uri="{FF2B5EF4-FFF2-40B4-BE49-F238E27FC236}">
                <a16:creationId xmlns:a16="http://schemas.microsoft.com/office/drawing/2014/main" id="{2E523A8A-BB93-B931-0778-445D5709D018}"/>
              </a:ext>
            </a:extLst>
          </p:cNvPr>
          <p:cNvSpPr txBox="1"/>
          <p:nvPr/>
        </p:nvSpPr>
        <p:spPr>
          <a:xfrm>
            <a:off x="1219200" y="3124200"/>
            <a:ext cx="2286000" cy="276999"/>
          </a:xfrm>
          <a:prstGeom prst="rect">
            <a:avLst/>
          </a:prstGeom>
          <a:noFill/>
        </p:spPr>
        <p:txBody>
          <a:bodyPr vert="horz" wrap="square" lIns="0" tIns="0" rIns="0" bIns="0" rtlCol="0" anchor="t">
            <a:noAutofit/>
          </a:bodyPr>
          <a:lstStyle/>
          <a:p>
            <a:r>
              <a:rPr lang="en-US" sz="1500" b="1">
                <a:solidFill>
                  <a:srgbClr val="0B2447"/>
                </a:solidFill>
                <a:latin typeface="Aptos" panose="020B0004020202020204" pitchFamily="34" charset="0"/>
              </a:rPr>
              <a:t>Candidate patches</a:t>
            </a:r>
          </a:p>
        </p:txBody>
      </p:sp>
      <p:sp>
        <p:nvSpPr>
          <p:cNvPr id="18" name="TextBox 17">
            <a:extLst>
              <a:ext uri="{FF2B5EF4-FFF2-40B4-BE49-F238E27FC236}">
                <a16:creationId xmlns:a16="http://schemas.microsoft.com/office/drawing/2014/main" id="{0A2519CA-C0AD-47BC-3009-754A9EF56748}"/>
              </a:ext>
            </a:extLst>
          </p:cNvPr>
          <p:cNvSpPr txBox="1"/>
          <p:nvPr/>
        </p:nvSpPr>
        <p:spPr>
          <a:xfrm>
            <a:off x="3505200" y="3124200"/>
            <a:ext cx="4699000" cy="276999"/>
          </a:xfrm>
          <a:prstGeom prst="rect">
            <a:avLst/>
          </a:prstGeom>
          <a:noFill/>
        </p:spPr>
        <p:txBody>
          <a:bodyPr vert="horz" wrap="square" lIns="0" tIns="0" rIns="0" bIns="0" rtlCol="0" anchor="t">
            <a:noAutofit/>
          </a:bodyPr>
          <a:lstStyle/>
          <a:p>
            <a:r>
              <a:rPr lang="en-US" sz="1250">
                <a:solidFill>
                  <a:srgbClr val="102A4D"/>
                </a:solidFill>
                <a:latin typeface="Aptos" panose="020B0004020202020204" pitchFamily="34" charset="0"/>
              </a:rPr>
              <a:t>String(value) vs String(value ?? "")</a:t>
            </a:r>
          </a:p>
        </p:txBody>
      </p:sp>
      <p:cxnSp>
        <p:nvCxnSpPr>
          <p:cNvPr id="19" name="Straight Connector 18">
            <a:extLst>
              <a:ext uri="{FF2B5EF4-FFF2-40B4-BE49-F238E27FC236}">
                <a16:creationId xmlns:a16="http://schemas.microsoft.com/office/drawing/2014/main" id="{182720FA-E3FB-A6BF-EE93-A1C5368C06AF}"/>
              </a:ext>
            </a:extLst>
          </p:cNvPr>
          <p:cNvCxnSpPr/>
          <p:nvPr/>
        </p:nvCxnSpPr>
        <p:spPr>
          <a:xfrm>
            <a:off x="825500" y="3594100"/>
            <a:ext cx="0" cy="241300"/>
          </a:xfrm>
          <a:prstGeom prst="line">
            <a:avLst/>
          </a:prstGeom>
          <a:ln w="25400">
            <a:solidFill>
              <a:srgbClr val="B9CBE1"/>
            </a:solidFill>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39C9D96E-EE8A-9D02-A796-71598A5D5F7A}"/>
              </a:ext>
            </a:extLst>
          </p:cNvPr>
          <p:cNvSpPr/>
          <p:nvPr/>
        </p:nvSpPr>
        <p:spPr>
          <a:xfrm>
            <a:off x="609600" y="4013200"/>
            <a:ext cx="431800" cy="431800"/>
          </a:xfrm>
          <a:prstGeom prst="ellipse">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4FA13DB-4C06-5D17-C316-CD341002211F}"/>
              </a:ext>
            </a:extLst>
          </p:cNvPr>
          <p:cNvSpPr txBox="1"/>
          <p:nvPr/>
        </p:nvSpPr>
        <p:spPr>
          <a:xfrm>
            <a:off x="609600" y="4025900"/>
            <a:ext cx="431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4</a:t>
            </a:r>
          </a:p>
        </p:txBody>
      </p:sp>
      <p:sp>
        <p:nvSpPr>
          <p:cNvPr id="22" name="TextBox 21">
            <a:extLst>
              <a:ext uri="{FF2B5EF4-FFF2-40B4-BE49-F238E27FC236}">
                <a16:creationId xmlns:a16="http://schemas.microsoft.com/office/drawing/2014/main" id="{6C5CF320-6C07-EE31-D70E-A6EF68B59848}"/>
              </a:ext>
            </a:extLst>
          </p:cNvPr>
          <p:cNvSpPr txBox="1"/>
          <p:nvPr/>
        </p:nvSpPr>
        <p:spPr>
          <a:xfrm>
            <a:off x="1219200" y="3987800"/>
            <a:ext cx="2286000" cy="276999"/>
          </a:xfrm>
          <a:prstGeom prst="rect">
            <a:avLst/>
          </a:prstGeom>
          <a:noFill/>
        </p:spPr>
        <p:txBody>
          <a:bodyPr vert="horz" wrap="square" lIns="0" tIns="0" rIns="0" bIns="0" rtlCol="0" anchor="t">
            <a:noAutofit/>
          </a:bodyPr>
          <a:lstStyle/>
          <a:p>
            <a:r>
              <a:rPr lang="en-US" sz="1500" b="1">
                <a:solidFill>
                  <a:srgbClr val="0B2447"/>
                </a:solidFill>
                <a:latin typeface="Aptos" panose="020B0004020202020204" pitchFamily="34" charset="0"/>
              </a:rPr>
              <a:t>Frozen case result</a:t>
            </a:r>
          </a:p>
        </p:txBody>
      </p:sp>
      <p:sp>
        <p:nvSpPr>
          <p:cNvPr id="23" name="TextBox 22">
            <a:extLst>
              <a:ext uri="{FF2B5EF4-FFF2-40B4-BE49-F238E27FC236}">
                <a16:creationId xmlns:a16="http://schemas.microsoft.com/office/drawing/2014/main" id="{531A6740-C036-DCEC-FA1E-325D5C9F5536}"/>
              </a:ext>
            </a:extLst>
          </p:cNvPr>
          <p:cNvSpPr txBox="1"/>
          <p:nvPr/>
        </p:nvSpPr>
        <p:spPr>
          <a:xfrm>
            <a:off x="3505200" y="3987800"/>
            <a:ext cx="4699000" cy="276999"/>
          </a:xfrm>
          <a:prstGeom prst="rect">
            <a:avLst/>
          </a:prstGeom>
          <a:noFill/>
        </p:spPr>
        <p:txBody>
          <a:bodyPr vert="horz" wrap="square" lIns="0" tIns="0" rIns="0" bIns="0" rtlCol="0" anchor="t">
            <a:noAutofit/>
          </a:bodyPr>
          <a:lstStyle/>
          <a:p>
            <a:r>
              <a:rPr lang="en-US" sz="1250">
                <a:solidFill>
                  <a:srgbClr val="102A4D"/>
                </a:solidFill>
                <a:latin typeface="Aptos" panose="020B0004020202020204" pitchFamily="34" charset="0"/>
              </a:rPr>
              <a:t>XSS-P01: undefined (pass) vs blank (fail)</a:t>
            </a:r>
          </a:p>
        </p:txBody>
      </p:sp>
      <p:cxnSp>
        <p:nvCxnSpPr>
          <p:cNvPr id="24" name="Straight Connector 23">
            <a:extLst>
              <a:ext uri="{FF2B5EF4-FFF2-40B4-BE49-F238E27FC236}">
                <a16:creationId xmlns:a16="http://schemas.microsoft.com/office/drawing/2014/main" id="{EFFD94B4-86CD-CE89-9DA9-AF7680156C34}"/>
              </a:ext>
            </a:extLst>
          </p:cNvPr>
          <p:cNvCxnSpPr/>
          <p:nvPr/>
        </p:nvCxnSpPr>
        <p:spPr>
          <a:xfrm>
            <a:off x="825500" y="4457700"/>
            <a:ext cx="0" cy="241300"/>
          </a:xfrm>
          <a:prstGeom prst="line">
            <a:avLst/>
          </a:prstGeom>
          <a:ln w="25400">
            <a:solidFill>
              <a:srgbClr val="B9CBE1"/>
            </a:solidFill>
          </a:ln>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C6C6A98B-F4C6-3A27-5902-79533295CB9E}"/>
              </a:ext>
            </a:extLst>
          </p:cNvPr>
          <p:cNvSpPr/>
          <p:nvPr/>
        </p:nvSpPr>
        <p:spPr>
          <a:xfrm>
            <a:off x="609600" y="4876800"/>
            <a:ext cx="431800" cy="431800"/>
          </a:xfrm>
          <a:prstGeom prst="ellipse">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0F369785-ADD0-E540-E8E8-674D2B131458}"/>
              </a:ext>
            </a:extLst>
          </p:cNvPr>
          <p:cNvSpPr txBox="1"/>
          <p:nvPr/>
        </p:nvSpPr>
        <p:spPr>
          <a:xfrm>
            <a:off x="609600" y="4889500"/>
            <a:ext cx="431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5</a:t>
            </a:r>
          </a:p>
        </p:txBody>
      </p:sp>
      <p:sp>
        <p:nvSpPr>
          <p:cNvPr id="27" name="TextBox 26">
            <a:extLst>
              <a:ext uri="{FF2B5EF4-FFF2-40B4-BE49-F238E27FC236}">
                <a16:creationId xmlns:a16="http://schemas.microsoft.com/office/drawing/2014/main" id="{A1C5B1D1-1D8F-7BEC-4F42-2465BB33E1CF}"/>
              </a:ext>
            </a:extLst>
          </p:cNvPr>
          <p:cNvSpPr txBox="1"/>
          <p:nvPr/>
        </p:nvSpPr>
        <p:spPr>
          <a:xfrm>
            <a:off x="1219200" y="4851400"/>
            <a:ext cx="2286000" cy="276999"/>
          </a:xfrm>
          <a:prstGeom prst="rect">
            <a:avLst/>
          </a:prstGeom>
          <a:noFill/>
        </p:spPr>
        <p:txBody>
          <a:bodyPr vert="horz" wrap="square" lIns="0" tIns="0" rIns="0" bIns="0" rtlCol="0" anchor="t">
            <a:noAutofit/>
          </a:bodyPr>
          <a:lstStyle/>
          <a:p>
            <a:r>
              <a:rPr lang="en-US" sz="1500" b="1">
                <a:solidFill>
                  <a:srgbClr val="0B2447"/>
                </a:solidFill>
                <a:latin typeface="Aptos" panose="020B0004020202020204" pitchFamily="34" charset="0"/>
              </a:rPr>
              <a:t>Later decision</a:t>
            </a:r>
          </a:p>
        </p:txBody>
      </p:sp>
      <p:sp>
        <p:nvSpPr>
          <p:cNvPr id="28" name="TextBox 27">
            <a:extLst>
              <a:ext uri="{FF2B5EF4-FFF2-40B4-BE49-F238E27FC236}">
                <a16:creationId xmlns:a16="http://schemas.microsoft.com/office/drawing/2014/main" id="{165D99DE-4F12-3805-B3C6-E20CEA55C177}"/>
              </a:ext>
            </a:extLst>
          </p:cNvPr>
          <p:cNvSpPr txBox="1"/>
          <p:nvPr/>
        </p:nvSpPr>
        <p:spPr>
          <a:xfrm>
            <a:off x="3505200" y="4851400"/>
            <a:ext cx="4699000" cy="276999"/>
          </a:xfrm>
          <a:prstGeom prst="rect">
            <a:avLst/>
          </a:prstGeom>
          <a:noFill/>
        </p:spPr>
        <p:txBody>
          <a:bodyPr vert="horz" wrap="square" lIns="0" tIns="0" rIns="0" bIns="0" rtlCol="0" anchor="t">
            <a:noAutofit/>
          </a:bodyPr>
          <a:lstStyle/>
          <a:p>
            <a:r>
              <a:rPr lang="en-US" sz="1250">
                <a:solidFill>
                  <a:srgbClr val="102A4D"/>
                </a:solidFill>
                <a:latin typeface="Aptos" panose="020B0004020202020204" pitchFamily="34" charset="0"/>
              </a:rPr>
              <a:t>XSS 04: reject candidate for parity</a:t>
            </a:r>
          </a:p>
        </p:txBody>
      </p:sp>
      <p:sp>
        <p:nvSpPr>
          <p:cNvPr id="29" name="Rectangle: Rounded Corners 28">
            <a:extLst>
              <a:ext uri="{FF2B5EF4-FFF2-40B4-BE49-F238E27FC236}">
                <a16:creationId xmlns:a16="http://schemas.microsoft.com/office/drawing/2014/main" id="{6ADF2BC5-996E-A4C5-7409-44DF003D77A4}"/>
              </a:ext>
            </a:extLst>
          </p:cNvPr>
          <p:cNvSpPr/>
          <p:nvPr/>
        </p:nvSpPr>
        <p:spPr>
          <a:xfrm>
            <a:off x="8509000" y="1422400"/>
            <a:ext cx="3149600" cy="4292600"/>
          </a:xfrm>
          <a:prstGeom prst="roundRect">
            <a:avLst/>
          </a:prstGeom>
          <a:solidFill>
            <a:srgbClr val="FFFFFF"/>
          </a:solidFill>
          <a:ln w="1524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F6462D05-126A-DDE5-3DD9-02D00CBC7E6C}"/>
              </a:ext>
            </a:extLst>
          </p:cNvPr>
          <p:cNvSpPr txBox="1"/>
          <p:nvPr/>
        </p:nvSpPr>
        <p:spPr>
          <a:xfrm>
            <a:off x="8737600" y="1625600"/>
            <a:ext cx="2692400" cy="276999"/>
          </a:xfrm>
          <a:prstGeom prst="rect">
            <a:avLst/>
          </a:prstGeom>
          <a:noFill/>
        </p:spPr>
        <p:txBody>
          <a:bodyPr vert="horz" wrap="square" lIns="0" tIns="0" rIns="0" bIns="0" rtlCol="0" anchor="t">
            <a:noAutofit/>
          </a:bodyPr>
          <a:lstStyle/>
          <a:p>
            <a:r>
              <a:rPr lang="en-US" sz="1100" b="1">
                <a:solidFill>
                  <a:srgbClr val="5878A5"/>
                </a:solidFill>
                <a:latin typeface="Aptos" panose="020B0004020202020204" pitchFamily="34" charset="0"/>
              </a:rPr>
              <a:t>OPEN BEFORE RECORDING</a:t>
            </a:r>
          </a:p>
        </p:txBody>
      </p:sp>
      <p:sp>
        <p:nvSpPr>
          <p:cNvPr id="31" name="TextBox 30">
            <a:extLst>
              <a:ext uri="{FF2B5EF4-FFF2-40B4-BE49-F238E27FC236}">
                <a16:creationId xmlns:a16="http://schemas.microsoft.com/office/drawing/2014/main" id="{1648140A-C089-1B9F-C132-0AF333FEF5A5}"/>
              </a:ext>
            </a:extLst>
          </p:cNvPr>
          <p:cNvSpPr txBox="1"/>
          <p:nvPr/>
        </p:nvSpPr>
        <p:spPr>
          <a:xfrm>
            <a:off x="8737600" y="2032000"/>
            <a:ext cx="2692400" cy="276999"/>
          </a:xfrm>
          <a:prstGeom prst="rect">
            <a:avLst/>
          </a:prstGeom>
          <a:noFill/>
        </p:spPr>
        <p:txBody>
          <a:bodyPr vert="horz" wrap="square" lIns="0" tIns="0" rIns="0" bIns="0" rtlCol="0" anchor="t">
            <a:noAutofit/>
          </a:bodyPr>
          <a:lstStyle/>
          <a:p>
            <a:r>
              <a:rPr lang="en-US" sz="1100">
                <a:solidFill>
                  <a:srgbClr val="102A4D"/>
                </a:solidFill>
                <a:latin typeface="Consolas" panose="020B0609020204030204" pitchFamily="49" charset="0"/>
              </a:rPr>
              <a:t>fixproof.netlify.app
  filter: Reflected XSS
  open: XSS 04
Where tests ran:
  saved candidate app/app.js
  localhost (127.0.0.1)
  disposable workspace copy
Raw evidence backup:
  candidate.patch
  supplemental result.json
  follow-up result.json</a:t>
            </a:r>
          </a:p>
        </p:txBody>
      </p:sp>
      <p:sp>
        <p:nvSpPr>
          <p:cNvPr id="32" name="Rectangle: Rounded Corners 31">
            <a:extLst>
              <a:ext uri="{FF2B5EF4-FFF2-40B4-BE49-F238E27FC236}">
                <a16:creationId xmlns:a16="http://schemas.microsoft.com/office/drawing/2014/main" id="{2D333A92-32D9-8166-B2F9-43B4B4316EAE}"/>
              </a:ext>
            </a:extLst>
          </p:cNvPr>
          <p:cNvSpPr/>
          <p:nvPr/>
        </p:nvSpPr>
        <p:spPr>
          <a:xfrm>
            <a:off x="533400" y="5918200"/>
            <a:ext cx="11125200" cy="482600"/>
          </a:xfrm>
          <a:prstGeom prst="roundRect">
            <a:avLst/>
          </a:prstGeom>
          <a:solidFill>
            <a:srgbClr val="EAF1FA"/>
          </a:solidFill>
          <a:ln w="1270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1CF4C865-BC2A-D525-9480-01C20DE1C908}"/>
              </a:ext>
            </a:extLst>
          </p:cNvPr>
          <p:cNvSpPr txBox="1"/>
          <p:nvPr/>
        </p:nvSpPr>
        <p:spPr>
          <a:xfrm>
            <a:off x="711200" y="6007100"/>
            <a:ext cx="10795000" cy="276999"/>
          </a:xfrm>
          <a:prstGeom prst="rect">
            <a:avLst/>
          </a:prstGeom>
          <a:noFill/>
        </p:spPr>
        <p:txBody>
          <a:bodyPr vert="horz" wrap="square" lIns="0" tIns="0" rIns="0" bIns="0" rtlCol="0" anchor="ctr">
            <a:noAutofit/>
          </a:bodyPr>
          <a:lstStyle/>
          <a:p>
            <a:pPr algn="ctr"/>
            <a:r>
              <a:rPr lang="en-US" sz="1250" b="1">
                <a:solidFill>
                  <a:srgbClr val="0B2447"/>
                </a:solidFill>
                <a:latin typeface="Aptos" panose="020B0004020202020204" pitchFamily="34" charset="0"/>
              </a:rPr>
              <a:t>The public site is a sanitized view of saved evidence; it does not replay historical model calls or tests.</a:t>
            </a:r>
          </a:p>
        </p:txBody>
      </p:sp>
      <p:sp>
        <p:nvSpPr>
          <p:cNvPr id="34" name="TextBox 33">
            <a:extLst>
              <a:ext uri="{FF2B5EF4-FFF2-40B4-BE49-F238E27FC236}">
                <a16:creationId xmlns:a16="http://schemas.microsoft.com/office/drawing/2014/main" id="{97134E6B-2635-3B50-BD68-3AE1A1DDFCC1}"/>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35" name="TextBox 34">
            <a:extLst>
              <a:ext uri="{FF2B5EF4-FFF2-40B4-BE49-F238E27FC236}">
                <a16:creationId xmlns:a16="http://schemas.microsoft.com/office/drawing/2014/main" id="{33EDA605-5B36-929C-A1B2-D40204056F53}"/>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6</a:t>
            </a:r>
          </a:p>
        </p:txBody>
      </p:sp>
    </p:spTree>
    <p:extLst>
      <p:ext uri="{BB962C8B-B14F-4D97-AF65-F5344CB8AC3E}">
        <p14:creationId xmlns:p14="http://schemas.microsoft.com/office/powerpoint/2010/main" val="4076325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E44F46-6812-5978-409E-C6843908B4DA}"/>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5. XSS 03 versus XSS 04</a:t>
            </a:r>
          </a:p>
        </p:txBody>
      </p:sp>
      <p:sp>
        <p:nvSpPr>
          <p:cNvPr id="3" name="TextBox 2">
            <a:extLst>
              <a:ext uri="{FF2B5EF4-FFF2-40B4-BE49-F238E27FC236}">
                <a16:creationId xmlns:a16="http://schemas.microsoft.com/office/drawing/2014/main" id="{7F19174E-6812-EB06-2A4A-95F619DCE870}"/>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Both blocked the registered XSS attacks; one changed missing-input behavior</a:t>
            </a:r>
          </a:p>
        </p:txBody>
      </p:sp>
      <p:cxnSp>
        <p:nvCxnSpPr>
          <p:cNvPr id="4" name="Straight Connector 3">
            <a:extLst>
              <a:ext uri="{FF2B5EF4-FFF2-40B4-BE49-F238E27FC236}">
                <a16:creationId xmlns:a16="http://schemas.microsoft.com/office/drawing/2014/main" id="{23862881-C16B-7E9B-1323-9E6C4C36E08C}"/>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1ABD6518-4951-C6AF-F182-5F12D5BB9194}"/>
              </a:ext>
            </a:extLst>
          </p:cNvPr>
          <p:cNvSpPr/>
          <p:nvPr/>
        </p:nvSpPr>
        <p:spPr>
          <a:xfrm>
            <a:off x="533400" y="1422400"/>
            <a:ext cx="5257800" cy="4140200"/>
          </a:xfrm>
          <a:prstGeom prst="roundRect">
            <a:avLst/>
          </a:prstGeom>
          <a:solidFill>
            <a:srgbClr val="E8F5F1"/>
          </a:solidFill>
          <a:ln w="19050">
            <a:solidFill>
              <a:srgbClr val="68A8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09354208-0F26-E836-BA07-6436594A58FB}"/>
              </a:ext>
            </a:extLst>
          </p:cNvPr>
          <p:cNvSpPr/>
          <p:nvPr/>
        </p:nvSpPr>
        <p:spPr>
          <a:xfrm>
            <a:off x="762000" y="1625600"/>
            <a:ext cx="1193800" cy="304800"/>
          </a:xfrm>
          <a:prstGeom prst="roundRect">
            <a:avLst/>
          </a:prstGeom>
          <a:solidFill>
            <a:srgbClr val="68A89A"/>
          </a:solidFill>
          <a:ln w="6350">
            <a:solidFill>
              <a:srgbClr val="68A8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0A17E0C-CB0E-84C8-FD84-5E4B7AD5AECE}"/>
              </a:ext>
            </a:extLst>
          </p:cNvPr>
          <p:cNvSpPr txBox="1"/>
          <p:nvPr/>
        </p:nvSpPr>
        <p:spPr>
          <a:xfrm>
            <a:off x="825500" y="1651000"/>
            <a:ext cx="1066800" cy="276999"/>
          </a:xfrm>
          <a:prstGeom prst="rect">
            <a:avLst/>
          </a:prstGeom>
          <a:noFill/>
        </p:spPr>
        <p:txBody>
          <a:bodyPr vert="horz" wrap="square" lIns="0" tIns="0" rIns="0" bIns="0" rtlCol="0" anchor="ctr">
            <a:noAutofit/>
          </a:bodyPr>
          <a:lstStyle/>
          <a:p>
            <a:pPr algn="ctr"/>
            <a:r>
              <a:rPr lang="en-US" sz="1100" b="1">
                <a:solidFill>
                  <a:srgbClr val="FFFFFF"/>
                </a:solidFill>
                <a:latin typeface="Aptos" panose="020B0004020202020204" pitchFamily="34" charset="0"/>
              </a:rPr>
              <a:t>XSS 03</a:t>
            </a:r>
          </a:p>
        </p:txBody>
      </p:sp>
      <p:sp>
        <p:nvSpPr>
          <p:cNvPr id="8" name="TextBox 7">
            <a:extLst>
              <a:ext uri="{FF2B5EF4-FFF2-40B4-BE49-F238E27FC236}">
                <a16:creationId xmlns:a16="http://schemas.microsoft.com/office/drawing/2014/main" id="{ECF68079-20DB-A871-1FBB-80F35E14FCFD}"/>
              </a:ext>
            </a:extLst>
          </p:cNvPr>
          <p:cNvSpPr txBox="1"/>
          <p:nvPr/>
        </p:nvSpPr>
        <p:spPr>
          <a:xfrm>
            <a:off x="762000" y="2108200"/>
            <a:ext cx="4775200" cy="276999"/>
          </a:xfrm>
          <a:prstGeom prst="rect">
            <a:avLst/>
          </a:prstGeom>
          <a:noFill/>
        </p:spPr>
        <p:txBody>
          <a:bodyPr vert="horz" wrap="square" lIns="0" tIns="0" rIns="0" bIns="0" rtlCol="0" anchor="t">
            <a:noAutofit/>
          </a:bodyPr>
          <a:lstStyle/>
          <a:p>
            <a:r>
              <a:rPr lang="en-US" sz="1050" b="1">
                <a:solidFill>
                  <a:srgbClr val="68A89A"/>
                </a:solidFill>
                <a:latin typeface="Aptos" panose="020B0004020202020204" pitchFamily="34" charset="0"/>
              </a:rPr>
              <a:t>PATCH</a:t>
            </a:r>
          </a:p>
        </p:txBody>
      </p:sp>
      <p:sp>
        <p:nvSpPr>
          <p:cNvPr id="9" name="Rectangle: Rounded Corners 8">
            <a:extLst>
              <a:ext uri="{FF2B5EF4-FFF2-40B4-BE49-F238E27FC236}">
                <a16:creationId xmlns:a16="http://schemas.microsoft.com/office/drawing/2014/main" id="{14A5B9F5-5846-B8EF-72D3-7C9745403D23}"/>
              </a:ext>
            </a:extLst>
          </p:cNvPr>
          <p:cNvSpPr/>
          <p:nvPr/>
        </p:nvSpPr>
        <p:spPr>
          <a:xfrm>
            <a:off x="762000" y="2413000"/>
            <a:ext cx="4775200" cy="762000"/>
          </a:xfrm>
          <a:prstGeom prst="roundRect">
            <a:avLst/>
          </a:prstGeom>
          <a:solidFill>
            <a:srgbClr val="FFFFFF"/>
          </a:solidFill>
          <a:ln w="1270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0BA0E7F-2DEF-E49C-386A-B9349837B6B9}"/>
              </a:ext>
            </a:extLst>
          </p:cNvPr>
          <p:cNvSpPr txBox="1"/>
          <p:nvPr/>
        </p:nvSpPr>
        <p:spPr>
          <a:xfrm>
            <a:off x="939800" y="2603500"/>
            <a:ext cx="4419600" cy="276999"/>
          </a:xfrm>
          <a:prstGeom prst="rect">
            <a:avLst/>
          </a:prstGeom>
          <a:noFill/>
        </p:spPr>
        <p:txBody>
          <a:bodyPr vert="horz" wrap="square" lIns="0" tIns="0" rIns="0" bIns="0" rtlCol="0" anchor="ctr">
            <a:noAutofit/>
          </a:bodyPr>
          <a:lstStyle/>
          <a:p>
            <a:r>
              <a:rPr lang="en-US" sz="2000" b="1">
                <a:solidFill>
                  <a:srgbClr val="0B2447"/>
                </a:solidFill>
                <a:latin typeface="Consolas" panose="020B0609020204030204" pitchFamily="49" charset="0"/>
              </a:rPr>
              <a:t>String(value)</a:t>
            </a:r>
          </a:p>
        </p:txBody>
      </p:sp>
      <p:sp>
        <p:nvSpPr>
          <p:cNvPr id="11" name="TextBox 10">
            <a:extLst>
              <a:ext uri="{FF2B5EF4-FFF2-40B4-BE49-F238E27FC236}">
                <a16:creationId xmlns:a16="http://schemas.microsoft.com/office/drawing/2014/main" id="{01941454-0224-ECCA-FAD3-9D7BC52CE5E2}"/>
              </a:ext>
            </a:extLst>
          </p:cNvPr>
          <p:cNvSpPr txBox="1"/>
          <p:nvPr/>
        </p:nvSpPr>
        <p:spPr>
          <a:xfrm>
            <a:off x="762000" y="3429000"/>
            <a:ext cx="4775200" cy="276999"/>
          </a:xfrm>
          <a:prstGeom prst="rect">
            <a:avLst/>
          </a:prstGeom>
          <a:noFill/>
        </p:spPr>
        <p:txBody>
          <a:bodyPr vert="horz" wrap="square" lIns="0" tIns="0" rIns="0" bIns="0" rtlCol="0" anchor="t">
            <a:noAutofit/>
          </a:bodyPr>
          <a:lstStyle/>
          <a:p>
            <a:r>
              <a:rPr lang="en-US" sz="1050" b="1">
                <a:solidFill>
                  <a:srgbClr val="68A89A"/>
                </a:solidFill>
                <a:latin typeface="Aptos" panose="020B0004020202020204" pitchFamily="34" charset="0"/>
              </a:rPr>
              <a:t>SAVED XSS-P01 OBSERVATION</a:t>
            </a:r>
          </a:p>
        </p:txBody>
      </p:sp>
      <p:sp>
        <p:nvSpPr>
          <p:cNvPr id="12" name="Rectangle: Rounded Corners 11">
            <a:extLst>
              <a:ext uri="{FF2B5EF4-FFF2-40B4-BE49-F238E27FC236}">
                <a16:creationId xmlns:a16="http://schemas.microsoft.com/office/drawing/2014/main" id="{92DE9AC8-52EA-01B9-8083-6E6FEC5A6564}"/>
              </a:ext>
            </a:extLst>
          </p:cNvPr>
          <p:cNvSpPr/>
          <p:nvPr/>
        </p:nvSpPr>
        <p:spPr>
          <a:xfrm>
            <a:off x="762000" y="3733800"/>
            <a:ext cx="4775200" cy="965200"/>
          </a:xfrm>
          <a:prstGeom prst="roundRect">
            <a:avLst/>
          </a:prstGeom>
          <a:solidFill>
            <a:srgbClr val="FFFFFF"/>
          </a:solidFill>
          <a:ln w="1270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B67D6D0-BBD1-4CE8-6B07-D2A46003EA2C}"/>
              </a:ext>
            </a:extLst>
          </p:cNvPr>
          <p:cNvSpPr txBox="1"/>
          <p:nvPr/>
        </p:nvSpPr>
        <p:spPr>
          <a:xfrm>
            <a:off x="939800" y="3860800"/>
            <a:ext cx="4419600" cy="276999"/>
          </a:xfrm>
          <a:prstGeom prst="rect">
            <a:avLst/>
          </a:prstGeom>
          <a:noFill/>
        </p:spPr>
        <p:txBody>
          <a:bodyPr vert="horz" wrap="square" lIns="0" tIns="0" rIns="0" bIns="0" rtlCol="0" anchor="t">
            <a:noAutofit/>
          </a:bodyPr>
          <a:lstStyle/>
          <a:p>
            <a:r>
              <a:rPr lang="en-US" sz="1250">
                <a:solidFill>
                  <a:srgbClr val="102A4D"/>
                </a:solidFill>
                <a:latin typeface="Consolas" panose="020B0609020204030204" pitchFamily="49" charset="0"/>
              </a:rPr>
              <a:t>"body": "&lt;h1&gt;Hello undefined&lt;/h1&gt;"
"status": "pass"</a:t>
            </a:r>
          </a:p>
        </p:txBody>
      </p:sp>
      <p:sp>
        <p:nvSpPr>
          <p:cNvPr id="14" name="TextBox 13">
            <a:extLst>
              <a:ext uri="{FF2B5EF4-FFF2-40B4-BE49-F238E27FC236}">
                <a16:creationId xmlns:a16="http://schemas.microsoft.com/office/drawing/2014/main" id="{FADA716C-6023-921B-CA5C-0897DDE5DE01}"/>
              </a:ext>
            </a:extLst>
          </p:cNvPr>
          <p:cNvSpPr txBox="1"/>
          <p:nvPr/>
        </p:nvSpPr>
        <p:spPr>
          <a:xfrm>
            <a:off x="762000" y="4953000"/>
            <a:ext cx="4775200" cy="276999"/>
          </a:xfrm>
          <a:prstGeom prst="rect">
            <a:avLst/>
          </a:prstGeom>
          <a:noFill/>
        </p:spPr>
        <p:txBody>
          <a:bodyPr vert="horz" wrap="square" lIns="0" tIns="0" rIns="0" bIns="0" rtlCol="0" anchor="t">
            <a:noAutofit/>
          </a:bodyPr>
          <a:lstStyle/>
          <a:p>
            <a:pPr algn="ctr"/>
            <a:r>
              <a:rPr lang="en-US" sz="1300" b="1">
                <a:solidFill>
                  <a:srgbClr val="0B2447"/>
                </a:solidFill>
                <a:latin typeface="Aptos" panose="020B0004020202020204" pitchFamily="34" charset="0"/>
              </a:rPr>
              <a:t>Registered supplement: 9 pass | parity 5/5</a:t>
            </a:r>
          </a:p>
        </p:txBody>
      </p:sp>
      <p:sp>
        <p:nvSpPr>
          <p:cNvPr id="15" name="Rectangle: Rounded Corners 14">
            <a:extLst>
              <a:ext uri="{FF2B5EF4-FFF2-40B4-BE49-F238E27FC236}">
                <a16:creationId xmlns:a16="http://schemas.microsoft.com/office/drawing/2014/main" id="{678C61F5-E49F-EB0E-97AC-7EFACBDEE208}"/>
              </a:ext>
            </a:extLst>
          </p:cNvPr>
          <p:cNvSpPr/>
          <p:nvPr/>
        </p:nvSpPr>
        <p:spPr>
          <a:xfrm>
            <a:off x="6400800" y="1422400"/>
            <a:ext cx="5257800" cy="4140200"/>
          </a:xfrm>
          <a:prstGeom prst="roundRect">
            <a:avLst/>
          </a:prstGeom>
          <a:solidFill>
            <a:srgbClr val="FBECEA"/>
          </a:solidFill>
          <a:ln w="19050">
            <a:solidFill>
              <a:srgbClr val="B35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DB246DF8-02E5-C49D-1C95-A40D5981C722}"/>
              </a:ext>
            </a:extLst>
          </p:cNvPr>
          <p:cNvSpPr/>
          <p:nvPr/>
        </p:nvSpPr>
        <p:spPr>
          <a:xfrm>
            <a:off x="6629400" y="1625600"/>
            <a:ext cx="1193800" cy="304800"/>
          </a:xfrm>
          <a:prstGeom prst="roundRect">
            <a:avLst/>
          </a:prstGeom>
          <a:solidFill>
            <a:srgbClr val="B35D5B"/>
          </a:solidFill>
          <a:ln w="6350">
            <a:solidFill>
              <a:srgbClr val="B35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887A6F8-2153-B81D-8F59-F94D477A6E0F}"/>
              </a:ext>
            </a:extLst>
          </p:cNvPr>
          <p:cNvSpPr txBox="1"/>
          <p:nvPr/>
        </p:nvSpPr>
        <p:spPr>
          <a:xfrm>
            <a:off x="6692900" y="1651000"/>
            <a:ext cx="1066800" cy="276999"/>
          </a:xfrm>
          <a:prstGeom prst="rect">
            <a:avLst/>
          </a:prstGeom>
          <a:noFill/>
        </p:spPr>
        <p:txBody>
          <a:bodyPr vert="horz" wrap="square" lIns="0" tIns="0" rIns="0" bIns="0" rtlCol="0" anchor="ctr">
            <a:noAutofit/>
          </a:bodyPr>
          <a:lstStyle/>
          <a:p>
            <a:pPr algn="ctr"/>
            <a:r>
              <a:rPr lang="en-US" sz="1100" b="1">
                <a:solidFill>
                  <a:srgbClr val="FFFFFF"/>
                </a:solidFill>
                <a:latin typeface="Aptos" panose="020B0004020202020204" pitchFamily="34" charset="0"/>
              </a:rPr>
              <a:t>XSS 04</a:t>
            </a:r>
          </a:p>
        </p:txBody>
      </p:sp>
      <p:sp>
        <p:nvSpPr>
          <p:cNvPr id="18" name="TextBox 17">
            <a:extLst>
              <a:ext uri="{FF2B5EF4-FFF2-40B4-BE49-F238E27FC236}">
                <a16:creationId xmlns:a16="http://schemas.microsoft.com/office/drawing/2014/main" id="{B89964AA-BA84-4584-A6CC-F2D17586AB61}"/>
              </a:ext>
            </a:extLst>
          </p:cNvPr>
          <p:cNvSpPr txBox="1"/>
          <p:nvPr/>
        </p:nvSpPr>
        <p:spPr>
          <a:xfrm>
            <a:off x="6629400" y="2108200"/>
            <a:ext cx="4775200" cy="276999"/>
          </a:xfrm>
          <a:prstGeom prst="rect">
            <a:avLst/>
          </a:prstGeom>
          <a:noFill/>
        </p:spPr>
        <p:txBody>
          <a:bodyPr vert="horz" wrap="square" lIns="0" tIns="0" rIns="0" bIns="0" rtlCol="0" anchor="t">
            <a:noAutofit/>
          </a:bodyPr>
          <a:lstStyle/>
          <a:p>
            <a:r>
              <a:rPr lang="en-US" sz="1050" b="1">
                <a:solidFill>
                  <a:srgbClr val="B35D5B"/>
                </a:solidFill>
                <a:latin typeface="Aptos" panose="020B0004020202020204" pitchFamily="34" charset="0"/>
              </a:rPr>
              <a:t>PATCH</a:t>
            </a:r>
          </a:p>
        </p:txBody>
      </p:sp>
      <p:sp>
        <p:nvSpPr>
          <p:cNvPr id="19" name="Rectangle: Rounded Corners 18">
            <a:extLst>
              <a:ext uri="{FF2B5EF4-FFF2-40B4-BE49-F238E27FC236}">
                <a16:creationId xmlns:a16="http://schemas.microsoft.com/office/drawing/2014/main" id="{BD484570-DC39-3669-A55E-AEE93BD8194D}"/>
              </a:ext>
            </a:extLst>
          </p:cNvPr>
          <p:cNvSpPr/>
          <p:nvPr/>
        </p:nvSpPr>
        <p:spPr>
          <a:xfrm>
            <a:off x="6629400" y="2413000"/>
            <a:ext cx="4775200" cy="762000"/>
          </a:xfrm>
          <a:prstGeom prst="roundRect">
            <a:avLst/>
          </a:prstGeom>
          <a:solidFill>
            <a:srgbClr val="FFFFFF"/>
          </a:solidFill>
          <a:ln w="1270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FDCF96DF-5288-F57F-02F8-7F6E57BFA540}"/>
              </a:ext>
            </a:extLst>
          </p:cNvPr>
          <p:cNvSpPr txBox="1"/>
          <p:nvPr/>
        </p:nvSpPr>
        <p:spPr>
          <a:xfrm>
            <a:off x="6807200" y="2603500"/>
            <a:ext cx="4419600" cy="276999"/>
          </a:xfrm>
          <a:prstGeom prst="rect">
            <a:avLst/>
          </a:prstGeom>
          <a:noFill/>
        </p:spPr>
        <p:txBody>
          <a:bodyPr vert="horz" wrap="square" lIns="0" tIns="0" rIns="0" bIns="0" rtlCol="0" anchor="ctr">
            <a:noAutofit/>
          </a:bodyPr>
          <a:lstStyle/>
          <a:p>
            <a:r>
              <a:rPr lang="en-US" sz="2000" b="1">
                <a:solidFill>
                  <a:srgbClr val="0B2447"/>
                </a:solidFill>
                <a:latin typeface="Consolas" panose="020B0609020204030204" pitchFamily="49" charset="0"/>
              </a:rPr>
              <a:t>String(value ?? "")</a:t>
            </a:r>
          </a:p>
        </p:txBody>
      </p:sp>
      <p:sp>
        <p:nvSpPr>
          <p:cNvPr id="21" name="TextBox 20">
            <a:extLst>
              <a:ext uri="{FF2B5EF4-FFF2-40B4-BE49-F238E27FC236}">
                <a16:creationId xmlns:a16="http://schemas.microsoft.com/office/drawing/2014/main" id="{8AA031F0-29DD-8D60-0B63-360E200EE49A}"/>
              </a:ext>
            </a:extLst>
          </p:cNvPr>
          <p:cNvSpPr txBox="1"/>
          <p:nvPr/>
        </p:nvSpPr>
        <p:spPr>
          <a:xfrm>
            <a:off x="6629400" y="3429000"/>
            <a:ext cx="4775200" cy="276999"/>
          </a:xfrm>
          <a:prstGeom prst="rect">
            <a:avLst/>
          </a:prstGeom>
          <a:noFill/>
        </p:spPr>
        <p:txBody>
          <a:bodyPr vert="horz" wrap="square" lIns="0" tIns="0" rIns="0" bIns="0" rtlCol="0" anchor="t">
            <a:noAutofit/>
          </a:bodyPr>
          <a:lstStyle/>
          <a:p>
            <a:r>
              <a:rPr lang="en-US" sz="1050" b="1">
                <a:solidFill>
                  <a:srgbClr val="B35D5B"/>
                </a:solidFill>
                <a:latin typeface="Aptos" panose="020B0004020202020204" pitchFamily="34" charset="0"/>
              </a:rPr>
              <a:t>SAVED XSS-P01 OBSERVATION</a:t>
            </a:r>
          </a:p>
        </p:txBody>
      </p:sp>
      <p:sp>
        <p:nvSpPr>
          <p:cNvPr id="22" name="Rectangle: Rounded Corners 21">
            <a:extLst>
              <a:ext uri="{FF2B5EF4-FFF2-40B4-BE49-F238E27FC236}">
                <a16:creationId xmlns:a16="http://schemas.microsoft.com/office/drawing/2014/main" id="{5B0A7B2F-F78D-5C13-B506-C60EE4B47E6F}"/>
              </a:ext>
            </a:extLst>
          </p:cNvPr>
          <p:cNvSpPr/>
          <p:nvPr/>
        </p:nvSpPr>
        <p:spPr>
          <a:xfrm>
            <a:off x="6629400" y="3733800"/>
            <a:ext cx="4775200" cy="965200"/>
          </a:xfrm>
          <a:prstGeom prst="roundRect">
            <a:avLst/>
          </a:prstGeom>
          <a:solidFill>
            <a:srgbClr val="FFFFFF"/>
          </a:solidFill>
          <a:ln w="1270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5FD604C9-CA79-CB53-4370-79E604821166}"/>
              </a:ext>
            </a:extLst>
          </p:cNvPr>
          <p:cNvSpPr txBox="1"/>
          <p:nvPr/>
        </p:nvSpPr>
        <p:spPr>
          <a:xfrm>
            <a:off x="6807200" y="3860800"/>
            <a:ext cx="4419600" cy="276999"/>
          </a:xfrm>
          <a:prstGeom prst="rect">
            <a:avLst/>
          </a:prstGeom>
          <a:noFill/>
        </p:spPr>
        <p:txBody>
          <a:bodyPr vert="horz" wrap="square" lIns="0" tIns="0" rIns="0" bIns="0" rtlCol="0" anchor="t">
            <a:noAutofit/>
          </a:bodyPr>
          <a:lstStyle/>
          <a:p>
            <a:r>
              <a:rPr lang="en-US" sz="1250">
                <a:solidFill>
                  <a:srgbClr val="102A4D"/>
                </a:solidFill>
                <a:latin typeface="Consolas" panose="020B0609020204030204" pitchFamily="49" charset="0"/>
              </a:rPr>
              <a:t>"body": "&lt;h1&gt;Hello &lt;/h1&gt;"
"status": "fail"</a:t>
            </a:r>
          </a:p>
        </p:txBody>
      </p:sp>
      <p:sp>
        <p:nvSpPr>
          <p:cNvPr id="24" name="TextBox 23">
            <a:extLst>
              <a:ext uri="{FF2B5EF4-FFF2-40B4-BE49-F238E27FC236}">
                <a16:creationId xmlns:a16="http://schemas.microsoft.com/office/drawing/2014/main" id="{018FB34B-A495-763B-0225-F9041BFF753E}"/>
              </a:ext>
            </a:extLst>
          </p:cNvPr>
          <p:cNvSpPr txBox="1"/>
          <p:nvPr/>
        </p:nvSpPr>
        <p:spPr>
          <a:xfrm>
            <a:off x="6629400" y="4953000"/>
            <a:ext cx="4775200" cy="276999"/>
          </a:xfrm>
          <a:prstGeom prst="rect">
            <a:avLst/>
          </a:prstGeom>
          <a:noFill/>
        </p:spPr>
        <p:txBody>
          <a:bodyPr vert="horz" wrap="square" lIns="0" tIns="0" rIns="0" bIns="0" rtlCol="0" anchor="t">
            <a:noAutofit/>
          </a:bodyPr>
          <a:lstStyle/>
          <a:p>
            <a:pPr algn="ctr"/>
            <a:r>
              <a:rPr lang="en-US" sz="1300" b="1">
                <a:solidFill>
                  <a:srgbClr val="0B2447"/>
                </a:solidFill>
                <a:latin typeface="Aptos" panose="020B0004020202020204" pitchFamily="34" charset="0"/>
              </a:rPr>
              <a:t>Registered supplement: 8 pass | 1 parity fail</a:t>
            </a:r>
          </a:p>
        </p:txBody>
      </p:sp>
      <p:sp>
        <p:nvSpPr>
          <p:cNvPr id="25" name="Rectangle: Rounded Corners 24">
            <a:extLst>
              <a:ext uri="{FF2B5EF4-FFF2-40B4-BE49-F238E27FC236}">
                <a16:creationId xmlns:a16="http://schemas.microsoft.com/office/drawing/2014/main" id="{B71E1C48-C489-EA9E-EB34-39E3F5794F40}"/>
              </a:ext>
            </a:extLst>
          </p:cNvPr>
          <p:cNvSpPr/>
          <p:nvPr/>
        </p:nvSpPr>
        <p:spPr>
          <a:xfrm>
            <a:off x="1524000" y="5791200"/>
            <a:ext cx="9144000" cy="558800"/>
          </a:xfrm>
          <a:prstGeom prst="roundRect">
            <a:avLst/>
          </a:prstGeom>
          <a:solidFill>
            <a:srgbClr val="EFEAFA"/>
          </a:solidFill>
          <a:ln w="15240">
            <a:solidFill>
              <a:srgbClr val="8D79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7924FFC2-685A-6ECC-704C-3B054C2026BA}"/>
              </a:ext>
            </a:extLst>
          </p:cNvPr>
          <p:cNvSpPr txBox="1"/>
          <p:nvPr/>
        </p:nvSpPr>
        <p:spPr>
          <a:xfrm>
            <a:off x="1752600" y="5880100"/>
            <a:ext cx="8686800" cy="276999"/>
          </a:xfrm>
          <a:prstGeom prst="rect">
            <a:avLst/>
          </a:prstGeom>
          <a:noFill/>
        </p:spPr>
        <p:txBody>
          <a:bodyPr vert="horz" wrap="square" lIns="0" tIns="0" rIns="0" bIns="0" rtlCol="0" anchor="ctr">
            <a:noAutofit/>
          </a:bodyPr>
          <a:lstStyle/>
          <a:p>
            <a:pPr algn="ctr"/>
            <a:r>
              <a:rPr lang="en-US" sz="1350" b="1">
                <a:solidFill>
                  <a:srgbClr val="0B2447"/>
                </a:solidFill>
                <a:latin typeface="Aptos" panose="020B0004020202020204" pitchFamily="34" charset="0"/>
              </a:rPr>
              <a:t>Both supplemental security: 3/3 pass. XSS 04 was later rejected for parity, not continued exploitability.</a:t>
            </a:r>
          </a:p>
        </p:txBody>
      </p:sp>
      <p:sp>
        <p:nvSpPr>
          <p:cNvPr id="27" name="TextBox 26">
            <a:extLst>
              <a:ext uri="{FF2B5EF4-FFF2-40B4-BE49-F238E27FC236}">
                <a16:creationId xmlns:a16="http://schemas.microsoft.com/office/drawing/2014/main" id="{45A66605-B237-1E01-B4B6-C4B448F572F9}"/>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28" name="TextBox 27">
            <a:extLst>
              <a:ext uri="{FF2B5EF4-FFF2-40B4-BE49-F238E27FC236}">
                <a16:creationId xmlns:a16="http://schemas.microsoft.com/office/drawing/2014/main" id="{AF834B38-E052-F9A5-A105-6C827945BDEE}"/>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7</a:t>
            </a:r>
          </a:p>
        </p:txBody>
      </p:sp>
    </p:spTree>
    <p:extLst>
      <p:ext uri="{BB962C8B-B14F-4D97-AF65-F5344CB8AC3E}">
        <p14:creationId xmlns:p14="http://schemas.microsoft.com/office/powerpoint/2010/main" val="1867589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0A4615-792E-5EAA-BFCF-70CBF3751104}"/>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6. Human judgment and next steps</a:t>
            </a:r>
          </a:p>
        </p:txBody>
      </p:sp>
      <p:sp>
        <p:nvSpPr>
          <p:cNvPr id="3" name="TextBox 2">
            <a:extLst>
              <a:ext uri="{FF2B5EF4-FFF2-40B4-BE49-F238E27FC236}">
                <a16:creationId xmlns:a16="http://schemas.microsoft.com/office/drawing/2014/main" id="{FCB1E421-E7F4-B2E5-AA86-1AACBEEE8CEB}"/>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Later records qualify the evidence; they never overwrite primary-v1</a:t>
            </a:r>
          </a:p>
        </p:txBody>
      </p:sp>
      <p:cxnSp>
        <p:nvCxnSpPr>
          <p:cNvPr id="4" name="Straight Connector 3">
            <a:extLst>
              <a:ext uri="{FF2B5EF4-FFF2-40B4-BE49-F238E27FC236}">
                <a16:creationId xmlns:a16="http://schemas.microsoft.com/office/drawing/2014/main" id="{A7AB8B59-C096-F75C-4630-7BC63260183F}"/>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EE0585A1-649B-9928-6236-E5EE34938775}"/>
              </a:ext>
            </a:extLst>
          </p:cNvPr>
          <p:cNvSpPr/>
          <p:nvPr/>
        </p:nvSpPr>
        <p:spPr>
          <a:xfrm>
            <a:off x="533400" y="1371600"/>
            <a:ext cx="3352800" cy="1092200"/>
          </a:xfrm>
          <a:prstGeom prst="roundRect">
            <a:avLst/>
          </a:prstGeom>
          <a:solidFill>
            <a:srgbClr val="EAF1FA"/>
          </a:solidFill>
          <a:ln w="1778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BFC66AE-A4ED-566C-F2FC-C7D1AD2D097F}"/>
              </a:ext>
            </a:extLst>
          </p:cNvPr>
          <p:cNvSpPr txBox="1"/>
          <p:nvPr/>
        </p:nvSpPr>
        <p:spPr>
          <a:xfrm>
            <a:off x="685800" y="1498600"/>
            <a:ext cx="30480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10 original reviews</a:t>
            </a:r>
          </a:p>
        </p:txBody>
      </p:sp>
      <p:sp>
        <p:nvSpPr>
          <p:cNvPr id="7" name="TextBox 6">
            <a:extLst>
              <a:ext uri="{FF2B5EF4-FFF2-40B4-BE49-F238E27FC236}">
                <a16:creationId xmlns:a16="http://schemas.microsoft.com/office/drawing/2014/main" id="{E4066CB1-77F5-B8D2-E6F1-5EAF3CBF0181}"/>
              </a:ext>
            </a:extLst>
          </p:cNvPr>
          <p:cNvSpPr txBox="1"/>
          <p:nvPr/>
        </p:nvSpPr>
        <p:spPr>
          <a:xfrm>
            <a:off x="660400" y="2006600"/>
            <a:ext cx="30988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7 accept | 3 request more testing</a:t>
            </a:r>
          </a:p>
        </p:txBody>
      </p:sp>
      <p:sp>
        <p:nvSpPr>
          <p:cNvPr id="8" name="Rectangle: Rounded Corners 7">
            <a:extLst>
              <a:ext uri="{FF2B5EF4-FFF2-40B4-BE49-F238E27FC236}">
                <a16:creationId xmlns:a16="http://schemas.microsoft.com/office/drawing/2014/main" id="{5E04F8C9-A534-B1A5-F249-C879D9E76510}"/>
              </a:ext>
            </a:extLst>
          </p:cNvPr>
          <p:cNvSpPr/>
          <p:nvPr/>
        </p:nvSpPr>
        <p:spPr>
          <a:xfrm>
            <a:off x="4419600" y="1371600"/>
            <a:ext cx="3352800" cy="1092200"/>
          </a:xfrm>
          <a:prstGeom prst="roundRect">
            <a:avLst/>
          </a:prstGeom>
          <a:solidFill>
            <a:srgbClr val="EFEAFA"/>
          </a:solidFill>
          <a:ln w="17780">
            <a:solidFill>
              <a:srgbClr val="8D79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E3917ED-DE4B-912D-25E6-40063AE6D320}"/>
              </a:ext>
            </a:extLst>
          </p:cNvPr>
          <p:cNvSpPr txBox="1"/>
          <p:nvPr/>
        </p:nvSpPr>
        <p:spPr>
          <a:xfrm>
            <a:off x="4572000" y="1498600"/>
            <a:ext cx="30480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14 later records</a:t>
            </a:r>
          </a:p>
        </p:txBody>
      </p:sp>
      <p:sp>
        <p:nvSpPr>
          <p:cNvPr id="10" name="TextBox 9">
            <a:extLst>
              <a:ext uri="{FF2B5EF4-FFF2-40B4-BE49-F238E27FC236}">
                <a16:creationId xmlns:a16="http://schemas.microsoft.com/office/drawing/2014/main" id="{AE142D71-2F14-B51B-CB2A-375AD22BA873}"/>
              </a:ext>
            </a:extLst>
          </p:cNvPr>
          <p:cNvSpPr txBox="1"/>
          <p:nvPr/>
        </p:nvSpPr>
        <p:spPr>
          <a:xfrm>
            <a:off x="4546600" y="2006600"/>
            <a:ext cx="30988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5 reject | 5 bounded accept | 4 request</a:t>
            </a:r>
          </a:p>
        </p:txBody>
      </p:sp>
      <p:sp>
        <p:nvSpPr>
          <p:cNvPr id="11" name="Rectangle: Rounded Corners 10">
            <a:extLst>
              <a:ext uri="{FF2B5EF4-FFF2-40B4-BE49-F238E27FC236}">
                <a16:creationId xmlns:a16="http://schemas.microsoft.com/office/drawing/2014/main" id="{C2E41D15-3885-5E3A-0248-41291DFA8A12}"/>
              </a:ext>
            </a:extLst>
          </p:cNvPr>
          <p:cNvSpPr/>
          <p:nvPr/>
        </p:nvSpPr>
        <p:spPr>
          <a:xfrm>
            <a:off x="8305800" y="1371600"/>
            <a:ext cx="3352800" cy="1092200"/>
          </a:xfrm>
          <a:prstGeom prst="roundRect">
            <a:avLst/>
          </a:prstGeom>
          <a:solidFill>
            <a:srgbClr val="E8F5F1"/>
          </a:solidFill>
          <a:ln w="17780">
            <a:solidFill>
              <a:srgbClr val="68A8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331D14C-9002-DFD0-FCB8-2DBE08FFAD51}"/>
              </a:ext>
            </a:extLst>
          </p:cNvPr>
          <p:cNvSpPr txBox="1"/>
          <p:nvPr/>
        </p:nvSpPr>
        <p:spPr>
          <a:xfrm>
            <a:off x="8458200" y="1498600"/>
            <a:ext cx="30480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0 overwritten</a:t>
            </a:r>
          </a:p>
        </p:txBody>
      </p:sp>
      <p:sp>
        <p:nvSpPr>
          <p:cNvPr id="13" name="TextBox 12">
            <a:extLst>
              <a:ext uri="{FF2B5EF4-FFF2-40B4-BE49-F238E27FC236}">
                <a16:creationId xmlns:a16="http://schemas.microsoft.com/office/drawing/2014/main" id="{AC588AE3-E569-65A5-4544-CA54630348A3}"/>
              </a:ext>
            </a:extLst>
          </p:cNvPr>
          <p:cNvSpPr txBox="1"/>
          <p:nvPr/>
        </p:nvSpPr>
        <p:spPr>
          <a:xfrm>
            <a:off x="8432800" y="2006600"/>
            <a:ext cx="30988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primary records and metrics stay frozen</a:t>
            </a:r>
          </a:p>
        </p:txBody>
      </p:sp>
      <p:sp>
        <p:nvSpPr>
          <p:cNvPr id="14" name="Rectangle: Rounded Corners 13">
            <a:extLst>
              <a:ext uri="{FF2B5EF4-FFF2-40B4-BE49-F238E27FC236}">
                <a16:creationId xmlns:a16="http://schemas.microsoft.com/office/drawing/2014/main" id="{6AC4FD38-D491-2264-2BE1-842AF66665B1}"/>
              </a:ext>
            </a:extLst>
          </p:cNvPr>
          <p:cNvSpPr/>
          <p:nvPr/>
        </p:nvSpPr>
        <p:spPr>
          <a:xfrm>
            <a:off x="533400" y="2819400"/>
            <a:ext cx="5359400" cy="2387600"/>
          </a:xfrm>
          <a:prstGeom prst="roundRect">
            <a:avLst/>
          </a:prstGeom>
          <a:solidFill>
            <a:srgbClr val="FFFFFF"/>
          </a:solidFill>
          <a:ln w="1524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A776E51-2DF0-08DC-6534-6F67B25BA247}"/>
              </a:ext>
            </a:extLst>
          </p:cNvPr>
          <p:cNvSpPr txBox="1"/>
          <p:nvPr/>
        </p:nvSpPr>
        <p:spPr>
          <a:xfrm>
            <a:off x="762000" y="3022600"/>
            <a:ext cx="4902200" cy="276999"/>
          </a:xfrm>
          <a:prstGeom prst="rect">
            <a:avLst/>
          </a:prstGeom>
          <a:noFill/>
        </p:spPr>
        <p:txBody>
          <a:bodyPr vert="horz" wrap="square" lIns="0" tIns="0" rIns="0" bIns="0" rtlCol="0" anchor="t">
            <a:noAutofit/>
          </a:bodyPr>
          <a:lstStyle/>
          <a:p>
            <a:r>
              <a:rPr lang="en-US" sz="1100" b="1">
                <a:solidFill>
                  <a:srgbClr val="B35D5B"/>
                </a:solidFill>
                <a:latin typeface="Aptos" panose="020B0004020202020204" pitchFamily="34" charset="0"/>
              </a:rPr>
              <a:t>LIMITS TO SAY OUT LOUD</a:t>
            </a:r>
          </a:p>
        </p:txBody>
      </p:sp>
      <p:sp>
        <p:nvSpPr>
          <p:cNvPr id="16" name="TextBox 15">
            <a:extLst>
              <a:ext uri="{FF2B5EF4-FFF2-40B4-BE49-F238E27FC236}">
                <a16:creationId xmlns:a16="http://schemas.microsoft.com/office/drawing/2014/main" id="{1397E3B7-8337-3458-FDBA-2BE6B84477A2}"/>
              </a:ext>
            </a:extLst>
          </p:cNvPr>
          <p:cNvSpPr txBox="1"/>
          <p:nvPr/>
        </p:nvSpPr>
        <p:spPr>
          <a:xfrm>
            <a:off x="762000" y="3429000"/>
            <a:ext cx="4902200" cy="276999"/>
          </a:xfrm>
          <a:prstGeom prst="rect">
            <a:avLst/>
          </a:prstGeom>
          <a:noFill/>
        </p:spPr>
        <p:txBody>
          <a:bodyPr vert="horz" wrap="square" lIns="0" tIns="0" rIns="0" bIns="0" rtlCol="0" anchor="t">
            <a:noAutofit/>
          </a:bodyPr>
          <a:lstStyle/>
          <a:p>
            <a:r>
              <a:rPr lang="en-US" sz="1300">
                <a:solidFill>
                  <a:srgbClr val="102A4D"/>
                </a:solidFill>
                <a:latin typeface="Aptos" panose="020B0004020202020204" pitchFamily="34" charset="0"/>
              </a:rPr>
              <a:t>- One application per CWE
- 15 calls are not 15 unique patches; SQLi has one source
- PATH-S06 remains inconclusive on Windows
- SQLi target comparison used a labeled controlled rule
- No production-readiness or broad success-rate claim</a:t>
            </a:r>
          </a:p>
        </p:txBody>
      </p:sp>
      <p:sp>
        <p:nvSpPr>
          <p:cNvPr id="17" name="Rectangle: Rounded Corners 16">
            <a:extLst>
              <a:ext uri="{FF2B5EF4-FFF2-40B4-BE49-F238E27FC236}">
                <a16:creationId xmlns:a16="http://schemas.microsoft.com/office/drawing/2014/main" id="{C2F9B139-BE7E-9CA7-9950-DA84806B5FFF}"/>
              </a:ext>
            </a:extLst>
          </p:cNvPr>
          <p:cNvSpPr/>
          <p:nvPr/>
        </p:nvSpPr>
        <p:spPr>
          <a:xfrm>
            <a:off x="6299200" y="2819400"/>
            <a:ext cx="5359400" cy="2387600"/>
          </a:xfrm>
          <a:prstGeom prst="roundRect">
            <a:avLst/>
          </a:prstGeom>
          <a:solidFill>
            <a:srgbClr val="FFFFFF"/>
          </a:solidFill>
          <a:ln w="1524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5A975F3-F673-BA52-9226-AAEBF568630C}"/>
              </a:ext>
            </a:extLst>
          </p:cNvPr>
          <p:cNvSpPr txBox="1"/>
          <p:nvPr/>
        </p:nvSpPr>
        <p:spPr>
          <a:xfrm>
            <a:off x="6527800" y="3022600"/>
            <a:ext cx="4902200" cy="276999"/>
          </a:xfrm>
          <a:prstGeom prst="rect">
            <a:avLst/>
          </a:prstGeom>
          <a:noFill/>
        </p:spPr>
        <p:txBody>
          <a:bodyPr vert="horz" wrap="square" lIns="0" tIns="0" rIns="0" bIns="0" rtlCol="0" anchor="t">
            <a:noAutofit/>
          </a:bodyPr>
          <a:lstStyle/>
          <a:p>
            <a:r>
              <a:rPr lang="en-US" sz="1100" b="1">
                <a:solidFill>
                  <a:srgbClr val="5878A5"/>
                </a:solidFill>
                <a:latin typeface="Aptos" panose="020B0004020202020204" pitchFamily="34" charset="0"/>
              </a:rPr>
              <a:t>NEXT COURSE MILESTONES</a:t>
            </a:r>
          </a:p>
        </p:txBody>
      </p:sp>
      <p:sp>
        <p:nvSpPr>
          <p:cNvPr id="19" name="TextBox 18">
            <a:extLst>
              <a:ext uri="{FF2B5EF4-FFF2-40B4-BE49-F238E27FC236}">
                <a16:creationId xmlns:a16="http://schemas.microsoft.com/office/drawing/2014/main" id="{70479A0D-8A9C-9B0D-47D8-B4DA23C4C593}"/>
              </a:ext>
            </a:extLst>
          </p:cNvPr>
          <p:cNvSpPr txBox="1"/>
          <p:nvPr/>
        </p:nvSpPr>
        <p:spPr>
          <a:xfrm>
            <a:off x="6527800" y="3429000"/>
            <a:ext cx="4902200" cy="276999"/>
          </a:xfrm>
          <a:prstGeom prst="rect">
            <a:avLst/>
          </a:prstGeom>
          <a:noFill/>
        </p:spPr>
        <p:txBody>
          <a:bodyPr vert="horz" wrap="square" lIns="0" tIns="0" rIns="0" bIns="0" rtlCol="0" anchor="t">
            <a:noAutofit/>
          </a:bodyPr>
          <a:lstStyle/>
          <a:p>
            <a:r>
              <a:rPr lang="en-US" sz="1300">
                <a:solidFill>
                  <a:srgbClr val="102A4D"/>
                </a:solidFill>
                <a:latin typeface="Aptos" panose="020B0004020202020204" pitchFamily="34" charset="0"/>
              </a:rPr>
              <a:t>- Report 3 submitted: September 28
- Video III / peer feedback: October 6 / 11
- Progress Report 4: October 18, 11:59 p.m.
- Report 4 focus: controls, related work, reproducibility</a:t>
            </a:r>
          </a:p>
        </p:txBody>
      </p:sp>
      <p:sp>
        <p:nvSpPr>
          <p:cNvPr id="20" name="Rectangle: Rounded Corners 19">
            <a:extLst>
              <a:ext uri="{FF2B5EF4-FFF2-40B4-BE49-F238E27FC236}">
                <a16:creationId xmlns:a16="http://schemas.microsoft.com/office/drawing/2014/main" id="{7AEB7A4E-4E7A-8412-BC11-3290F9806255}"/>
              </a:ext>
            </a:extLst>
          </p:cNvPr>
          <p:cNvSpPr/>
          <p:nvPr/>
        </p:nvSpPr>
        <p:spPr>
          <a:xfrm>
            <a:off x="1117600" y="5562600"/>
            <a:ext cx="9956800" cy="787400"/>
          </a:xfrm>
          <a:prstGeom prst="roundRect">
            <a:avLst/>
          </a:prstGeom>
          <a:solidFill>
            <a:srgbClr val="FFF3DE"/>
          </a:solidFill>
          <a:ln w="1778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48A9661-EA9B-AC1B-892A-2E6C7392D465}"/>
              </a:ext>
            </a:extLst>
          </p:cNvPr>
          <p:cNvSpPr txBox="1"/>
          <p:nvPr/>
        </p:nvSpPr>
        <p:spPr>
          <a:xfrm>
            <a:off x="1371600" y="5676900"/>
            <a:ext cx="9448800" cy="276999"/>
          </a:xfrm>
          <a:prstGeom prst="rect">
            <a:avLst/>
          </a:prstGeom>
          <a:noFill/>
        </p:spPr>
        <p:txBody>
          <a:bodyPr vert="horz" wrap="square" lIns="0" tIns="0" rIns="0" bIns="0" rtlCol="0" anchor="ctr">
            <a:noAutofit/>
          </a:bodyPr>
          <a:lstStyle/>
          <a:p>
            <a:pPr algn="ctr"/>
            <a:r>
              <a:rPr lang="en-US" sz="1400" b="1">
                <a:solidFill>
                  <a:srgbClr val="0B2447"/>
                </a:solidFill>
                <a:latin typeface="Aptos" panose="020B0004020202020204" pitchFamily="34" charset="0"/>
              </a:rPr>
              <a:t>Student reference: fixproof.netlify.app | Report 4 feedback: second fixture or symlink-capable PATH-S06 rerun?</a:t>
            </a:r>
          </a:p>
        </p:txBody>
      </p:sp>
      <p:sp>
        <p:nvSpPr>
          <p:cNvPr id="22" name="TextBox 21">
            <a:extLst>
              <a:ext uri="{FF2B5EF4-FFF2-40B4-BE49-F238E27FC236}">
                <a16:creationId xmlns:a16="http://schemas.microsoft.com/office/drawing/2014/main" id="{B19F17B2-D2C4-A10F-5AA3-488EE83A03D7}"/>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23" name="TextBox 22">
            <a:extLst>
              <a:ext uri="{FF2B5EF4-FFF2-40B4-BE49-F238E27FC236}">
                <a16:creationId xmlns:a16="http://schemas.microsoft.com/office/drawing/2014/main" id="{58A57BB1-44C1-61EA-F162-1AED0A69478E}"/>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8</a:t>
            </a:r>
          </a:p>
        </p:txBody>
      </p:sp>
    </p:spTree>
    <p:extLst>
      <p:ext uri="{BB962C8B-B14F-4D97-AF65-F5344CB8AC3E}">
        <p14:creationId xmlns:p14="http://schemas.microsoft.com/office/powerpoint/2010/main" val="4029264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2559FA-5F80-3CFB-6433-F263CFB09042}"/>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BACKUP | If asked about SQLi or traversal</a:t>
            </a:r>
          </a:p>
        </p:txBody>
      </p:sp>
      <p:sp>
        <p:nvSpPr>
          <p:cNvPr id="3" name="TextBox 2">
            <a:extLst>
              <a:ext uri="{FF2B5EF4-FFF2-40B4-BE49-F238E27FC236}">
                <a16:creationId xmlns:a16="http://schemas.microsoft.com/office/drawing/2014/main" id="{5128AAF9-4ED5-F55B-742D-93328B633B80}"/>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Skip during the main recording unless the course format allows extra detail</a:t>
            </a:r>
          </a:p>
        </p:txBody>
      </p:sp>
      <p:cxnSp>
        <p:nvCxnSpPr>
          <p:cNvPr id="4" name="Straight Connector 3">
            <a:extLst>
              <a:ext uri="{FF2B5EF4-FFF2-40B4-BE49-F238E27FC236}">
                <a16:creationId xmlns:a16="http://schemas.microsoft.com/office/drawing/2014/main" id="{6B00D609-C164-625B-228C-1B049D1D969B}"/>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14A45F97-36B1-13BE-9F20-F88752BB4001}"/>
              </a:ext>
            </a:extLst>
          </p:cNvPr>
          <p:cNvSpPr/>
          <p:nvPr/>
        </p:nvSpPr>
        <p:spPr>
          <a:xfrm>
            <a:off x="533400" y="1473200"/>
            <a:ext cx="5334000" cy="4241800"/>
          </a:xfrm>
          <a:prstGeom prst="roundRect">
            <a:avLst/>
          </a:prstGeom>
          <a:solidFill>
            <a:srgbClr val="EAF1FA"/>
          </a:solidFill>
          <a:ln w="1905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5C6406D4-8115-3AD0-DF45-D08C436646C9}"/>
              </a:ext>
            </a:extLst>
          </p:cNvPr>
          <p:cNvSpPr/>
          <p:nvPr/>
        </p:nvSpPr>
        <p:spPr>
          <a:xfrm>
            <a:off x="762000" y="1676400"/>
            <a:ext cx="2032000" cy="304800"/>
          </a:xfrm>
          <a:prstGeom prst="roundRect">
            <a:avLst/>
          </a:prstGeom>
          <a:solidFill>
            <a:srgbClr val="5878A5"/>
          </a:solidFill>
          <a:ln w="635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DFD572E-4B31-4791-799E-9289AABAC41E}"/>
              </a:ext>
            </a:extLst>
          </p:cNvPr>
          <p:cNvSpPr txBox="1"/>
          <p:nvPr/>
        </p:nvSpPr>
        <p:spPr>
          <a:xfrm>
            <a:off x="825500" y="1701800"/>
            <a:ext cx="1905000" cy="276999"/>
          </a:xfrm>
          <a:prstGeom prst="rect">
            <a:avLst/>
          </a:prstGeom>
          <a:noFill/>
        </p:spPr>
        <p:txBody>
          <a:bodyPr vert="horz" wrap="square" lIns="0" tIns="0" rIns="0" bIns="0" rtlCol="0" anchor="ctr">
            <a:noAutofit/>
          </a:bodyPr>
          <a:lstStyle/>
          <a:p>
            <a:pPr algn="ctr"/>
            <a:r>
              <a:rPr lang="en-US" sz="1100" b="1">
                <a:solidFill>
                  <a:srgbClr val="FFFFFF"/>
                </a:solidFill>
                <a:latin typeface="Aptos" panose="020B0004020202020204" pitchFamily="34" charset="0"/>
              </a:rPr>
              <a:t>SQLi 01-05</a:t>
            </a:r>
          </a:p>
        </p:txBody>
      </p:sp>
      <p:sp>
        <p:nvSpPr>
          <p:cNvPr id="8" name="TextBox 7">
            <a:extLst>
              <a:ext uri="{FF2B5EF4-FFF2-40B4-BE49-F238E27FC236}">
                <a16:creationId xmlns:a16="http://schemas.microsoft.com/office/drawing/2014/main" id="{00DC96F4-09BA-76BB-EC18-F12D9C0313E7}"/>
              </a:ext>
            </a:extLst>
          </p:cNvPr>
          <p:cNvSpPr txBox="1"/>
          <p:nvPr/>
        </p:nvSpPr>
        <p:spPr>
          <a:xfrm>
            <a:off x="762000" y="2209800"/>
            <a:ext cx="4876800" cy="276999"/>
          </a:xfrm>
          <a:prstGeom prst="rect">
            <a:avLst/>
          </a:prstGeom>
          <a:noFill/>
        </p:spPr>
        <p:txBody>
          <a:bodyPr vert="horz" wrap="square" lIns="0" tIns="0" rIns="0" bIns="0" rtlCol="0" anchor="t">
            <a:noAutofit/>
          </a:bodyPr>
          <a:lstStyle/>
          <a:p>
            <a:r>
              <a:rPr lang="en-US" sz="1300">
                <a:solidFill>
                  <a:srgbClr val="102A4D"/>
                </a:solidFill>
                <a:latin typeface="Aptos" panose="020B0004020202020204" pitchFamily="34" charset="0"/>
              </a:rPr>
              <a:t>Primary target SAST: 5/5 resolved
Primary security and functional suites: all 5 candidates passed
Supplement per candidate:
- Security 3/3
- Parity 2/2
- Robustness 2/3
SQL-R01: repeated usernames returned HTTP 200 [] instead of registered HTTP 400.
Human result: bounded accept; failure remains recorded.</a:t>
            </a:r>
          </a:p>
        </p:txBody>
      </p:sp>
      <p:sp>
        <p:nvSpPr>
          <p:cNvPr id="9" name="Rectangle: Rounded Corners 8">
            <a:extLst>
              <a:ext uri="{FF2B5EF4-FFF2-40B4-BE49-F238E27FC236}">
                <a16:creationId xmlns:a16="http://schemas.microsoft.com/office/drawing/2014/main" id="{05BDD717-DD61-4325-503F-0D446783B160}"/>
              </a:ext>
            </a:extLst>
          </p:cNvPr>
          <p:cNvSpPr/>
          <p:nvPr/>
        </p:nvSpPr>
        <p:spPr>
          <a:xfrm>
            <a:off x="6324600" y="1473200"/>
            <a:ext cx="5334000" cy="4241800"/>
          </a:xfrm>
          <a:prstGeom prst="roundRect">
            <a:avLst/>
          </a:prstGeom>
          <a:solidFill>
            <a:srgbClr val="FFF3DE"/>
          </a:solidFill>
          <a:ln w="1905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AFB0E151-443D-AB73-17CC-0F3312C03B58}"/>
              </a:ext>
            </a:extLst>
          </p:cNvPr>
          <p:cNvSpPr/>
          <p:nvPr/>
        </p:nvSpPr>
        <p:spPr>
          <a:xfrm>
            <a:off x="6553200" y="1676400"/>
            <a:ext cx="2362200" cy="304800"/>
          </a:xfrm>
          <a:prstGeom prst="roundRect">
            <a:avLst/>
          </a:prstGeom>
          <a:solidFill>
            <a:srgbClr val="D9A64E"/>
          </a:solidFill>
          <a:ln w="635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B56F2C4-577F-6B2D-FF39-63FAC40F5260}"/>
              </a:ext>
            </a:extLst>
          </p:cNvPr>
          <p:cNvSpPr txBox="1"/>
          <p:nvPr/>
        </p:nvSpPr>
        <p:spPr>
          <a:xfrm>
            <a:off x="6616700" y="1701800"/>
            <a:ext cx="2235200" cy="276999"/>
          </a:xfrm>
          <a:prstGeom prst="rect">
            <a:avLst/>
          </a:prstGeom>
          <a:noFill/>
        </p:spPr>
        <p:txBody>
          <a:bodyPr vert="horz" wrap="square" lIns="0" tIns="0" rIns="0" bIns="0" rtlCol="0" anchor="ctr">
            <a:noAutofit/>
          </a:bodyPr>
          <a:lstStyle/>
          <a:p>
            <a:pPr algn="ctr"/>
            <a:r>
              <a:rPr lang="en-US" sz="1100" b="1">
                <a:solidFill>
                  <a:srgbClr val="FFFFFF"/>
                </a:solidFill>
                <a:latin typeface="Aptos" panose="020B0004020202020204" pitchFamily="34" charset="0"/>
              </a:rPr>
              <a:t>Traversal 02-05</a:t>
            </a:r>
          </a:p>
        </p:txBody>
      </p:sp>
      <p:sp>
        <p:nvSpPr>
          <p:cNvPr id="12" name="TextBox 11">
            <a:extLst>
              <a:ext uri="{FF2B5EF4-FFF2-40B4-BE49-F238E27FC236}">
                <a16:creationId xmlns:a16="http://schemas.microsoft.com/office/drawing/2014/main" id="{934398DA-3FF9-0562-FB03-7767765AAB8A}"/>
              </a:ext>
            </a:extLst>
          </p:cNvPr>
          <p:cNvSpPr txBox="1"/>
          <p:nvPr/>
        </p:nvSpPr>
        <p:spPr>
          <a:xfrm>
            <a:off x="6553200" y="2209800"/>
            <a:ext cx="4876800" cy="276999"/>
          </a:xfrm>
          <a:prstGeom prst="rect">
            <a:avLst/>
          </a:prstGeom>
          <a:noFill/>
        </p:spPr>
        <p:txBody>
          <a:bodyPr vert="horz" wrap="square" lIns="0" tIns="0" rIns="0" bIns="0" rtlCol="0" anchor="t">
            <a:noAutofit/>
          </a:bodyPr>
          <a:lstStyle/>
          <a:p>
            <a:r>
              <a:rPr lang="en-US" sz="1300">
                <a:solidFill>
                  <a:srgbClr val="102A4D"/>
                </a:solidFill>
                <a:latin typeface="Aptos" panose="020B0004020202020204" pitchFamily="34" charset="0"/>
              </a:rPr>
              <a:t>Primary target SAST: 0/5 resolved
Primary security and functional suites: all 5 candidates passed
Supplement:
- Five executable security cases pass per candidate
- PATH-S06 symlink case remains inconclusive
- Traversal 03 fails R01-R03
- Traversal 05 fails R03
Human result: request more testing; no symlink-safety claim.</a:t>
            </a:r>
          </a:p>
        </p:txBody>
      </p:sp>
      <p:sp>
        <p:nvSpPr>
          <p:cNvPr id="13" name="Rectangle: Rounded Corners 12">
            <a:extLst>
              <a:ext uri="{FF2B5EF4-FFF2-40B4-BE49-F238E27FC236}">
                <a16:creationId xmlns:a16="http://schemas.microsoft.com/office/drawing/2014/main" id="{7B380F46-2ACC-8C8F-727D-7276B3FBA8C1}"/>
              </a:ext>
            </a:extLst>
          </p:cNvPr>
          <p:cNvSpPr/>
          <p:nvPr/>
        </p:nvSpPr>
        <p:spPr>
          <a:xfrm>
            <a:off x="1841500" y="5969000"/>
            <a:ext cx="8509000" cy="431800"/>
          </a:xfrm>
          <a:prstGeom prst="roundRect">
            <a:avLst/>
          </a:prstGeom>
          <a:solidFill>
            <a:srgbClr val="FFFFFF"/>
          </a:solidFill>
          <a:ln w="1270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3FF03994-9F01-7AC8-3E37-18B7A028265C}"/>
              </a:ext>
            </a:extLst>
          </p:cNvPr>
          <p:cNvSpPr txBox="1"/>
          <p:nvPr/>
        </p:nvSpPr>
        <p:spPr>
          <a:xfrm>
            <a:off x="2032000" y="6045200"/>
            <a:ext cx="8128000" cy="276999"/>
          </a:xfrm>
          <a:prstGeom prst="rect">
            <a:avLst/>
          </a:prstGeom>
          <a:noFill/>
        </p:spPr>
        <p:txBody>
          <a:bodyPr vert="horz" wrap="square" lIns="0" tIns="0" rIns="0" bIns="0" rtlCol="0" anchor="t">
            <a:noAutofit/>
          </a:bodyPr>
          <a:lstStyle/>
          <a:p>
            <a:pPr algn="ctr"/>
            <a:r>
              <a:rPr lang="en-US" sz="1150" b="1">
                <a:solidFill>
                  <a:srgbClr val="0B2447"/>
                </a:solidFill>
                <a:latin typeface="Aptos" panose="020B0004020202020204" pitchFamily="34" charset="0"/>
              </a:rPr>
              <a:t>Full matrices and rationales: Video-III-15-candidate-evidence-appendix.pdf</a:t>
            </a:r>
          </a:p>
        </p:txBody>
      </p:sp>
      <p:sp>
        <p:nvSpPr>
          <p:cNvPr id="15" name="TextBox 14">
            <a:extLst>
              <a:ext uri="{FF2B5EF4-FFF2-40B4-BE49-F238E27FC236}">
                <a16:creationId xmlns:a16="http://schemas.microsoft.com/office/drawing/2014/main" id="{C6BF47E4-5EBF-278F-4C80-B4675DD03B2E}"/>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BACKUP | CS6727 | FixProof Video III</a:t>
            </a:r>
          </a:p>
        </p:txBody>
      </p:sp>
      <p:sp>
        <p:nvSpPr>
          <p:cNvPr id="16" name="TextBox 15">
            <a:extLst>
              <a:ext uri="{FF2B5EF4-FFF2-40B4-BE49-F238E27FC236}">
                <a16:creationId xmlns:a16="http://schemas.microsoft.com/office/drawing/2014/main" id="{3A8A0685-1EC8-1813-4398-8810DC53BED0}"/>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9</a:t>
            </a:r>
          </a:p>
        </p:txBody>
      </p:sp>
    </p:spTree>
    <p:extLst>
      <p:ext uri="{BB962C8B-B14F-4D97-AF65-F5344CB8AC3E}">
        <p14:creationId xmlns:p14="http://schemas.microsoft.com/office/powerpoint/2010/main" val="27908259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1792</Words>
  <Application>Microsoft Office PowerPoint</Application>
  <PresentationFormat>Widescreen</PresentationFormat>
  <Paragraphs>190</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Tony Tran</dc:creator>
  <cp:lastModifiedBy>Tony Tran</cp:lastModifiedBy>
  <cp:revision>2</cp:revision>
  <dcterms:created xsi:type="dcterms:W3CDTF">2026-09-24T15:35:30Z</dcterms:created>
  <dcterms:modified xsi:type="dcterms:W3CDTF">2026-09-29T16:04:12Z</dcterms:modified>
</cp:coreProperties>
</file>