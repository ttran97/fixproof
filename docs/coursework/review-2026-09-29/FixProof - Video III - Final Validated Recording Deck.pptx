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32" y="1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A0148-9966-4AB0-8C8D-9FD9BAFA14F6}"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33430-4F69-4C9A-9580-5A9D9A40C5BC}" type="slidenum">
              <a:rPr lang="en-US" smtClean="0"/>
              <a:t>‹#›</a:t>
            </a:fld>
            <a:endParaRPr lang="en-US"/>
          </a:p>
        </p:txBody>
      </p:sp>
    </p:spTree>
    <p:extLst>
      <p:ext uri="{BB962C8B-B14F-4D97-AF65-F5344CB8AC3E}">
        <p14:creationId xmlns:p14="http://schemas.microsoft.com/office/powerpoint/2010/main" val="41245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Opening: FixProof is an evidence-first workflow for evaluating AI-generated vulnerability repairs. This update focuses on evidence that changed later human review. The study uses three controlled Express fixtures, so the results support the workflow design rather than a production repair-success rate.</a:t>
            </a:r>
          </a:p>
        </p:txBody>
      </p:sp>
      <p:sp>
        <p:nvSpPr>
          <p:cNvPr id="4" name="Slide Number Placeholder 3"/>
          <p:cNvSpPr>
            <a:spLocks noGrp="1"/>
          </p:cNvSpPr>
          <p:nvPr>
            <p:ph type="sldNum" sz="quarter" idx="5"/>
          </p:nvPr>
        </p:nvSpPr>
        <p:spPr/>
        <p:txBody>
          <a:bodyPr/>
          <a:lstStyle/>
          <a:p>
            <a:fld id="{2B633430-4F69-4C9A-9580-5A9D9A40C5BC}" type="slidenum">
              <a:rPr lang="en-US" smtClean="0"/>
              <a:t>1</a:t>
            </a:fld>
            <a:endParaRPr lang="en-US"/>
          </a:p>
        </p:txBody>
      </p:sp>
    </p:spTree>
    <p:extLst>
      <p:ext uri="{BB962C8B-B14F-4D97-AF65-F5344CB8AC3E}">
        <p14:creationId xmlns:p14="http://schemas.microsoft.com/office/powerpoint/2010/main" val="95295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asks whether multi-stage evidence can identify failed or behavior-changing patches that a SAST-only decision could classify as successful. The benchmark is intentionally small: one Express application for each of three CWEs, with five scheduled initial calls per application. I held the model, prompt template, tool setting, and call schedule constant. The model could not run a terminal, browser, scanner, application, or tests; it only proposed code from the frozen prompt. FixProof validated each saved candidate separately. Sampling used provider defaults and no seed, so generated outputs were not deterministic. The results describe these three applications and do not estimate production performance.</a:t>
            </a:r>
          </a:p>
        </p:txBody>
      </p:sp>
      <p:sp>
        <p:nvSpPr>
          <p:cNvPr id="4" name="Slide Number Placeholder 3"/>
          <p:cNvSpPr>
            <a:spLocks noGrp="1"/>
          </p:cNvSpPr>
          <p:nvPr>
            <p:ph type="sldNum" sz="quarter" idx="5"/>
          </p:nvPr>
        </p:nvSpPr>
        <p:spPr/>
        <p:txBody>
          <a:bodyPr/>
          <a:lstStyle/>
          <a:p>
            <a:fld id="{2B633430-4F69-4C9A-9580-5A9D9A40C5BC}" type="slidenum">
              <a:rPr lang="en-US" smtClean="0"/>
              <a:t>2</a:t>
            </a:fld>
            <a:endParaRPr lang="en-US"/>
          </a:p>
        </p:txBody>
      </p:sp>
    </p:spTree>
    <p:extLst>
      <p:ext uri="{BB962C8B-B14F-4D97-AF65-F5344CB8AC3E}">
        <p14:creationId xmlns:p14="http://schemas.microsoft.com/office/powerpoint/2010/main" val="322015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Walk left to right through primary-v1: controlled fixtures, a focused repair prompt, a copied workspace, separate validators, and deterministic policy. Every automated outcome is preserved in the primary record. Cases selected for review branch from policy to human review, and the verdict and rationale return to that record. Supplemental-v1 later reused the saved baseline and 15 candidates, made no new model calls, and ran cases frozen in the project's internal registry. Separate outcomes and the original primary evidence inform a later human follow-up. That follow-up qualifies the result without rewriting primary-v1. Copied workspaces preserve study inputs; they are not security sandboxes.</a:t>
            </a:r>
          </a:p>
        </p:txBody>
      </p:sp>
      <p:sp>
        <p:nvSpPr>
          <p:cNvPr id="4" name="Slide Number Placeholder 3"/>
          <p:cNvSpPr>
            <a:spLocks noGrp="1"/>
          </p:cNvSpPr>
          <p:nvPr>
            <p:ph type="sldNum" sz="quarter" idx="5"/>
          </p:nvPr>
        </p:nvSpPr>
        <p:spPr/>
        <p:txBody>
          <a:bodyPr/>
          <a:lstStyle/>
          <a:p>
            <a:fld id="{2B633430-4F69-4C9A-9580-5A9D9A40C5BC}" type="slidenum">
              <a:rPr lang="en-US" smtClean="0"/>
              <a:t>3</a:t>
            </a:fld>
            <a:endParaRPr lang="en-US"/>
          </a:p>
        </p:txBody>
      </p:sp>
    </p:spTree>
    <p:extLst>
      <p:ext uri="{BB962C8B-B14F-4D97-AF65-F5344CB8AC3E}">
        <p14:creationId xmlns:p14="http://schemas.microsoft.com/office/powerpoint/2010/main" val="229646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primary protocol scheduled five calls for each fixture and required all 15. Every candidate passed its complete frozen primary security and functional suite. Only the five SQLi targets disappeared from SAST. XSS and traversal retained their findings while runtime checks passed, producing ten SAST/runtime disagreements and human adjudication. The pass columns count candidates, not individual test cases.</a:t>
            </a:r>
          </a:p>
        </p:txBody>
      </p:sp>
      <p:sp>
        <p:nvSpPr>
          <p:cNvPr id="4" name="Slide Number Placeholder 3"/>
          <p:cNvSpPr>
            <a:spLocks noGrp="1"/>
          </p:cNvSpPr>
          <p:nvPr>
            <p:ph type="sldNum" sz="quarter" idx="5"/>
          </p:nvPr>
        </p:nvSpPr>
        <p:spPr/>
        <p:txBody>
          <a:bodyPr/>
          <a:lstStyle/>
          <a:p>
            <a:fld id="{2B633430-4F69-4C9A-9580-5A9D9A40C5BC}" type="slidenum">
              <a:rPr lang="en-US" smtClean="0"/>
              <a:t>4</a:t>
            </a:fld>
            <a:endParaRPr lang="en-US"/>
          </a:p>
        </p:txBody>
      </p:sp>
    </p:spTree>
    <p:extLst>
      <p:ext uri="{BB962C8B-B14F-4D97-AF65-F5344CB8AC3E}">
        <p14:creationId xmlns:p14="http://schemas.microsoft.com/office/powerpoint/2010/main" val="2607306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supplement first characterized each vulnerable baseline, then applied the same relevant cases to the five saved candidates for that CWE. The 28 case definitions were recorded and frozen in the project's internal registry before candidate execution. The 140 observations are case-level outcomes, not 140 patches. Security, parity, and robustness answer different questions, so I report their denominators separately. Five traversal symlink observations remain inconclusive, not passed.</a:t>
            </a:r>
          </a:p>
        </p:txBody>
      </p:sp>
      <p:sp>
        <p:nvSpPr>
          <p:cNvPr id="4" name="Slide Number Placeholder 3"/>
          <p:cNvSpPr>
            <a:spLocks noGrp="1"/>
          </p:cNvSpPr>
          <p:nvPr>
            <p:ph type="sldNum" sz="quarter" idx="5"/>
          </p:nvPr>
        </p:nvSpPr>
        <p:spPr/>
        <p:txBody>
          <a:bodyPr/>
          <a:lstStyle/>
          <a:p>
            <a:fld id="{2B633430-4F69-4C9A-9580-5A9D9A40C5BC}" type="slidenum">
              <a:rPr lang="en-US" smtClean="0"/>
              <a:t>5</a:t>
            </a:fld>
            <a:endParaRPr lang="en-US"/>
          </a:p>
        </p:txBody>
      </p:sp>
    </p:spTree>
    <p:extLst>
      <p:ext uri="{BB962C8B-B14F-4D97-AF65-F5344CB8AC3E}">
        <p14:creationId xmlns:p14="http://schemas.microsoft.com/office/powerpoint/2010/main" val="325600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Switch to https://fixproof.netlify.app/. Explain that this is a sanitized, read-only presentation layer over the saved evidence. Filter to Reflected XSS and open XSS 04. Point to the frozen primary result, the XSS-P01 parity failure, the original and later human records, and the patch excerpt. If asked where the application ran, explain that validators launched the saved candidate app/app.js on 127.0.0.1 inside a disposable workspace copy. The website displays results; it does not execute the app, replay tests, or call the model.</a:t>
            </a:r>
          </a:p>
        </p:txBody>
      </p:sp>
      <p:sp>
        <p:nvSpPr>
          <p:cNvPr id="4" name="Slide Number Placeholder 3"/>
          <p:cNvSpPr>
            <a:spLocks noGrp="1"/>
          </p:cNvSpPr>
          <p:nvPr>
            <p:ph type="sldNum" sz="quarter" idx="5"/>
          </p:nvPr>
        </p:nvSpPr>
        <p:spPr/>
        <p:txBody>
          <a:bodyPr/>
          <a:lstStyle/>
          <a:p>
            <a:fld id="{2B633430-4F69-4C9A-9580-5A9D9A40C5BC}" type="slidenum">
              <a:rPr lang="en-US" smtClean="0"/>
              <a:t>6</a:t>
            </a:fld>
            <a:endParaRPr lang="en-US"/>
          </a:p>
        </p:txBody>
      </p:sp>
    </p:spTree>
    <p:extLst>
      <p:ext uri="{BB962C8B-B14F-4D97-AF65-F5344CB8AC3E}">
        <p14:creationId xmlns:p14="http://schemas.microsoft.com/office/powerpoint/2010/main" val="216076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is the central comparison. Both candidates encode HTML and blocked all three registered supplemental XSS attacks. XSS 03 uses String(value), so an omitted name remains the text undefined and passes all five parity cases. XSS 04 uses nullish coalescing to replace a missing name with an empty string, so XSS-P01 fails exact parity. The later rejection is bounded to the frozen parity criterion; it does not mean the registered XSS attacks still worked.</a:t>
            </a:r>
          </a:p>
        </p:txBody>
      </p:sp>
      <p:sp>
        <p:nvSpPr>
          <p:cNvPr id="4" name="Slide Number Placeholder 3"/>
          <p:cNvSpPr>
            <a:spLocks noGrp="1"/>
          </p:cNvSpPr>
          <p:nvPr>
            <p:ph type="sldNum" sz="quarter" idx="5"/>
          </p:nvPr>
        </p:nvSpPr>
        <p:spPr/>
        <p:txBody>
          <a:bodyPr/>
          <a:lstStyle/>
          <a:p>
            <a:fld id="{2B633430-4F69-4C9A-9580-5A9D9A40C5BC}" type="slidenum">
              <a:rPr lang="en-US" smtClean="0"/>
              <a:t>7</a:t>
            </a:fld>
            <a:endParaRPr lang="en-US"/>
          </a:p>
        </p:txBody>
      </p:sp>
    </p:spTree>
    <p:extLst>
      <p:ext uri="{BB962C8B-B14F-4D97-AF65-F5344CB8AC3E}">
        <p14:creationId xmlns:p14="http://schemas.microsoft.com/office/powerpoint/2010/main" val="2292338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ten original reviews and fourteen later records remain separate evidence layers. The later records include five rejections, five bounded SQLi acceptances, and four traversal requests for more testing; no primary result was overwritten. For Progress Report 4, I will summarize Video III feedback, freeze any new test plan before execution, attempt PATH-S06 in a symlink-capable environment, and verify controls, failure handling, and reproduction. My feedback question is: which next step would increase confidence more: testing FixProof on another vulnerable application or completing the path-traversal test that Windows could not run? Progress Report 4 is due October 18 according to the supplied schedule; I will confirm the live Canvas assignment. Codex and ChatGPT assisted implementation, analysis, documentation, and presentation preparation; separate saved OpenAI API calls proposed experimental repairs. I made the recorded human decisions and remain responsible for the claims.</a:t>
            </a:r>
          </a:p>
        </p:txBody>
      </p:sp>
      <p:sp>
        <p:nvSpPr>
          <p:cNvPr id="4" name="Slide Number Placeholder 3"/>
          <p:cNvSpPr>
            <a:spLocks noGrp="1"/>
          </p:cNvSpPr>
          <p:nvPr>
            <p:ph type="sldNum" sz="quarter" idx="5"/>
          </p:nvPr>
        </p:nvSpPr>
        <p:spPr/>
        <p:txBody>
          <a:bodyPr/>
          <a:lstStyle/>
          <a:p>
            <a:fld id="{2B633430-4F69-4C9A-9580-5A9D9A40C5BC}" type="slidenum">
              <a:rPr lang="en-US" smtClean="0"/>
              <a:t>8</a:t>
            </a:fld>
            <a:endParaRPr lang="en-US"/>
          </a:p>
        </p:txBody>
      </p:sp>
    </p:spTree>
    <p:extLst>
      <p:ext uri="{BB962C8B-B14F-4D97-AF65-F5344CB8AC3E}">
        <p14:creationId xmlns:p14="http://schemas.microsoft.com/office/powerpoint/2010/main" val="2677881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Backup only. Use this slide if someone asks why SQLi was accepted despite SQL-R01 or why traversal requests more testing. Keep security, parity, and robustness interpretations separate. SQL-R01 is a low-impact robustness failure under Tony's bounded criterion. PATH-S06 is inconclusive and prevents a complete symlink-safety claim.</a:t>
            </a:r>
          </a:p>
        </p:txBody>
      </p:sp>
      <p:sp>
        <p:nvSpPr>
          <p:cNvPr id="4" name="Slide Number Placeholder 3"/>
          <p:cNvSpPr>
            <a:spLocks noGrp="1"/>
          </p:cNvSpPr>
          <p:nvPr>
            <p:ph type="sldNum" sz="quarter" idx="5"/>
          </p:nvPr>
        </p:nvSpPr>
        <p:spPr/>
        <p:txBody>
          <a:bodyPr/>
          <a:lstStyle/>
          <a:p>
            <a:fld id="{2B633430-4F69-4C9A-9580-5A9D9A40C5BC}" type="slidenum">
              <a:rPr lang="en-US" smtClean="0"/>
              <a:t>9</a:t>
            </a:fld>
            <a:endParaRPr lang="en-US"/>
          </a:p>
        </p:txBody>
      </p:sp>
    </p:spTree>
    <p:extLst>
      <p:ext uri="{BB962C8B-B14F-4D97-AF65-F5344CB8AC3E}">
        <p14:creationId xmlns:p14="http://schemas.microsoft.com/office/powerpoint/2010/main" val="129657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F08-AD8B-A503-44E6-94290D91F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BFE05-5CAD-936E-70C5-53F10AF4E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476CD-20D7-1745-992B-AA6F59549E20}"/>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7CDC604E-36B1-C22F-8D75-3394549F0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46953-1C1D-D6EA-A2C4-D6F06D684FD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897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0994-CE90-A093-CD9D-6313029D5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DE0EF-583E-DC62-9D3B-39A63A63F6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48C40-53F3-3610-9465-9BAEB8A196F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C5058BD4-A6F1-D28B-B9B7-849565833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F9209-2B2E-F715-DFD4-9AE273EAEDF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59393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2483-CEA6-0492-8FFB-90D8506C7C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7F4EDD-5406-94C3-FCB2-E416D0B342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90EA26-D080-9D5A-5565-574FDF9B5FC2}"/>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4257B6F-B5F7-F59B-1ACE-C26E2007C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64D5D-36FB-B0FA-7D41-B477B5224326}"/>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64999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EC6A-18D4-C422-2D98-42C7F976F9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523865-CBDC-56E7-00F0-C46CD723A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A904EC-EB4C-80F1-8D6F-5B0D742992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DA5934-A2E5-3B5A-C368-3BF425981DC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D4EB7093-3A61-A47A-3B9A-581C773E0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F47EC-FAAC-A373-DA84-0C08C31C2692}"/>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24358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A65B-7DC7-6A27-3A8F-BBBAEBDBB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6071C-13FD-E7F7-C05C-4246FB888E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F4BF58-5A82-0FB3-661C-8601EA8324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2ED7A-8BC4-9EF6-E5BD-8F082E4B6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0C154-8175-3B18-CBCB-7A05A60BA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9B297-9522-1475-1B7A-79FF3241B3E3}"/>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8" name="Footer Placeholder 7">
            <a:extLst>
              <a:ext uri="{FF2B5EF4-FFF2-40B4-BE49-F238E27FC236}">
                <a16:creationId xmlns:a16="http://schemas.microsoft.com/office/drawing/2014/main" id="{A8387045-247A-5403-54D1-25AEE544AC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628B2-CE92-901D-5C37-1366A6EB7AD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323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504A-2043-05BE-310F-DB5384A077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425041-2CAF-A867-6D62-05ED25A87C8A}"/>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4" name="Footer Placeholder 3">
            <a:extLst>
              <a:ext uri="{FF2B5EF4-FFF2-40B4-BE49-F238E27FC236}">
                <a16:creationId xmlns:a16="http://schemas.microsoft.com/office/drawing/2014/main" id="{C404C01C-C159-1534-5FF5-4A640D0054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6E5F2-85BC-1DCD-C108-7F168C21508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17838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50F73-BC52-2A07-7E21-2FABD34D294B}"/>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3" name="Footer Placeholder 2">
            <a:extLst>
              <a:ext uri="{FF2B5EF4-FFF2-40B4-BE49-F238E27FC236}">
                <a16:creationId xmlns:a16="http://schemas.microsoft.com/office/drawing/2014/main" id="{FBF83E7B-3CE4-3470-2B4A-D14B09B99B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71C21-EFF8-A97F-74F2-8E99EF2BF887}"/>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44889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1CF6-595B-8130-53DA-579C6586C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7ADAC4-A9C4-6B97-2F14-26640BC69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AD355-0945-9AEB-8181-0A1F4ECBA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D2CC1-B283-D62E-7D7E-7BACA76C939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8425DD1A-B34E-8255-98C6-F636B3CAC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51D0E-9697-D9BA-41DA-E8120997647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463824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A4C9-22F7-DAE2-B113-CADC72144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A8DBA-2E7B-85A9-0569-35552B4683E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C5EA76-37CC-CF87-CD77-AFA15D317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50BA2-F16D-B7F4-5517-11D9D658BAF5}"/>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F3011F4E-2CA2-30CC-702E-941EE9029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57EED-C9E8-E9C2-6499-4121390252C0}"/>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34911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B97E1-40D8-009D-4DB1-91869BEC7B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3E245B-32F4-BE63-56DD-E45FD2A84E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7EE8E-28EB-D30F-722F-F251E976185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6DAD406B-BAAF-8554-E0CD-4931A7D6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52B3D-8535-D1D0-7220-9FD08A99739C}"/>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76012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449C9C-DFCE-D82F-77BB-E5FACAABB3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799BD-D2E2-C57B-0ABE-B0CC9B93F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17AD8-5208-8EF6-7072-3615822D3616}"/>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125D1D0D-6FEF-F472-2D2A-E7116B992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7CF78-A9D5-27D0-F1E5-549B24833C1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032579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6A8166-D2E3-ECB8-9483-155AF4050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B54FAD-5401-CC8D-8D24-502F0C78F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DB7A6-703B-2743-A465-99FDEE7C3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9257176-39D6-3407-4343-36752D88C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44A64B-C7C1-33A1-5A96-941C65C3B4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90BA7C-6A98-4F12-A50D-3D5C8A272CFD}" type="slidenum">
              <a:rPr lang="en-US" smtClean="0"/>
              <a:t>‹#›</a:t>
            </a:fld>
            <a:endParaRPr lang="en-US"/>
          </a:p>
        </p:txBody>
      </p:sp>
    </p:spTree>
    <p:extLst>
      <p:ext uri="{BB962C8B-B14F-4D97-AF65-F5344CB8AC3E}">
        <p14:creationId xmlns:p14="http://schemas.microsoft.com/office/powerpoint/2010/main" val="3432823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95C3D9-B280-299F-AFD3-3A4414CC515E}"/>
              </a:ext>
            </a:extLst>
          </p:cNvPr>
          <p:cNvSpPr/>
          <p:nvPr/>
        </p:nvSpPr>
        <p:spPr>
          <a:xfrm>
            <a:off x="0" y="0"/>
            <a:ext cx="279400" cy="6858000"/>
          </a:xfrm>
          <a:prstGeom prst="rect">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F9AEA10-7E4C-FBFD-227E-8F66098ECF3C}"/>
              </a:ext>
            </a:extLst>
          </p:cNvPr>
          <p:cNvSpPr/>
          <p:nvPr/>
        </p:nvSpPr>
        <p:spPr>
          <a:xfrm>
            <a:off x="787400" y="965200"/>
            <a:ext cx="2286000" cy="304800"/>
          </a:xfrm>
          <a:prstGeom prst="roundRect">
            <a:avLst/>
          </a:prstGeom>
          <a:solidFill>
            <a:srgbClr val="EAF1FA"/>
          </a:solidFill>
          <a:ln w="6350">
            <a:solidFill>
              <a:srgbClr val="EAF1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BA0ED0-A4AC-4593-2F31-66A49BF2513F}"/>
              </a:ext>
            </a:extLst>
          </p:cNvPr>
          <p:cNvSpPr txBox="1"/>
          <p:nvPr/>
        </p:nvSpPr>
        <p:spPr>
          <a:xfrm>
            <a:off x="850900" y="990600"/>
            <a:ext cx="2159000" cy="276999"/>
          </a:xfrm>
          <a:prstGeom prst="rect">
            <a:avLst/>
          </a:prstGeom>
          <a:noFill/>
        </p:spPr>
        <p:txBody>
          <a:bodyPr vert="horz" wrap="square" lIns="0" tIns="0" rIns="0" bIns="0" rtlCol="0" anchor="ctr">
            <a:noAutofit/>
          </a:bodyPr>
          <a:lstStyle/>
          <a:p>
            <a:pPr algn="ctr"/>
            <a:r>
              <a:rPr lang="en-US" sz="1100" b="1">
                <a:solidFill>
                  <a:srgbClr val="0B2447"/>
                </a:solidFill>
                <a:latin typeface="Aptos" panose="020B0004020202020204" pitchFamily="34" charset="0"/>
              </a:rPr>
              <a:t>POST VIDEO III | OCT 6</a:t>
            </a:r>
          </a:p>
        </p:txBody>
      </p:sp>
      <p:sp>
        <p:nvSpPr>
          <p:cNvPr id="5" name="TextBox 4">
            <a:extLst>
              <a:ext uri="{FF2B5EF4-FFF2-40B4-BE49-F238E27FC236}">
                <a16:creationId xmlns:a16="http://schemas.microsoft.com/office/drawing/2014/main" id="{E23C76C0-98BD-AA55-5D5C-AD45C330B8D5}"/>
              </a:ext>
            </a:extLst>
          </p:cNvPr>
          <p:cNvSpPr txBox="1"/>
          <p:nvPr/>
        </p:nvSpPr>
        <p:spPr>
          <a:xfrm>
            <a:off x="762000" y="1574800"/>
            <a:ext cx="10160000" cy="276999"/>
          </a:xfrm>
          <a:prstGeom prst="rect">
            <a:avLst/>
          </a:prstGeom>
          <a:noFill/>
        </p:spPr>
        <p:txBody>
          <a:bodyPr vert="horz" wrap="square" lIns="0" tIns="0" rIns="0" bIns="0" rtlCol="0" anchor="t">
            <a:noAutofit/>
          </a:bodyPr>
          <a:lstStyle/>
          <a:p>
            <a:r>
              <a:rPr lang="en-US" sz="4300" b="1">
                <a:solidFill>
                  <a:srgbClr val="0B2447"/>
                </a:solidFill>
                <a:latin typeface="Aptos" panose="020B0004020202020204" pitchFamily="34" charset="0"/>
              </a:rPr>
              <a:t>FIXPROOF</a:t>
            </a:r>
          </a:p>
        </p:txBody>
      </p:sp>
      <p:sp>
        <p:nvSpPr>
          <p:cNvPr id="6" name="TextBox 5">
            <a:extLst>
              <a:ext uri="{FF2B5EF4-FFF2-40B4-BE49-F238E27FC236}">
                <a16:creationId xmlns:a16="http://schemas.microsoft.com/office/drawing/2014/main" id="{8D453255-D07B-09BB-3D26-93F1FD1088B8}"/>
              </a:ext>
            </a:extLst>
          </p:cNvPr>
          <p:cNvSpPr txBox="1"/>
          <p:nvPr/>
        </p:nvSpPr>
        <p:spPr>
          <a:xfrm>
            <a:off x="762000" y="2413000"/>
            <a:ext cx="10414000" cy="276999"/>
          </a:xfrm>
          <a:prstGeom prst="rect">
            <a:avLst/>
          </a:prstGeom>
          <a:noFill/>
        </p:spPr>
        <p:txBody>
          <a:bodyPr vert="horz" wrap="square" lIns="0" tIns="0" rIns="0" bIns="0" rtlCol="0" anchor="t">
            <a:noAutofit/>
          </a:bodyPr>
          <a:lstStyle/>
          <a:p>
            <a:r>
              <a:rPr lang="en-US" sz="2900">
                <a:solidFill>
                  <a:srgbClr val="526C8E"/>
                </a:solidFill>
                <a:latin typeface="Aptos" panose="020B0004020202020204" pitchFamily="34" charset="0"/>
              </a:rPr>
              <a:t>Evidence that changed the review</a:t>
            </a:r>
          </a:p>
        </p:txBody>
      </p:sp>
      <p:sp>
        <p:nvSpPr>
          <p:cNvPr id="7" name="TextBox 6">
            <a:extLst>
              <a:ext uri="{FF2B5EF4-FFF2-40B4-BE49-F238E27FC236}">
                <a16:creationId xmlns:a16="http://schemas.microsoft.com/office/drawing/2014/main" id="{833F1633-41D7-1948-A01B-FA72BD983976}"/>
              </a:ext>
            </a:extLst>
          </p:cNvPr>
          <p:cNvSpPr txBox="1"/>
          <p:nvPr/>
        </p:nvSpPr>
        <p:spPr>
          <a:xfrm>
            <a:off x="787400" y="3505200"/>
            <a:ext cx="9144000" cy="276999"/>
          </a:xfrm>
          <a:prstGeom prst="rect">
            <a:avLst/>
          </a:prstGeom>
          <a:noFill/>
        </p:spPr>
        <p:txBody>
          <a:bodyPr vert="horz" wrap="square" lIns="0" tIns="0" rIns="0" bIns="0" rtlCol="0" anchor="t">
            <a:noAutofit/>
          </a:bodyPr>
          <a:lstStyle/>
          <a:p>
            <a:r>
              <a:rPr lang="en-US" sz="2100">
                <a:solidFill>
                  <a:srgbClr val="102A4D"/>
                </a:solidFill>
                <a:latin typeface="Aptos" panose="020B0004020202020204" pitchFamily="34" charset="0"/>
              </a:rPr>
              <a:t>A frozen primary study, later supplemental evidence, and bounded human decisions</a:t>
            </a:r>
          </a:p>
        </p:txBody>
      </p:sp>
      <p:sp>
        <p:nvSpPr>
          <p:cNvPr id="8" name="Rectangle: Rounded Corners 7">
            <a:extLst>
              <a:ext uri="{FF2B5EF4-FFF2-40B4-BE49-F238E27FC236}">
                <a16:creationId xmlns:a16="http://schemas.microsoft.com/office/drawing/2014/main" id="{FC6F7B36-D81F-B623-A348-70C4C1A30229}"/>
              </a:ext>
            </a:extLst>
          </p:cNvPr>
          <p:cNvSpPr/>
          <p:nvPr/>
        </p:nvSpPr>
        <p:spPr>
          <a:xfrm>
            <a:off x="787400" y="4851400"/>
            <a:ext cx="8382000" cy="8890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94B534-506F-9687-08C3-40D38B3CC228}"/>
              </a:ext>
            </a:extLst>
          </p:cNvPr>
          <p:cNvSpPr txBox="1"/>
          <p:nvPr/>
        </p:nvSpPr>
        <p:spPr>
          <a:xfrm>
            <a:off x="1016000" y="5041900"/>
            <a:ext cx="7937500" cy="276999"/>
          </a:xfrm>
          <a:prstGeom prst="rect">
            <a:avLst/>
          </a:prstGeom>
          <a:noFill/>
        </p:spPr>
        <p:txBody>
          <a:bodyPr vert="horz" wrap="square" lIns="0" tIns="0" rIns="0" bIns="0" rtlCol="0" anchor="ctr">
            <a:noAutofit/>
          </a:bodyPr>
          <a:lstStyle/>
          <a:p>
            <a:r>
              <a:rPr lang="en-US" sz="1500" b="1">
                <a:solidFill>
                  <a:srgbClr val="0B2447"/>
                </a:solidFill>
                <a:latin typeface="Aptos" panose="020B0004020202020204" pitchFamily="34" charset="0"/>
              </a:rPr>
              <a:t>Python orchestrator | JavaScript/Express fixtures | XSS, SQLi, traversal</a:t>
            </a:r>
          </a:p>
        </p:txBody>
      </p:sp>
      <p:sp>
        <p:nvSpPr>
          <p:cNvPr id="10" name="TextBox 9">
            <a:extLst>
              <a:ext uri="{FF2B5EF4-FFF2-40B4-BE49-F238E27FC236}">
                <a16:creationId xmlns:a16="http://schemas.microsoft.com/office/drawing/2014/main" id="{8728175A-4D44-BC48-C12F-8DC953CA8265}"/>
              </a:ext>
            </a:extLst>
          </p:cNvPr>
          <p:cNvSpPr txBox="1"/>
          <p:nvPr/>
        </p:nvSpPr>
        <p:spPr>
          <a:xfrm>
            <a:off x="787400" y="6045200"/>
            <a:ext cx="7874000" cy="276999"/>
          </a:xfrm>
          <a:prstGeom prst="rect">
            <a:avLst/>
          </a:prstGeom>
          <a:noFill/>
        </p:spPr>
        <p:txBody>
          <a:bodyPr vert="horz" wrap="square" lIns="0" tIns="0" rIns="0" bIns="0" rtlCol="0" anchor="t">
            <a:noAutofit/>
          </a:bodyPr>
          <a:lstStyle/>
          <a:p>
            <a:r>
              <a:rPr lang="en-US" sz="1200">
                <a:solidFill>
                  <a:srgbClr val="6B7F99"/>
                </a:solidFill>
                <a:latin typeface="Aptos" panose="020B0004020202020204" pitchFamily="34" charset="0"/>
              </a:rPr>
              <a:t>Tony Tran | CS6727 Cyber Security Practicum | Fall 2026</a:t>
            </a:r>
          </a:p>
        </p:txBody>
      </p:sp>
      <p:sp>
        <p:nvSpPr>
          <p:cNvPr id="11" name="TextBox 10">
            <a:extLst>
              <a:ext uri="{FF2B5EF4-FFF2-40B4-BE49-F238E27FC236}">
                <a16:creationId xmlns:a16="http://schemas.microsoft.com/office/drawing/2014/main" id="{A89866D1-B6AA-BDC5-D6B6-BC3E85BF6A83}"/>
              </a:ext>
            </a:extLst>
          </p:cNvPr>
          <p:cNvSpPr txBox="1"/>
          <p:nvPr/>
        </p:nvSpPr>
        <p:spPr>
          <a:xfrm>
            <a:off x="10414000" y="5867400"/>
            <a:ext cx="1143000" cy="276999"/>
          </a:xfrm>
          <a:prstGeom prst="rect">
            <a:avLst/>
          </a:prstGeom>
          <a:noFill/>
        </p:spPr>
        <p:txBody>
          <a:bodyPr vert="horz" wrap="square" lIns="0" tIns="0" rIns="0" bIns="0" rtlCol="0" anchor="ctr">
            <a:noAutofit/>
          </a:bodyPr>
          <a:lstStyle/>
          <a:p>
            <a:pPr algn="ctr"/>
            <a:r>
              <a:rPr lang="en-US" sz="1500" b="1">
                <a:solidFill>
                  <a:srgbClr val="0B2447"/>
                </a:solidFill>
                <a:latin typeface="Aptos" panose="020B0004020202020204" pitchFamily="34" charset="0"/>
              </a:rPr>
              <a:t>VIDEO
III</a:t>
            </a:r>
          </a:p>
        </p:txBody>
      </p:sp>
    </p:spTree>
    <p:extLst>
      <p:ext uri="{BB962C8B-B14F-4D97-AF65-F5344CB8AC3E}">
        <p14:creationId xmlns:p14="http://schemas.microsoft.com/office/powerpoint/2010/main" val="428004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B1777-852F-78A9-DCA5-DEAC2E2B1AE3}"/>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1. Research question and bounded scope</a:t>
            </a:r>
          </a:p>
        </p:txBody>
      </p:sp>
      <p:sp>
        <p:nvSpPr>
          <p:cNvPr id="3" name="TextBox 2">
            <a:extLst>
              <a:ext uri="{FF2B5EF4-FFF2-40B4-BE49-F238E27FC236}">
                <a16:creationId xmlns:a16="http://schemas.microsoft.com/office/drawing/2014/main" id="{0F27A942-AAC4-CCF3-5656-4BBF1D9A4184}"/>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What this benchmark measures and what it does not.</a:t>
            </a:r>
            <a:endParaRPr lang="en-US" sz="1300" dirty="0">
              <a:solidFill>
                <a:srgbClr val="526C8E"/>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7B7A1482-36F9-9AE7-C710-DB81FF27D5B0}"/>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D300B519-D7F0-B501-3FF6-DD7C63AE2252}"/>
              </a:ext>
            </a:extLst>
          </p:cNvPr>
          <p:cNvSpPr/>
          <p:nvPr/>
        </p:nvSpPr>
        <p:spPr>
          <a:xfrm>
            <a:off x="533400" y="1473200"/>
            <a:ext cx="7112000" cy="1473200"/>
          </a:xfrm>
          <a:prstGeom prst="roundRect">
            <a:avLst/>
          </a:prstGeom>
          <a:solidFill>
            <a:srgbClr val="FFFFFF"/>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C2F52B-680E-0596-BE1C-9EE970372986}"/>
              </a:ext>
            </a:extLst>
          </p:cNvPr>
          <p:cNvSpPr txBox="1"/>
          <p:nvPr/>
        </p:nvSpPr>
        <p:spPr>
          <a:xfrm>
            <a:off x="762000" y="1676400"/>
            <a:ext cx="66675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RESEARCH QUESTION</a:t>
            </a:r>
          </a:p>
        </p:txBody>
      </p:sp>
      <p:sp>
        <p:nvSpPr>
          <p:cNvPr id="7" name="TextBox 6">
            <a:extLst>
              <a:ext uri="{FF2B5EF4-FFF2-40B4-BE49-F238E27FC236}">
                <a16:creationId xmlns:a16="http://schemas.microsoft.com/office/drawing/2014/main" id="{9B88E852-765C-75F1-FF61-E8619189C59B}"/>
              </a:ext>
            </a:extLst>
          </p:cNvPr>
          <p:cNvSpPr txBox="1"/>
          <p:nvPr/>
        </p:nvSpPr>
        <p:spPr>
          <a:xfrm>
            <a:off x="749300" y="1892299"/>
            <a:ext cx="6604000" cy="276999"/>
          </a:xfrm>
          <a:prstGeom prst="rect">
            <a:avLst/>
          </a:prstGeom>
          <a:noFill/>
        </p:spPr>
        <p:txBody>
          <a:bodyPr vert="horz" wrap="square" lIns="0" tIns="0" rIns="0" bIns="0" rtlCol="0" anchor="t">
            <a:noAutofit/>
          </a:bodyPr>
          <a:lstStyle/>
          <a:p>
            <a:r>
              <a:rPr lang="en-US" sz="2000" b="1">
                <a:solidFill>
                  <a:srgbClr val="0B2447"/>
                </a:solidFill>
                <a:latin typeface="Aptos" panose="020B0004020202020204" pitchFamily="34" charset="0"/>
              </a:rPr>
              <a:t>Can FixProof identify failed or behavior-changing patches that SAST alone could classify as successful?</a:t>
            </a:r>
            <a:endParaRPr lang="en-US" sz="2000" b="1" dirty="0">
              <a:solidFill>
                <a:srgbClr val="0B2447"/>
              </a:solidFill>
              <a:latin typeface="Aptos" panose="020B0004020202020204" pitchFamily="34" charset="0"/>
            </a:endParaRPr>
          </a:p>
        </p:txBody>
      </p:sp>
      <p:sp>
        <p:nvSpPr>
          <p:cNvPr id="8" name="Rectangle: Rounded Corners 7">
            <a:extLst>
              <a:ext uri="{FF2B5EF4-FFF2-40B4-BE49-F238E27FC236}">
                <a16:creationId xmlns:a16="http://schemas.microsoft.com/office/drawing/2014/main" id="{47F4EC24-4823-27F9-A093-05B9CC095272}"/>
              </a:ext>
            </a:extLst>
          </p:cNvPr>
          <p:cNvSpPr/>
          <p:nvPr/>
        </p:nvSpPr>
        <p:spPr>
          <a:xfrm>
            <a:off x="7950200" y="1473200"/>
            <a:ext cx="3708400" cy="14732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E2D6BA-8672-B321-630B-82E8A3C8A3BB}"/>
              </a:ext>
            </a:extLst>
          </p:cNvPr>
          <p:cNvSpPr txBox="1"/>
          <p:nvPr/>
        </p:nvSpPr>
        <p:spPr>
          <a:xfrm>
            <a:off x="8166100" y="1676400"/>
            <a:ext cx="3276600" cy="276999"/>
          </a:xfrm>
          <a:prstGeom prst="rect">
            <a:avLst/>
          </a:prstGeom>
          <a:noFill/>
        </p:spPr>
        <p:txBody>
          <a:bodyPr vert="horz" wrap="square" lIns="0" tIns="0" rIns="0" bIns="0" rtlCol="0" anchor="t">
            <a:noAutofit/>
          </a:bodyPr>
          <a:lstStyle/>
          <a:p>
            <a:r>
              <a:rPr lang="en-US" sz="1100" b="1" dirty="0">
                <a:solidFill>
                  <a:srgbClr val="D9A64E"/>
                </a:solidFill>
                <a:latin typeface="Aptos" panose="020B0004020202020204" pitchFamily="34" charset="0"/>
              </a:rPr>
              <a:t>Study Limit</a:t>
            </a:r>
          </a:p>
        </p:txBody>
      </p:sp>
      <p:sp>
        <p:nvSpPr>
          <p:cNvPr id="10" name="TextBox 9">
            <a:extLst>
              <a:ext uri="{FF2B5EF4-FFF2-40B4-BE49-F238E27FC236}">
                <a16:creationId xmlns:a16="http://schemas.microsoft.com/office/drawing/2014/main" id="{6D47727B-2F1C-3ACE-56F1-1F83CD1D3CE2}"/>
              </a:ext>
            </a:extLst>
          </p:cNvPr>
          <p:cNvSpPr txBox="1"/>
          <p:nvPr/>
        </p:nvSpPr>
        <p:spPr>
          <a:xfrm>
            <a:off x="8166100" y="1892299"/>
            <a:ext cx="3276600" cy="276999"/>
          </a:xfrm>
          <a:prstGeom prst="rect">
            <a:avLst/>
          </a:prstGeom>
          <a:noFill/>
        </p:spPr>
        <p:txBody>
          <a:bodyPr vert="horz" wrap="square" lIns="0" tIns="0" rIns="0" bIns="0" rtlCol="0" anchor="t">
            <a:noAutofit/>
          </a:bodyPr>
          <a:lstStyle/>
          <a:p>
            <a:r>
              <a:rPr lang="en-US" sz="1600" dirty="0"/>
              <a:t>Results describe three controlled Express applications. They do not estimate performance on production software.</a:t>
            </a:r>
            <a:endParaRPr lang="en-US" sz="1700" b="1" dirty="0">
              <a:solidFill>
                <a:srgbClr val="0B2447"/>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B4E55D49-FC7B-56D6-02FD-B8BED3D24054}"/>
              </a:ext>
            </a:extLst>
          </p:cNvPr>
          <p:cNvSpPr/>
          <p:nvPr/>
        </p:nvSpPr>
        <p:spPr>
          <a:xfrm>
            <a:off x="533400" y="3378200"/>
            <a:ext cx="3606800" cy="22606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7BE32A-23CF-D3A9-C870-D10D84C640E9}"/>
              </a:ext>
            </a:extLst>
          </p:cNvPr>
          <p:cNvSpPr txBox="1"/>
          <p:nvPr/>
        </p:nvSpPr>
        <p:spPr>
          <a:xfrm>
            <a:off x="7620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Three fixtures</a:t>
            </a:r>
          </a:p>
        </p:txBody>
      </p:sp>
      <p:sp>
        <p:nvSpPr>
          <p:cNvPr id="13" name="TextBox 12">
            <a:extLst>
              <a:ext uri="{FF2B5EF4-FFF2-40B4-BE49-F238E27FC236}">
                <a16:creationId xmlns:a16="http://schemas.microsoft.com/office/drawing/2014/main" id="{C3CBDC15-1FD3-C9DC-5410-978E148CB239}"/>
              </a:ext>
            </a:extLst>
          </p:cNvPr>
          <p:cNvSpPr txBox="1"/>
          <p:nvPr/>
        </p:nvSpPr>
        <p:spPr>
          <a:xfrm>
            <a:off x="762000" y="4114800"/>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dirty="0">
                <a:solidFill>
                  <a:srgbClr val="102A4D"/>
                </a:solidFill>
                <a:latin typeface="Aptos" panose="020B0004020202020204" pitchFamily="34" charset="0"/>
              </a:rPr>
              <a:t>Reflected XSS
SQL injection
Path traversal</a:t>
            </a:r>
          </a:p>
        </p:txBody>
      </p:sp>
      <p:sp>
        <p:nvSpPr>
          <p:cNvPr id="14" name="Rectangle: Rounded Corners 13">
            <a:extLst>
              <a:ext uri="{FF2B5EF4-FFF2-40B4-BE49-F238E27FC236}">
                <a16:creationId xmlns:a16="http://schemas.microsoft.com/office/drawing/2014/main" id="{A67114B7-93C8-8710-D5C0-C6ACD3AAC613}"/>
              </a:ext>
            </a:extLst>
          </p:cNvPr>
          <p:cNvSpPr/>
          <p:nvPr/>
        </p:nvSpPr>
        <p:spPr>
          <a:xfrm>
            <a:off x="4292600" y="3378200"/>
            <a:ext cx="3606800" cy="22606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A2899E5-78AE-48CD-7528-E632DE1E911C}"/>
              </a:ext>
            </a:extLst>
          </p:cNvPr>
          <p:cNvSpPr txBox="1"/>
          <p:nvPr/>
        </p:nvSpPr>
        <p:spPr>
          <a:xfrm>
            <a:off x="4521200" y="3606800"/>
            <a:ext cx="3149600" cy="276999"/>
          </a:xfrm>
          <a:prstGeom prst="rect">
            <a:avLst/>
          </a:prstGeom>
          <a:noFill/>
        </p:spPr>
        <p:txBody>
          <a:bodyPr vert="horz" wrap="square" lIns="0" tIns="0" rIns="0" bIns="0" rtlCol="0" anchor="t">
            <a:noAutofit/>
          </a:bodyPr>
          <a:lstStyle/>
          <a:p>
            <a:r>
              <a:rPr lang="en-US" sz="1600" b="1"/>
              <a:t>Controlled model setup</a:t>
            </a:r>
            <a:endParaRPr lang="en-US" sz="1700" b="1" dirty="0">
              <a:solidFill>
                <a:srgbClr val="0B2447"/>
              </a:solidFill>
              <a:latin typeface="Aptos" panose="020B0004020202020204" pitchFamily="34" charset="0"/>
            </a:endParaRPr>
          </a:p>
        </p:txBody>
      </p:sp>
      <p:sp>
        <p:nvSpPr>
          <p:cNvPr id="16" name="TextBox 15">
            <a:extLst>
              <a:ext uri="{FF2B5EF4-FFF2-40B4-BE49-F238E27FC236}">
                <a16:creationId xmlns:a16="http://schemas.microsoft.com/office/drawing/2014/main" id="{EFC5521A-BE9F-7561-1F24-B712C86EF2A0}"/>
              </a:ext>
            </a:extLst>
          </p:cNvPr>
          <p:cNvSpPr txBox="1"/>
          <p:nvPr/>
        </p:nvSpPr>
        <p:spPr>
          <a:xfrm>
            <a:off x="4521200" y="4472677"/>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a:solidFill>
                  <a:srgbClr val="102A4D"/>
                </a:solidFill>
                <a:latin typeface="Aptos" panose="020B0004020202020204" pitchFamily="34" charset="0"/>
              </a:rPr>
              <a:t>gpt-5.2
Prompt template v1.0
Model could not run tools/tests
5 initial model calls per fixture (15 total)</a:t>
            </a:r>
            <a:endParaRPr lang="en-US" sz="1600" dirty="0">
              <a:solidFill>
                <a:srgbClr val="102A4D"/>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595CB593-A0C5-2A50-A323-5C83D3AA3161}"/>
              </a:ext>
            </a:extLst>
          </p:cNvPr>
          <p:cNvSpPr/>
          <p:nvPr/>
        </p:nvSpPr>
        <p:spPr>
          <a:xfrm>
            <a:off x="8051800" y="3378200"/>
            <a:ext cx="3606800" cy="22606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8A4CF71-A4DC-F028-3924-FAE8FDB9EEA9}"/>
              </a:ext>
            </a:extLst>
          </p:cNvPr>
          <p:cNvSpPr txBox="1"/>
          <p:nvPr/>
        </p:nvSpPr>
        <p:spPr>
          <a:xfrm>
            <a:off x="82804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Separated roles</a:t>
            </a:r>
            <a:endParaRPr lang="en-US" sz="1700" b="1" dirty="0">
              <a:solidFill>
                <a:srgbClr val="0B2447"/>
              </a:solidFill>
              <a:latin typeface="Aptos" panose="020B0004020202020204" pitchFamily="34" charset="0"/>
            </a:endParaRPr>
          </a:p>
        </p:txBody>
      </p:sp>
      <p:sp>
        <p:nvSpPr>
          <p:cNvPr id="19" name="TextBox 18">
            <a:extLst>
              <a:ext uri="{FF2B5EF4-FFF2-40B4-BE49-F238E27FC236}">
                <a16:creationId xmlns:a16="http://schemas.microsoft.com/office/drawing/2014/main" id="{F617A2BD-3E32-3C63-4BB2-5FEDBE1E7FD5}"/>
              </a:ext>
            </a:extLst>
          </p:cNvPr>
          <p:cNvSpPr txBox="1"/>
          <p:nvPr/>
        </p:nvSpPr>
        <p:spPr>
          <a:xfrm>
            <a:off x="8280400" y="4253299"/>
            <a:ext cx="3149600" cy="276999"/>
          </a:xfrm>
          <a:prstGeom prst="rect">
            <a:avLst/>
          </a:prstGeom>
          <a:noFill/>
        </p:spPr>
        <p:txBody>
          <a:bodyPr vert="horz" wrap="square" lIns="0" tIns="0" rIns="0" bIns="0" rtlCol="0" anchor="ctr">
            <a:noAutofit/>
          </a:bodyPr>
          <a:lstStyle/>
          <a:p>
            <a:pPr marL="285750" indent="-285750">
              <a:buFont typeface="Arial" panose="020B0604020202020204" pitchFamily="34" charset="0"/>
              <a:buChar char="•"/>
            </a:pPr>
            <a:r>
              <a:rPr lang="en-US" sz="1600">
                <a:solidFill>
                  <a:srgbClr val="102A4D"/>
                </a:solidFill>
                <a:latin typeface="Aptos" panose="020B0004020202020204" pitchFamily="34" charset="0"/>
              </a:rPr>
              <a:t>Model proposes code
Validators record evidence
Policy routes the result
Humans review selected cases</a:t>
            </a:r>
            <a:endParaRPr lang="en-US" sz="1600" dirty="0">
              <a:solidFill>
                <a:srgbClr val="102A4D"/>
              </a:solidFill>
              <a:latin typeface="Aptos" panose="020B0004020202020204" pitchFamily="34" charset="0"/>
            </a:endParaRPr>
          </a:p>
        </p:txBody>
      </p:sp>
      <p:sp>
        <p:nvSpPr>
          <p:cNvPr id="20" name="TextBox 19">
            <a:extLst>
              <a:ext uri="{FF2B5EF4-FFF2-40B4-BE49-F238E27FC236}">
                <a16:creationId xmlns:a16="http://schemas.microsoft.com/office/drawing/2014/main" id="{319A13BE-C8A7-A059-48F6-60B0CD2A291E}"/>
              </a:ext>
            </a:extLst>
          </p:cNvPr>
          <p:cNvSpPr txBox="1"/>
          <p:nvPr/>
        </p:nvSpPr>
        <p:spPr>
          <a:xfrm>
            <a:off x="635000" y="5943600"/>
            <a:ext cx="10896600" cy="276999"/>
          </a:xfrm>
          <a:prstGeom prst="rect">
            <a:avLst/>
          </a:prstGeom>
          <a:noFill/>
        </p:spPr>
        <p:txBody>
          <a:bodyPr vert="horz" wrap="square" lIns="0" tIns="0" rIns="0" bIns="0" rtlCol="0" anchor="t">
            <a:noAutofit/>
          </a:bodyPr>
          <a:lstStyle/>
          <a:p>
            <a:pPr algn="ctr"/>
            <a:r>
              <a:rPr lang="en-US" sz="1250">
                <a:solidFill>
                  <a:srgbClr val="526C8E"/>
                </a:solidFill>
                <a:latin typeface="Aptos" panose="020B0004020202020204" pitchFamily="34" charset="0"/>
              </a:rPr>
              <a:t>The 15 calls are repeated repairs of three applications, not 15 independent applications.</a:t>
            </a:r>
          </a:p>
        </p:txBody>
      </p:sp>
      <p:sp>
        <p:nvSpPr>
          <p:cNvPr id="21" name="TextBox 20">
            <a:extLst>
              <a:ext uri="{FF2B5EF4-FFF2-40B4-BE49-F238E27FC236}">
                <a16:creationId xmlns:a16="http://schemas.microsoft.com/office/drawing/2014/main" id="{A574EC10-FF19-6C2F-B1D9-DFCEAB87A75B}"/>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2" name="TextBox 21">
            <a:extLst>
              <a:ext uri="{FF2B5EF4-FFF2-40B4-BE49-F238E27FC236}">
                <a16:creationId xmlns:a16="http://schemas.microsoft.com/office/drawing/2014/main" id="{3C432240-CAF7-66B9-818C-76CF28EB8477}"/>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2</a:t>
            </a:r>
          </a:p>
        </p:txBody>
      </p:sp>
    </p:spTree>
    <p:extLst>
      <p:ext uri="{BB962C8B-B14F-4D97-AF65-F5344CB8AC3E}">
        <p14:creationId xmlns:p14="http://schemas.microsoft.com/office/powerpoint/2010/main" val="3595746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311FB3-D7CD-AF59-AB24-78D25019FB7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08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1BF05F-5430-1E35-86E4-42727D76DBD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2. Frozen primary-v1 study</a:t>
            </a:r>
          </a:p>
        </p:txBody>
      </p:sp>
      <p:sp>
        <p:nvSpPr>
          <p:cNvPr id="3" name="TextBox 2">
            <a:extLst>
              <a:ext uri="{FF2B5EF4-FFF2-40B4-BE49-F238E27FC236}">
                <a16:creationId xmlns:a16="http://schemas.microsoft.com/office/drawing/2014/main" id="{F653D0C5-A9F2-1D86-D0A4-F23362277EE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Five initial calls per CWE; complete all 15; do not stop early based on outcomes</a:t>
            </a:r>
          </a:p>
        </p:txBody>
      </p:sp>
      <p:cxnSp>
        <p:nvCxnSpPr>
          <p:cNvPr id="4" name="Straight Connector 3">
            <a:extLst>
              <a:ext uri="{FF2B5EF4-FFF2-40B4-BE49-F238E27FC236}">
                <a16:creationId xmlns:a16="http://schemas.microsoft.com/office/drawing/2014/main" id="{3D97626F-4823-E0DF-A021-00B284D0D945}"/>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924FD4CC-76C5-4422-7E5B-F61372648F54}"/>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F31216-EFDF-AA49-A739-3C56F2C5A2BC}"/>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7" name="TextBox 6">
            <a:extLst>
              <a:ext uri="{FF2B5EF4-FFF2-40B4-BE49-F238E27FC236}">
                <a16:creationId xmlns:a16="http://schemas.microsoft.com/office/drawing/2014/main" id="{54853AAC-38D0-A341-203A-00FC8A4C1D2C}"/>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scheduled model calls</a:t>
            </a:r>
          </a:p>
        </p:txBody>
      </p:sp>
      <p:sp>
        <p:nvSpPr>
          <p:cNvPr id="8" name="Rectangle: Rounded Corners 7">
            <a:extLst>
              <a:ext uri="{FF2B5EF4-FFF2-40B4-BE49-F238E27FC236}">
                <a16:creationId xmlns:a16="http://schemas.microsoft.com/office/drawing/2014/main" id="{FCB53FAC-2CC9-1248-D171-3277EBBA195A}"/>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C16371-560C-D25A-94E9-2C44A740C7D1}"/>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5 / 15</a:t>
            </a:r>
          </a:p>
        </p:txBody>
      </p:sp>
      <p:sp>
        <p:nvSpPr>
          <p:cNvPr id="10" name="TextBox 9">
            <a:extLst>
              <a:ext uri="{FF2B5EF4-FFF2-40B4-BE49-F238E27FC236}">
                <a16:creationId xmlns:a16="http://schemas.microsoft.com/office/drawing/2014/main" id="{62E986DD-38BA-B47F-DE70-4C2F668A3E99}"/>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target SAST resolved</a:t>
            </a:r>
          </a:p>
        </p:txBody>
      </p:sp>
      <p:sp>
        <p:nvSpPr>
          <p:cNvPr id="11" name="Rectangle: Rounded Corners 10">
            <a:extLst>
              <a:ext uri="{FF2B5EF4-FFF2-40B4-BE49-F238E27FC236}">
                <a16:creationId xmlns:a16="http://schemas.microsoft.com/office/drawing/2014/main" id="{E32497AF-898F-25C1-83BE-3C15D76073DE}"/>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FFE8B5-307F-2CD8-8246-D6BA8E83BCA0}"/>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 / 15</a:t>
            </a:r>
          </a:p>
        </p:txBody>
      </p:sp>
      <p:sp>
        <p:nvSpPr>
          <p:cNvPr id="13" name="TextBox 12">
            <a:extLst>
              <a:ext uri="{FF2B5EF4-FFF2-40B4-BE49-F238E27FC236}">
                <a16:creationId xmlns:a16="http://schemas.microsoft.com/office/drawing/2014/main" id="{EF6DEF66-476E-A04C-29B1-1EA91E3AB6B9}"/>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security suites</a:t>
            </a:r>
          </a:p>
        </p:txBody>
      </p:sp>
      <p:sp>
        <p:nvSpPr>
          <p:cNvPr id="14" name="Rectangle: Rounded Corners 13">
            <a:extLst>
              <a:ext uri="{FF2B5EF4-FFF2-40B4-BE49-F238E27FC236}">
                <a16:creationId xmlns:a16="http://schemas.microsoft.com/office/drawing/2014/main" id="{4752A895-ACB8-1FE8-18C4-ACAB0EE988D8}"/>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778C66-C763-F891-C006-F1558CC10CBF}"/>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 15</a:t>
            </a:r>
          </a:p>
        </p:txBody>
      </p:sp>
      <p:sp>
        <p:nvSpPr>
          <p:cNvPr id="16" name="TextBox 15">
            <a:extLst>
              <a:ext uri="{FF2B5EF4-FFF2-40B4-BE49-F238E27FC236}">
                <a16:creationId xmlns:a16="http://schemas.microsoft.com/office/drawing/2014/main" id="{38E61F7A-8302-5B4D-B9FC-43C391EB722B}"/>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SAST/runtime disagreements</a:t>
            </a:r>
          </a:p>
        </p:txBody>
      </p:sp>
      <p:sp>
        <p:nvSpPr>
          <p:cNvPr id="17" name="Rectangle 16">
            <a:extLst>
              <a:ext uri="{FF2B5EF4-FFF2-40B4-BE49-F238E27FC236}">
                <a16:creationId xmlns:a16="http://schemas.microsoft.com/office/drawing/2014/main" id="{383429C3-9ACF-AA27-FA9B-C9CEE25DF899}"/>
              </a:ext>
            </a:extLst>
          </p:cNvPr>
          <p:cNvSpPr/>
          <p:nvPr/>
        </p:nvSpPr>
        <p:spPr>
          <a:xfrm>
            <a:off x="533400" y="2819400"/>
            <a:ext cx="1968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9953CA-3B8E-423C-BEDC-5FB7B0CC0FEE}"/>
              </a:ext>
            </a:extLst>
          </p:cNvPr>
          <p:cNvSpPr txBox="1"/>
          <p:nvPr/>
        </p:nvSpPr>
        <p:spPr>
          <a:xfrm>
            <a:off x="596900" y="2857500"/>
            <a:ext cx="1841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Primary case</a:t>
            </a:r>
          </a:p>
        </p:txBody>
      </p:sp>
      <p:sp>
        <p:nvSpPr>
          <p:cNvPr id="19" name="Rectangle 18">
            <a:extLst>
              <a:ext uri="{FF2B5EF4-FFF2-40B4-BE49-F238E27FC236}">
                <a16:creationId xmlns:a16="http://schemas.microsoft.com/office/drawing/2014/main" id="{92BD1EEA-1CEF-E3B8-1A49-7886295AF13D}"/>
              </a:ext>
            </a:extLst>
          </p:cNvPr>
          <p:cNvSpPr/>
          <p:nvPr/>
        </p:nvSpPr>
        <p:spPr>
          <a:xfrm>
            <a:off x="2501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3241C2-4BFF-F7B9-4CF2-E05CAC48D851}"/>
              </a:ext>
            </a:extLst>
          </p:cNvPr>
          <p:cNvSpPr txBox="1"/>
          <p:nvPr/>
        </p:nvSpPr>
        <p:spPr>
          <a:xfrm>
            <a:off x="2565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Calls</a:t>
            </a:r>
          </a:p>
        </p:txBody>
      </p:sp>
      <p:sp>
        <p:nvSpPr>
          <p:cNvPr id="21" name="Rectangle 20">
            <a:extLst>
              <a:ext uri="{FF2B5EF4-FFF2-40B4-BE49-F238E27FC236}">
                <a16:creationId xmlns:a16="http://schemas.microsoft.com/office/drawing/2014/main" id="{A9C59054-B5F7-B8A2-7ED8-346D585CD5DA}"/>
              </a:ext>
            </a:extLst>
          </p:cNvPr>
          <p:cNvSpPr/>
          <p:nvPr/>
        </p:nvSpPr>
        <p:spPr>
          <a:xfrm>
            <a:off x="3390900" y="2819400"/>
            <a:ext cx="1524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00A81DC-0740-D6EB-C449-4436C7722B87}"/>
              </a:ext>
            </a:extLst>
          </p:cNvPr>
          <p:cNvSpPr txBox="1"/>
          <p:nvPr/>
        </p:nvSpPr>
        <p:spPr>
          <a:xfrm>
            <a:off x="3454400" y="2857500"/>
            <a:ext cx="1397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SAST resolved</a:t>
            </a:r>
          </a:p>
        </p:txBody>
      </p:sp>
      <p:sp>
        <p:nvSpPr>
          <p:cNvPr id="23" name="Rectangle 22">
            <a:extLst>
              <a:ext uri="{FF2B5EF4-FFF2-40B4-BE49-F238E27FC236}">
                <a16:creationId xmlns:a16="http://schemas.microsoft.com/office/drawing/2014/main" id="{256BAC63-73F0-08B9-08F8-2B4728CCA6C5}"/>
              </a:ext>
            </a:extLst>
          </p:cNvPr>
          <p:cNvSpPr/>
          <p:nvPr/>
        </p:nvSpPr>
        <p:spPr>
          <a:xfrm>
            <a:off x="49149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48C2C96-8087-EBF9-76F8-77192BE56DBD}"/>
              </a:ext>
            </a:extLst>
          </p:cNvPr>
          <p:cNvSpPr txBox="1"/>
          <p:nvPr/>
        </p:nvSpPr>
        <p:spPr>
          <a:xfrm>
            <a:off x="49784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Security</a:t>
            </a:r>
          </a:p>
        </p:txBody>
      </p:sp>
      <p:sp>
        <p:nvSpPr>
          <p:cNvPr id="25" name="Rectangle 24">
            <a:extLst>
              <a:ext uri="{FF2B5EF4-FFF2-40B4-BE49-F238E27FC236}">
                <a16:creationId xmlns:a16="http://schemas.microsoft.com/office/drawing/2014/main" id="{5B2D5FF9-8E61-BB35-53E6-7B9890833FB0}"/>
              </a:ext>
            </a:extLst>
          </p:cNvPr>
          <p:cNvSpPr/>
          <p:nvPr/>
        </p:nvSpPr>
        <p:spPr>
          <a:xfrm>
            <a:off x="62484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9A1737E-3FDF-26F4-0048-4ED88C10084F}"/>
              </a:ext>
            </a:extLst>
          </p:cNvPr>
          <p:cNvSpPr txBox="1"/>
          <p:nvPr/>
        </p:nvSpPr>
        <p:spPr>
          <a:xfrm>
            <a:off x="63119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Functional</a:t>
            </a:r>
          </a:p>
        </p:txBody>
      </p:sp>
      <p:sp>
        <p:nvSpPr>
          <p:cNvPr id="27" name="Rectangle 26">
            <a:extLst>
              <a:ext uri="{FF2B5EF4-FFF2-40B4-BE49-F238E27FC236}">
                <a16:creationId xmlns:a16="http://schemas.microsoft.com/office/drawing/2014/main" id="{437F599E-D128-3C0D-E847-FF4E2B8C9C34}"/>
              </a:ext>
            </a:extLst>
          </p:cNvPr>
          <p:cNvSpPr/>
          <p:nvPr/>
        </p:nvSpPr>
        <p:spPr>
          <a:xfrm>
            <a:off x="7581900" y="2819400"/>
            <a:ext cx="31496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087B5BD-7928-F3E1-8005-6C5F27235ABC}"/>
              </a:ext>
            </a:extLst>
          </p:cNvPr>
          <p:cNvSpPr txBox="1"/>
          <p:nvPr/>
        </p:nvSpPr>
        <p:spPr>
          <a:xfrm>
            <a:off x="7645400" y="2857500"/>
            <a:ext cx="30226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Automated state</a:t>
            </a:r>
          </a:p>
        </p:txBody>
      </p:sp>
      <p:sp>
        <p:nvSpPr>
          <p:cNvPr id="29" name="Rectangle 28">
            <a:extLst>
              <a:ext uri="{FF2B5EF4-FFF2-40B4-BE49-F238E27FC236}">
                <a16:creationId xmlns:a16="http://schemas.microsoft.com/office/drawing/2014/main" id="{9AF9AF25-6159-7B81-4783-09BBC618EE3E}"/>
              </a:ext>
            </a:extLst>
          </p:cNvPr>
          <p:cNvSpPr/>
          <p:nvPr/>
        </p:nvSpPr>
        <p:spPr>
          <a:xfrm>
            <a:off x="533400" y="33147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8DAA3E9-2B2E-4251-8CA4-84A58AF86613}"/>
              </a:ext>
            </a:extLst>
          </p:cNvPr>
          <p:cNvSpPr txBox="1"/>
          <p:nvPr/>
        </p:nvSpPr>
        <p:spPr>
          <a:xfrm>
            <a:off x="596900" y="33528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Reflected XSS</a:t>
            </a:r>
          </a:p>
        </p:txBody>
      </p:sp>
      <p:sp>
        <p:nvSpPr>
          <p:cNvPr id="31" name="Rectangle 30">
            <a:extLst>
              <a:ext uri="{FF2B5EF4-FFF2-40B4-BE49-F238E27FC236}">
                <a16:creationId xmlns:a16="http://schemas.microsoft.com/office/drawing/2014/main" id="{ED8F6265-C2E1-5AF5-B085-2A314BE1CC5F}"/>
              </a:ext>
            </a:extLst>
          </p:cNvPr>
          <p:cNvSpPr/>
          <p:nvPr/>
        </p:nvSpPr>
        <p:spPr>
          <a:xfrm>
            <a:off x="2501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83824CB-7545-A8B6-9F9E-6A97E315A6E4}"/>
              </a:ext>
            </a:extLst>
          </p:cNvPr>
          <p:cNvSpPr txBox="1"/>
          <p:nvPr/>
        </p:nvSpPr>
        <p:spPr>
          <a:xfrm>
            <a:off x="2565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3" name="Rectangle 32">
            <a:extLst>
              <a:ext uri="{FF2B5EF4-FFF2-40B4-BE49-F238E27FC236}">
                <a16:creationId xmlns:a16="http://schemas.microsoft.com/office/drawing/2014/main" id="{2F97BA34-C216-C456-39DB-81F51EA7A9C7}"/>
              </a:ext>
            </a:extLst>
          </p:cNvPr>
          <p:cNvSpPr/>
          <p:nvPr/>
        </p:nvSpPr>
        <p:spPr>
          <a:xfrm>
            <a:off x="3390900" y="33147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E7A88AD-4319-1E51-A0B9-97ACAA1C3A53}"/>
              </a:ext>
            </a:extLst>
          </p:cNvPr>
          <p:cNvSpPr txBox="1"/>
          <p:nvPr/>
        </p:nvSpPr>
        <p:spPr>
          <a:xfrm>
            <a:off x="3454400" y="33528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35" name="Rectangle 34">
            <a:extLst>
              <a:ext uri="{FF2B5EF4-FFF2-40B4-BE49-F238E27FC236}">
                <a16:creationId xmlns:a16="http://schemas.microsoft.com/office/drawing/2014/main" id="{86668ADF-3FC4-F269-F5B7-62F044D28A53}"/>
              </a:ext>
            </a:extLst>
          </p:cNvPr>
          <p:cNvSpPr/>
          <p:nvPr/>
        </p:nvSpPr>
        <p:spPr>
          <a:xfrm>
            <a:off x="49149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87BFF37-3DF4-7FB8-44A0-9B4A08B2D05A}"/>
              </a:ext>
            </a:extLst>
          </p:cNvPr>
          <p:cNvSpPr txBox="1"/>
          <p:nvPr/>
        </p:nvSpPr>
        <p:spPr>
          <a:xfrm>
            <a:off x="49784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7" name="Rectangle 36">
            <a:extLst>
              <a:ext uri="{FF2B5EF4-FFF2-40B4-BE49-F238E27FC236}">
                <a16:creationId xmlns:a16="http://schemas.microsoft.com/office/drawing/2014/main" id="{07B80B17-D74E-FD6F-A949-1A9B41642724}"/>
              </a:ext>
            </a:extLst>
          </p:cNvPr>
          <p:cNvSpPr/>
          <p:nvPr/>
        </p:nvSpPr>
        <p:spPr>
          <a:xfrm>
            <a:off x="62484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AF44DC8-DEC8-B158-1B41-4E8B4CB7413E}"/>
              </a:ext>
            </a:extLst>
          </p:cNvPr>
          <p:cNvSpPr txBox="1"/>
          <p:nvPr/>
        </p:nvSpPr>
        <p:spPr>
          <a:xfrm>
            <a:off x="63119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9" name="Rectangle 38">
            <a:extLst>
              <a:ext uri="{FF2B5EF4-FFF2-40B4-BE49-F238E27FC236}">
                <a16:creationId xmlns:a16="http://schemas.microsoft.com/office/drawing/2014/main" id="{C3C897A5-F8DC-1F58-DC44-B93BD2801E72}"/>
              </a:ext>
            </a:extLst>
          </p:cNvPr>
          <p:cNvSpPr/>
          <p:nvPr/>
        </p:nvSpPr>
        <p:spPr>
          <a:xfrm>
            <a:off x="7581900" y="33147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ED29C25-C9C9-41AB-0EFC-4CB2ADA98920}"/>
              </a:ext>
            </a:extLst>
          </p:cNvPr>
          <p:cNvSpPr txBox="1"/>
          <p:nvPr/>
        </p:nvSpPr>
        <p:spPr>
          <a:xfrm>
            <a:off x="7645400" y="33528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41" name="Rectangle 40">
            <a:extLst>
              <a:ext uri="{FF2B5EF4-FFF2-40B4-BE49-F238E27FC236}">
                <a16:creationId xmlns:a16="http://schemas.microsoft.com/office/drawing/2014/main" id="{78A96108-269E-CB86-5A43-ECB13A53D23F}"/>
              </a:ext>
            </a:extLst>
          </p:cNvPr>
          <p:cNvSpPr/>
          <p:nvPr/>
        </p:nvSpPr>
        <p:spPr>
          <a:xfrm>
            <a:off x="533400" y="38100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22AEF11-C54F-B3AC-B5B7-4E5268DE7DA9}"/>
              </a:ext>
            </a:extLst>
          </p:cNvPr>
          <p:cNvSpPr txBox="1"/>
          <p:nvPr/>
        </p:nvSpPr>
        <p:spPr>
          <a:xfrm>
            <a:off x="596900" y="38481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SQL injection</a:t>
            </a:r>
          </a:p>
        </p:txBody>
      </p:sp>
      <p:sp>
        <p:nvSpPr>
          <p:cNvPr id="43" name="Rectangle 42">
            <a:extLst>
              <a:ext uri="{FF2B5EF4-FFF2-40B4-BE49-F238E27FC236}">
                <a16:creationId xmlns:a16="http://schemas.microsoft.com/office/drawing/2014/main" id="{03E82E60-25F3-1F5A-2072-ED1675C1C2AD}"/>
              </a:ext>
            </a:extLst>
          </p:cNvPr>
          <p:cNvSpPr/>
          <p:nvPr/>
        </p:nvSpPr>
        <p:spPr>
          <a:xfrm>
            <a:off x="2501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90EDC65-79C2-E6BE-F760-B72D0E636F42}"/>
              </a:ext>
            </a:extLst>
          </p:cNvPr>
          <p:cNvSpPr txBox="1"/>
          <p:nvPr/>
        </p:nvSpPr>
        <p:spPr>
          <a:xfrm>
            <a:off x="2565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5" name="Rectangle 44">
            <a:extLst>
              <a:ext uri="{FF2B5EF4-FFF2-40B4-BE49-F238E27FC236}">
                <a16:creationId xmlns:a16="http://schemas.microsoft.com/office/drawing/2014/main" id="{05A8EEA7-2011-B8C3-0551-B3B1DF239C93}"/>
              </a:ext>
            </a:extLst>
          </p:cNvPr>
          <p:cNvSpPr/>
          <p:nvPr/>
        </p:nvSpPr>
        <p:spPr>
          <a:xfrm>
            <a:off x="3390900" y="38100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7816D56-54DB-2C0E-0971-3090309659AD}"/>
              </a:ext>
            </a:extLst>
          </p:cNvPr>
          <p:cNvSpPr txBox="1"/>
          <p:nvPr/>
        </p:nvSpPr>
        <p:spPr>
          <a:xfrm>
            <a:off x="3454400" y="38481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7" name="Rectangle 46">
            <a:extLst>
              <a:ext uri="{FF2B5EF4-FFF2-40B4-BE49-F238E27FC236}">
                <a16:creationId xmlns:a16="http://schemas.microsoft.com/office/drawing/2014/main" id="{6C9F29DE-AC7D-1FD2-DAC0-3618E7AF760E}"/>
              </a:ext>
            </a:extLst>
          </p:cNvPr>
          <p:cNvSpPr/>
          <p:nvPr/>
        </p:nvSpPr>
        <p:spPr>
          <a:xfrm>
            <a:off x="49149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77DADD0-A6EF-3979-2F86-48ABDEBB3BBB}"/>
              </a:ext>
            </a:extLst>
          </p:cNvPr>
          <p:cNvSpPr txBox="1"/>
          <p:nvPr/>
        </p:nvSpPr>
        <p:spPr>
          <a:xfrm>
            <a:off x="49784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9" name="Rectangle 48">
            <a:extLst>
              <a:ext uri="{FF2B5EF4-FFF2-40B4-BE49-F238E27FC236}">
                <a16:creationId xmlns:a16="http://schemas.microsoft.com/office/drawing/2014/main" id="{E5358BDA-83C1-E470-038F-C27BEE779CE6}"/>
              </a:ext>
            </a:extLst>
          </p:cNvPr>
          <p:cNvSpPr/>
          <p:nvPr/>
        </p:nvSpPr>
        <p:spPr>
          <a:xfrm>
            <a:off x="62484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54E6BC0-6E6B-55FB-DDD5-823457ED33F0}"/>
              </a:ext>
            </a:extLst>
          </p:cNvPr>
          <p:cNvSpPr txBox="1"/>
          <p:nvPr/>
        </p:nvSpPr>
        <p:spPr>
          <a:xfrm>
            <a:off x="63119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51" name="Rectangle 50">
            <a:extLst>
              <a:ext uri="{FF2B5EF4-FFF2-40B4-BE49-F238E27FC236}">
                <a16:creationId xmlns:a16="http://schemas.microsoft.com/office/drawing/2014/main" id="{6FBAB29C-FC3C-F28B-10EE-6F5AB44C9C82}"/>
              </a:ext>
            </a:extLst>
          </p:cNvPr>
          <p:cNvSpPr/>
          <p:nvPr/>
        </p:nvSpPr>
        <p:spPr>
          <a:xfrm>
            <a:off x="7581900" y="38100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29A76DE-D22F-D6C4-0C7E-6716E6D4E118}"/>
              </a:ext>
            </a:extLst>
          </p:cNvPr>
          <p:cNvSpPr txBox="1"/>
          <p:nvPr/>
        </p:nvSpPr>
        <p:spPr>
          <a:xfrm>
            <a:off x="7645400" y="38481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Ready for review</a:t>
            </a:r>
          </a:p>
        </p:txBody>
      </p:sp>
      <p:sp>
        <p:nvSpPr>
          <p:cNvPr id="53" name="Rectangle 52">
            <a:extLst>
              <a:ext uri="{FF2B5EF4-FFF2-40B4-BE49-F238E27FC236}">
                <a16:creationId xmlns:a16="http://schemas.microsoft.com/office/drawing/2014/main" id="{97D4F287-A379-C7E1-38E7-4790CD403799}"/>
              </a:ext>
            </a:extLst>
          </p:cNvPr>
          <p:cNvSpPr/>
          <p:nvPr/>
        </p:nvSpPr>
        <p:spPr>
          <a:xfrm>
            <a:off x="533400" y="43053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E49D71A-2A50-EABD-CD14-C31F82F8BE62}"/>
              </a:ext>
            </a:extLst>
          </p:cNvPr>
          <p:cNvSpPr txBox="1"/>
          <p:nvPr/>
        </p:nvSpPr>
        <p:spPr>
          <a:xfrm>
            <a:off x="596900" y="43434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Path traversal</a:t>
            </a:r>
          </a:p>
        </p:txBody>
      </p:sp>
      <p:sp>
        <p:nvSpPr>
          <p:cNvPr id="55" name="Rectangle 54">
            <a:extLst>
              <a:ext uri="{FF2B5EF4-FFF2-40B4-BE49-F238E27FC236}">
                <a16:creationId xmlns:a16="http://schemas.microsoft.com/office/drawing/2014/main" id="{B8DA0A9C-D5CE-B884-6890-DA5573061CF0}"/>
              </a:ext>
            </a:extLst>
          </p:cNvPr>
          <p:cNvSpPr/>
          <p:nvPr/>
        </p:nvSpPr>
        <p:spPr>
          <a:xfrm>
            <a:off x="2501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5424895-BAA7-BDED-33A9-2344C7E64EC8}"/>
              </a:ext>
            </a:extLst>
          </p:cNvPr>
          <p:cNvSpPr txBox="1"/>
          <p:nvPr/>
        </p:nvSpPr>
        <p:spPr>
          <a:xfrm>
            <a:off x="2565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57" name="Rectangle 56">
            <a:extLst>
              <a:ext uri="{FF2B5EF4-FFF2-40B4-BE49-F238E27FC236}">
                <a16:creationId xmlns:a16="http://schemas.microsoft.com/office/drawing/2014/main" id="{ACD29C85-DB95-086D-5B2D-728F5BA27328}"/>
              </a:ext>
            </a:extLst>
          </p:cNvPr>
          <p:cNvSpPr/>
          <p:nvPr/>
        </p:nvSpPr>
        <p:spPr>
          <a:xfrm>
            <a:off x="3390900" y="43053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539BD590-691B-6C41-D82C-B5475B1E3A45}"/>
              </a:ext>
            </a:extLst>
          </p:cNvPr>
          <p:cNvSpPr txBox="1"/>
          <p:nvPr/>
        </p:nvSpPr>
        <p:spPr>
          <a:xfrm>
            <a:off x="3454400" y="43434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59" name="Rectangle 58">
            <a:extLst>
              <a:ext uri="{FF2B5EF4-FFF2-40B4-BE49-F238E27FC236}">
                <a16:creationId xmlns:a16="http://schemas.microsoft.com/office/drawing/2014/main" id="{AE4DF60B-8665-AECC-D089-280D65D3BF47}"/>
              </a:ext>
            </a:extLst>
          </p:cNvPr>
          <p:cNvSpPr/>
          <p:nvPr/>
        </p:nvSpPr>
        <p:spPr>
          <a:xfrm>
            <a:off x="49149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6D2ACC4-14FB-A39F-F314-BE344A1C623E}"/>
              </a:ext>
            </a:extLst>
          </p:cNvPr>
          <p:cNvSpPr txBox="1"/>
          <p:nvPr/>
        </p:nvSpPr>
        <p:spPr>
          <a:xfrm>
            <a:off x="49784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1" name="Rectangle 60">
            <a:extLst>
              <a:ext uri="{FF2B5EF4-FFF2-40B4-BE49-F238E27FC236}">
                <a16:creationId xmlns:a16="http://schemas.microsoft.com/office/drawing/2014/main" id="{6A196CB0-FBFA-593B-C232-61A2966621E8}"/>
              </a:ext>
            </a:extLst>
          </p:cNvPr>
          <p:cNvSpPr/>
          <p:nvPr/>
        </p:nvSpPr>
        <p:spPr>
          <a:xfrm>
            <a:off x="62484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8D2EE614-1170-8507-4433-DABDFE976028}"/>
              </a:ext>
            </a:extLst>
          </p:cNvPr>
          <p:cNvSpPr txBox="1"/>
          <p:nvPr/>
        </p:nvSpPr>
        <p:spPr>
          <a:xfrm>
            <a:off x="63119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3" name="Rectangle 62">
            <a:extLst>
              <a:ext uri="{FF2B5EF4-FFF2-40B4-BE49-F238E27FC236}">
                <a16:creationId xmlns:a16="http://schemas.microsoft.com/office/drawing/2014/main" id="{B37A7950-9768-AB46-9CFC-AFAE29AEDD9F}"/>
              </a:ext>
            </a:extLst>
          </p:cNvPr>
          <p:cNvSpPr/>
          <p:nvPr/>
        </p:nvSpPr>
        <p:spPr>
          <a:xfrm>
            <a:off x="7581900" y="43053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EE1847AF-60E1-0098-7D10-6504C8B67F2F}"/>
              </a:ext>
            </a:extLst>
          </p:cNvPr>
          <p:cNvSpPr txBox="1"/>
          <p:nvPr/>
        </p:nvSpPr>
        <p:spPr>
          <a:xfrm>
            <a:off x="7645400" y="43434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65" name="Rectangle 64">
            <a:extLst>
              <a:ext uri="{FF2B5EF4-FFF2-40B4-BE49-F238E27FC236}">
                <a16:creationId xmlns:a16="http://schemas.microsoft.com/office/drawing/2014/main" id="{B589749A-BD08-7839-F263-9B13AC8D6A45}"/>
              </a:ext>
            </a:extLst>
          </p:cNvPr>
          <p:cNvSpPr/>
          <p:nvPr/>
        </p:nvSpPr>
        <p:spPr>
          <a:xfrm>
            <a:off x="533400" y="48006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B274AE35-CEC3-A63B-2F53-48818C393F3E}"/>
              </a:ext>
            </a:extLst>
          </p:cNvPr>
          <p:cNvSpPr txBox="1"/>
          <p:nvPr/>
        </p:nvSpPr>
        <p:spPr>
          <a:xfrm>
            <a:off x="596900" y="48387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920A3F64-7E64-AA88-D3F1-E5BE74564080}"/>
              </a:ext>
            </a:extLst>
          </p:cNvPr>
          <p:cNvSpPr/>
          <p:nvPr/>
        </p:nvSpPr>
        <p:spPr>
          <a:xfrm>
            <a:off x="2501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25741BC-81FB-9CCC-63C5-9A55AE4D91BC}"/>
              </a:ext>
            </a:extLst>
          </p:cNvPr>
          <p:cNvSpPr txBox="1"/>
          <p:nvPr/>
        </p:nvSpPr>
        <p:spPr>
          <a:xfrm>
            <a:off x="2565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69" name="Rectangle 68">
            <a:extLst>
              <a:ext uri="{FF2B5EF4-FFF2-40B4-BE49-F238E27FC236}">
                <a16:creationId xmlns:a16="http://schemas.microsoft.com/office/drawing/2014/main" id="{DC3CA7A2-21C5-C7AE-2082-9DF8541986CC}"/>
              </a:ext>
            </a:extLst>
          </p:cNvPr>
          <p:cNvSpPr/>
          <p:nvPr/>
        </p:nvSpPr>
        <p:spPr>
          <a:xfrm>
            <a:off x="3390900" y="48006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60692BA2-1FEF-37B9-B888-79E6721A716C}"/>
              </a:ext>
            </a:extLst>
          </p:cNvPr>
          <p:cNvSpPr txBox="1"/>
          <p:nvPr/>
        </p:nvSpPr>
        <p:spPr>
          <a:xfrm>
            <a:off x="3454400" y="48387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15</a:t>
            </a:r>
          </a:p>
        </p:txBody>
      </p:sp>
      <p:sp>
        <p:nvSpPr>
          <p:cNvPr id="71" name="Rectangle 70">
            <a:extLst>
              <a:ext uri="{FF2B5EF4-FFF2-40B4-BE49-F238E27FC236}">
                <a16:creationId xmlns:a16="http://schemas.microsoft.com/office/drawing/2014/main" id="{1A274E5F-594B-1AB1-C4D7-DD1246ABE798}"/>
              </a:ext>
            </a:extLst>
          </p:cNvPr>
          <p:cNvSpPr/>
          <p:nvPr/>
        </p:nvSpPr>
        <p:spPr>
          <a:xfrm>
            <a:off x="49149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2BBEB5B-DE92-0E0C-08A9-DC438236DC13}"/>
              </a:ext>
            </a:extLst>
          </p:cNvPr>
          <p:cNvSpPr txBox="1"/>
          <p:nvPr/>
        </p:nvSpPr>
        <p:spPr>
          <a:xfrm>
            <a:off x="49784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3" name="Rectangle 72">
            <a:extLst>
              <a:ext uri="{FF2B5EF4-FFF2-40B4-BE49-F238E27FC236}">
                <a16:creationId xmlns:a16="http://schemas.microsoft.com/office/drawing/2014/main" id="{E0512146-4B40-098F-4AEB-2C4AC5FBFC91}"/>
              </a:ext>
            </a:extLst>
          </p:cNvPr>
          <p:cNvSpPr/>
          <p:nvPr/>
        </p:nvSpPr>
        <p:spPr>
          <a:xfrm>
            <a:off x="62484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2D7E504-3CC8-8596-46B6-EF07ED66F88D}"/>
              </a:ext>
            </a:extLst>
          </p:cNvPr>
          <p:cNvSpPr txBox="1"/>
          <p:nvPr/>
        </p:nvSpPr>
        <p:spPr>
          <a:xfrm>
            <a:off x="63119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5" name="Rectangle 74">
            <a:extLst>
              <a:ext uri="{FF2B5EF4-FFF2-40B4-BE49-F238E27FC236}">
                <a16:creationId xmlns:a16="http://schemas.microsoft.com/office/drawing/2014/main" id="{46D83A7D-2BCE-5918-C49D-1C56F1C76681}"/>
              </a:ext>
            </a:extLst>
          </p:cNvPr>
          <p:cNvSpPr/>
          <p:nvPr/>
        </p:nvSpPr>
        <p:spPr>
          <a:xfrm>
            <a:off x="7581900" y="48006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0F32807-2C19-64CB-0CC9-AC4AF57FDCE0}"/>
              </a:ext>
            </a:extLst>
          </p:cNvPr>
          <p:cNvSpPr txBox="1"/>
          <p:nvPr/>
        </p:nvSpPr>
        <p:spPr>
          <a:xfrm>
            <a:off x="7645400" y="48387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ready | 10 adjudicate</a:t>
            </a:r>
          </a:p>
        </p:txBody>
      </p:sp>
      <p:sp>
        <p:nvSpPr>
          <p:cNvPr id="77" name="Rectangle: Rounded Corners 76">
            <a:extLst>
              <a:ext uri="{FF2B5EF4-FFF2-40B4-BE49-F238E27FC236}">
                <a16:creationId xmlns:a16="http://schemas.microsoft.com/office/drawing/2014/main" id="{639A0346-9346-A989-C883-296E0C0D9401}"/>
              </a:ext>
            </a:extLst>
          </p:cNvPr>
          <p:cNvSpPr/>
          <p:nvPr/>
        </p:nvSpPr>
        <p:spPr>
          <a:xfrm>
            <a:off x="533400" y="5511800"/>
            <a:ext cx="11125200" cy="736600"/>
          </a:xfrm>
          <a:prstGeom prst="roundRect">
            <a:avLst/>
          </a:prstGeom>
          <a:solidFill>
            <a:srgbClr val="FFF3DE"/>
          </a:solidFill>
          <a:ln w="1524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C225A16-D3AA-2FA9-4423-A1987F31EBDB}"/>
              </a:ext>
            </a:extLst>
          </p:cNvPr>
          <p:cNvSpPr txBox="1"/>
          <p:nvPr/>
        </p:nvSpPr>
        <p:spPr>
          <a:xfrm>
            <a:off x="736600" y="5638800"/>
            <a:ext cx="10718800" cy="276999"/>
          </a:xfrm>
          <a:prstGeom prst="rect">
            <a:avLst/>
          </a:prstGeom>
          <a:noFill/>
        </p:spPr>
        <p:txBody>
          <a:bodyPr vert="horz" wrap="square" lIns="0" tIns="0" rIns="0" bIns="0" rtlCol="0" anchor="ctr">
            <a:noAutofit/>
          </a:bodyPr>
          <a:lstStyle/>
          <a:p>
            <a:r>
              <a:rPr lang="en-US" sz="1400" b="1">
                <a:solidFill>
                  <a:srgbClr val="0B2447"/>
                </a:solidFill>
                <a:latin typeface="Aptos" panose="020B0004020202020204" pitchFamily="34" charset="0"/>
              </a:rPr>
              <a:t>0 / 5 resolved means the target scanner finding persisted - not that zero candidates blocked the tested attacks.</a:t>
            </a:r>
          </a:p>
        </p:txBody>
      </p:sp>
      <p:sp>
        <p:nvSpPr>
          <p:cNvPr id="79" name="TextBox 78">
            <a:extLst>
              <a:ext uri="{FF2B5EF4-FFF2-40B4-BE49-F238E27FC236}">
                <a16:creationId xmlns:a16="http://schemas.microsoft.com/office/drawing/2014/main" id="{A78B93F4-AFBB-1791-DE1A-0C5808AE4C9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0" name="TextBox 79">
            <a:extLst>
              <a:ext uri="{FF2B5EF4-FFF2-40B4-BE49-F238E27FC236}">
                <a16:creationId xmlns:a16="http://schemas.microsoft.com/office/drawing/2014/main" id="{552E51F6-E355-FB71-A132-2F44E05DD0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4</a:t>
            </a:r>
          </a:p>
        </p:txBody>
      </p:sp>
    </p:spTree>
    <p:extLst>
      <p:ext uri="{BB962C8B-B14F-4D97-AF65-F5344CB8AC3E}">
        <p14:creationId xmlns:p14="http://schemas.microsoft.com/office/powerpoint/2010/main" val="27758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5ECA94-8A2F-4CA5-52B2-7772ED73634E}"/>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3. Supplemental-v1: later, predefined evidence</a:t>
            </a:r>
          </a:p>
        </p:txBody>
      </p:sp>
      <p:sp>
        <p:nvSpPr>
          <p:cNvPr id="3" name="TextBox 2">
            <a:extLst>
              <a:ext uri="{FF2B5EF4-FFF2-40B4-BE49-F238E27FC236}">
                <a16:creationId xmlns:a16="http://schemas.microsoft.com/office/drawing/2014/main" id="{27CC1846-096B-41C0-A7B1-4AFE6E591B9C}"/>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Same saved candidates | baseline gates first | no new model calls | primary metrics stay frozen</a:t>
            </a:r>
          </a:p>
        </p:txBody>
      </p:sp>
      <p:cxnSp>
        <p:nvCxnSpPr>
          <p:cNvPr id="4" name="Straight Connector 3">
            <a:extLst>
              <a:ext uri="{FF2B5EF4-FFF2-40B4-BE49-F238E27FC236}">
                <a16:creationId xmlns:a16="http://schemas.microsoft.com/office/drawing/2014/main" id="{7D649162-3100-04D8-D187-A4CBF29F75D1}"/>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70CB3E24-B796-84D7-1CBF-B54C66835BDA}"/>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A9FACF-0C83-C8BF-A56E-54A388A74433}"/>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28</a:t>
            </a:r>
          </a:p>
        </p:txBody>
      </p:sp>
      <p:sp>
        <p:nvSpPr>
          <p:cNvPr id="7" name="TextBox 6">
            <a:extLst>
              <a:ext uri="{FF2B5EF4-FFF2-40B4-BE49-F238E27FC236}">
                <a16:creationId xmlns:a16="http://schemas.microsoft.com/office/drawing/2014/main" id="{7B75D1D1-4CA0-93B4-96A9-694EE3BED51A}"/>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frozen case definitions</a:t>
            </a:r>
          </a:p>
        </p:txBody>
      </p:sp>
      <p:sp>
        <p:nvSpPr>
          <p:cNvPr id="8" name="Rectangle: Rounded Corners 7">
            <a:extLst>
              <a:ext uri="{FF2B5EF4-FFF2-40B4-BE49-F238E27FC236}">
                <a16:creationId xmlns:a16="http://schemas.microsoft.com/office/drawing/2014/main" id="{2BAF6785-3C4B-A052-D23F-C865B5177806}"/>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C524D1-A869-7B60-4A69-A06520B6F85C}"/>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3</a:t>
            </a:r>
          </a:p>
        </p:txBody>
      </p:sp>
      <p:sp>
        <p:nvSpPr>
          <p:cNvPr id="10" name="TextBox 9">
            <a:extLst>
              <a:ext uri="{FF2B5EF4-FFF2-40B4-BE49-F238E27FC236}">
                <a16:creationId xmlns:a16="http://schemas.microsoft.com/office/drawing/2014/main" id="{95813EFD-85A3-F99D-8107-220BC1484197}"/>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baseline characterizations</a:t>
            </a:r>
          </a:p>
        </p:txBody>
      </p:sp>
      <p:sp>
        <p:nvSpPr>
          <p:cNvPr id="11" name="Rectangle: Rounded Corners 10">
            <a:extLst>
              <a:ext uri="{FF2B5EF4-FFF2-40B4-BE49-F238E27FC236}">
                <a16:creationId xmlns:a16="http://schemas.microsoft.com/office/drawing/2014/main" id="{F231EF0A-4618-AC34-B726-961C58F66881}"/>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C06E81-3078-6848-06FD-DB08BB794368}"/>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13" name="TextBox 12">
            <a:extLst>
              <a:ext uri="{FF2B5EF4-FFF2-40B4-BE49-F238E27FC236}">
                <a16:creationId xmlns:a16="http://schemas.microsoft.com/office/drawing/2014/main" id="{0177FBFF-6D41-992A-CEA5-E6747B8851E6}"/>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saved primary candidates</a:t>
            </a:r>
          </a:p>
        </p:txBody>
      </p:sp>
      <p:sp>
        <p:nvSpPr>
          <p:cNvPr id="14" name="Rectangle: Rounded Corners 13">
            <a:extLst>
              <a:ext uri="{FF2B5EF4-FFF2-40B4-BE49-F238E27FC236}">
                <a16:creationId xmlns:a16="http://schemas.microsoft.com/office/drawing/2014/main" id="{730E4437-6F5B-2BC4-F101-C48114BEA09B}"/>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9A6B8D-E4C5-26DA-E6DF-DA84B8112EDB}"/>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140</a:t>
            </a:r>
          </a:p>
        </p:txBody>
      </p:sp>
      <p:sp>
        <p:nvSpPr>
          <p:cNvPr id="16" name="TextBox 15">
            <a:extLst>
              <a:ext uri="{FF2B5EF4-FFF2-40B4-BE49-F238E27FC236}">
                <a16:creationId xmlns:a16="http://schemas.microsoft.com/office/drawing/2014/main" id="{11E70F9F-50A1-57DF-DDF2-1B54FEDE5714}"/>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candidate-case observations</a:t>
            </a:r>
          </a:p>
        </p:txBody>
      </p:sp>
      <p:sp>
        <p:nvSpPr>
          <p:cNvPr id="17" name="Rectangle 16">
            <a:extLst>
              <a:ext uri="{FF2B5EF4-FFF2-40B4-BE49-F238E27FC236}">
                <a16:creationId xmlns:a16="http://schemas.microsoft.com/office/drawing/2014/main" id="{8551809D-6EE4-8EF3-79B7-909E916B4844}"/>
              </a:ext>
            </a:extLst>
          </p:cNvPr>
          <p:cNvSpPr/>
          <p:nvPr/>
        </p:nvSpPr>
        <p:spPr>
          <a:xfrm>
            <a:off x="533400" y="2819400"/>
            <a:ext cx="2349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981EFB8-F022-C89B-1BFA-0FAA265CFCFD}"/>
              </a:ext>
            </a:extLst>
          </p:cNvPr>
          <p:cNvSpPr txBox="1"/>
          <p:nvPr/>
        </p:nvSpPr>
        <p:spPr>
          <a:xfrm>
            <a:off x="596900" y="2857500"/>
            <a:ext cx="2222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Category</a:t>
            </a:r>
          </a:p>
        </p:txBody>
      </p:sp>
      <p:sp>
        <p:nvSpPr>
          <p:cNvPr id="19" name="Rectangle 18">
            <a:extLst>
              <a:ext uri="{FF2B5EF4-FFF2-40B4-BE49-F238E27FC236}">
                <a16:creationId xmlns:a16="http://schemas.microsoft.com/office/drawing/2014/main" id="{847581B3-4085-D0A0-CF4D-DE1692CD4943}"/>
              </a:ext>
            </a:extLst>
          </p:cNvPr>
          <p:cNvSpPr/>
          <p:nvPr/>
        </p:nvSpPr>
        <p:spPr>
          <a:xfrm>
            <a:off x="2882900" y="2819400"/>
            <a:ext cx="1397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E61B4DA-B642-9769-D1A1-372AE6904B4D}"/>
              </a:ext>
            </a:extLst>
          </p:cNvPr>
          <p:cNvSpPr txBox="1"/>
          <p:nvPr/>
        </p:nvSpPr>
        <p:spPr>
          <a:xfrm>
            <a:off x="2946400" y="2857500"/>
            <a:ext cx="1270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Observations</a:t>
            </a:r>
          </a:p>
        </p:txBody>
      </p:sp>
      <p:sp>
        <p:nvSpPr>
          <p:cNvPr id="21" name="Rectangle 20">
            <a:extLst>
              <a:ext uri="{FF2B5EF4-FFF2-40B4-BE49-F238E27FC236}">
                <a16:creationId xmlns:a16="http://schemas.microsoft.com/office/drawing/2014/main" id="{D43417F9-17B5-9AE7-D688-8F293F09AB31}"/>
              </a:ext>
            </a:extLst>
          </p:cNvPr>
          <p:cNvSpPr/>
          <p:nvPr/>
        </p:nvSpPr>
        <p:spPr>
          <a:xfrm>
            <a:off x="4279900" y="2819400"/>
            <a:ext cx="1016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7FEF100-E9B7-013E-FEF1-2A5B22F71A72}"/>
              </a:ext>
            </a:extLst>
          </p:cNvPr>
          <p:cNvSpPr txBox="1"/>
          <p:nvPr/>
        </p:nvSpPr>
        <p:spPr>
          <a:xfrm>
            <a:off x="4343400" y="2857500"/>
            <a:ext cx="889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Pass</a:t>
            </a:r>
          </a:p>
        </p:txBody>
      </p:sp>
      <p:sp>
        <p:nvSpPr>
          <p:cNvPr id="23" name="Rectangle 22">
            <a:extLst>
              <a:ext uri="{FF2B5EF4-FFF2-40B4-BE49-F238E27FC236}">
                <a16:creationId xmlns:a16="http://schemas.microsoft.com/office/drawing/2014/main" id="{30754E22-6146-0D5F-0AE3-3F15494E0942}"/>
              </a:ext>
            </a:extLst>
          </p:cNvPr>
          <p:cNvSpPr/>
          <p:nvPr/>
        </p:nvSpPr>
        <p:spPr>
          <a:xfrm>
            <a:off x="5295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851B1D9-965A-6EA4-3B30-73BB6F6648EE}"/>
              </a:ext>
            </a:extLst>
          </p:cNvPr>
          <p:cNvSpPr txBox="1"/>
          <p:nvPr/>
        </p:nvSpPr>
        <p:spPr>
          <a:xfrm>
            <a:off x="5359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Fail</a:t>
            </a:r>
          </a:p>
        </p:txBody>
      </p:sp>
      <p:sp>
        <p:nvSpPr>
          <p:cNvPr id="25" name="Rectangle 24">
            <a:extLst>
              <a:ext uri="{FF2B5EF4-FFF2-40B4-BE49-F238E27FC236}">
                <a16:creationId xmlns:a16="http://schemas.microsoft.com/office/drawing/2014/main" id="{09998FB3-5D90-9CA6-A091-404B5102E753}"/>
              </a:ext>
            </a:extLst>
          </p:cNvPr>
          <p:cNvSpPr/>
          <p:nvPr/>
        </p:nvSpPr>
        <p:spPr>
          <a:xfrm>
            <a:off x="6184900" y="2819400"/>
            <a:ext cx="1460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8DBBCAB-C36C-40A8-88D9-96438842349F}"/>
              </a:ext>
            </a:extLst>
          </p:cNvPr>
          <p:cNvSpPr txBox="1"/>
          <p:nvPr/>
        </p:nvSpPr>
        <p:spPr>
          <a:xfrm>
            <a:off x="6248400" y="2857500"/>
            <a:ext cx="1333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Inconclusive</a:t>
            </a:r>
          </a:p>
        </p:txBody>
      </p:sp>
      <p:sp>
        <p:nvSpPr>
          <p:cNvPr id="27" name="Rectangle 26">
            <a:extLst>
              <a:ext uri="{FF2B5EF4-FFF2-40B4-BE49-F238E27FC236}">
                <a16:creationId xmlns:a16="http://schemas.microsoft.com/office/drawing/2014/main" id="{43608C59-EAC1-474E-E50B-2E66A048CCCB}"/>
              </a:ext>
            </a:extLst>
          </p:cNvPr>
          <p:cNvSpPr/>
          <p:nvPr/>
        </p:nvSpPr>
        <p:spPr>
          <a:xfrm>
            <a:off x="7645400" y="2819400"/>
            <a:ext cx="28321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C3AB69-9B80-3254-78A7-87C9D14F899C}"/>
              </a:ext>
            </a:extLst>
          </p:cNvPr>
          <p:cNvSpPr txBox="1"/>
          <p:nvPr/>
        </p:nvSpPr>
        <p:spPr>
          <a:xfrm>
            <a:off x="7708900" y="2857500"/>
            <a:ext cx="27051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Interpretation</a:t>
            </a:r>
          </a:p>
        </p:txBody>
      </p:sp>
      <p:sp>
        <p:nvSpPr>
          <p:cNvPr id="29" name="Rectangle 28">
            <a:extLst>
              <a:ext uri="{FF2B5EF4-FFF2-40B4-BE49-F238E27FC236}">
                <a16:creationId xmlns:a16="http://schemas.microsoft.com/office/drawing/2014/main" id="{38DDB0F5-4BE5-C113-D599-584E025233BB}"/>
              </a:ext>
            </a:extLst>
          </p:cNvPr>
          <p:cNvSpPr/>
          <p:nvPr/>
        </p:nvSpPr>
        <p:spPr>
          <a:xfrm>
            <a:off x="533400" y="33147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C102499-3323-FBA6-7A3D-2807F87008AD}"/>
              </a:ext>
            </a:extLst>
          </p:cNvPr>
          <p:cNvSpPr txBox="1"/>
          <p:nvPr/>
        </p:nvSpPr>
        <p:spPr>
          <a:xfrm>
            <a:off x="596900" y="33528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Security</a:t>
            </a:r>
          </a:p>
        </p:txBody>
      </p:sp>
      <p:sp>
        <p:nvSpPr>
          <p:cNvPr id="31" name="Rectangle 30">
            <a:extLst>
              <a:ext uri="{FF2B5EF4-FFF2-40B4-BE49-F238E27FC236}">
                <a16:creationId xmlns:a16="http://schemas.microsoft.com/office/drawing/2014/main" id="{2A24890C-7600-9B00-D056-9C63432ED2E1}"/>
              </a:ext>
            </a:extLst>
          </p:cNvPr>
          <p:cNvSpPr/>
          <p:nvPr/>
        </p:nvSpPr>
        <p:spPr>
          <a:xfrm>
            <a:off x="2882900" y="33147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BEE61E0-DF6A-B1BA-8E02-D6F75B9A3F5A}"/>
              </a:ext>
            </a:extLst>
          </p:cNvPr>
          <p:cNvSpPr txBox="1"/>
          <p:nvPr/>
        </p:nvSpPr>
        <p:spPr>
          <a:xfrm>
            <a:off x="2946400" y="33528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60</a:t>
            </a:r>
          </a:p>
        </p:txBody>
      </p:sp>
      <p:sp>
        <p:nvSpPr>
          <p:cNvPr id="33" name="Rectangle 32">
            <a:extLst>
              <a:ext uri="{FF2B5EF4-FFF2-40B4-BE49-F238E27FC236}">
                <a16:creationId xmlns:a16="http://schemas.microsoft.com/office/drawing/2014/main" id="{36651395-C437-AC8E-95E9-0C52DB39ABE5}"/>
              </a:ext>
            </a:extLst>
          </p:cNvPr>
          <p:cNvSpPr/>
          <p:nvPr/>
        </p:nvSpPr>
        <p:spPr>
          <a:xfrm>
            <a:off x="4279900" y="33147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D1A87BE-C4C5-E056-90D1-8E3F482E5FA5}"/>
              </a:ext>
            </a:extLst>
          </p:cNvPr>
          <p:cNvSpPr txBox="1"/>
          <p:nvPr/>
        </p:nvSpPr>
        <p:spPr>
          <a:xfrm>
            <a:off x="4343400" y="33528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55</a:t>
            </a:r>
          </a:p>
        </p:txBody>
      </p:sp>
      <p:sp>
        <p:nvSpPr>
          <p:cNvPr id="35" name="Rectangle 34">
            <a:extLst>
              <a:ext uri="{FF2B5EF4-FFF2-40B4-BE49-F238E27FC236}">
                <a16:creationId xmlns:a16="http://schemas.microsoft.com/office/drawing/2014/main" id="{E745B17E-5A3F-2B5E-4DFD-F59AA670B42C}"/>
              </a:ext>
            </a:extLst>
          </p:cNvPr>
          <p:cNvSpPr/>
          <p:nvPr/>
        </p:nvSpPr>
        <p:spPr>
          <a:xfrm>
            <a:off x="5295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0D8CF99-32FF-D7C3-21A5-F4EA0C45A54B}"/>
              </a:ext>
            </a:extLst>
          </p:cNvPr>
          <p:cNvSpPr txBox="1"/>
          <p:nvPr/>
        </p:nvSpPr>
        <p:spPr>
          <a:xfrm>
            <a:off x="5359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37" name="Rectangle 36">
            <a:extLst>
              <a:ext uri="{FF2B5EF4-FFF2-40B4-BE49-F238E27FC236}">
                <a16:creationId xmlns:a16="http://schemas.microsoft.com/office/drawing/2014/main" id="{350D615C-172A-859E-8449-F55DB225E043}"/>
              </a:ext>
            </a:extLst>
          </p:cNvPr>
          <p:cNvSpPr/>
          <p:nvPr/>
        </p:nvSpPr>
        <p:spPr>
          <a:xfrm>
            <a:off x="6184900" y="33147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8F68D84-5565-726F-DCEA-1F215C4398C7}"/>
              </a:ext>
            </a:extLst>
          </p:cNvPr>
          <p:cNvSpPr txBox="1"/>
          <p:nvPr/>
        </p:nvSpPr>
        <p:spPr>
          <a:xfrm>
            <a:off x="6248400" y="33528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9" name="Rectangle 38">
            <a:extLst>
              <a:ext uri="{FF2B5EF4-FFF2-40B4-BE49-F238E27FC236}">
                <a16:creationId xmlns:a16="http://schemas.microsoft.com/office/drawing/2014/main" id="{FC0008D3-55CF-1E25-C197-993212808CE6}"/>
              </a:ext>
            </a:extLst>
          </p:cNvPr>
          <p:cNvSpPr/>
          <p:nvPr/>
        </p:nvSpPr>
        <p:spPr>
          <a:xfrm>
            <a:off x="7645400" y="33147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F5E3D4F-0B45-1CFE-8AAC-3B4395776ADA}"/>
              </a:ext>
            </a:extLst>
          </p:cNvPr>
          <p:cNvSpPr txBox="1"/>
          <p:nvPr/>
        </p:nvSpPr>
        <p:spPr>
          <a:xfrm>
            <a:off x="7708900" y="33528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Symlink unavailable</a:t>
            </a:r>
          </a:p>
        </p:txBody>
      </p:sp>
      <p:sp>
        <p:nvSpPr>
          <p:cNvPr id="41" name="Rectangle 40">
            <a:extLst>
              <a:ext uri="{FF2B5EF4-FFF2-40B4-BE49-F238E27FC236}">
                <a16:creationId xmlns:a16="http://schemas.microsoft.com/office/drawing/2014/main" id="{BCC48D92-D740-3628-D4A4-0F3D7DEB0FFB}"/>
              </a:ext>
            </a:extLst>
          </p:cNvPr>
          <p:cNvSpPr/>
          <p:nvPr/>
        </p:nvSpPr>
        <p:spPr>
          <a:xfrm>
            <a:off x="533400" y="38100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AB5FF75-6B06-4B7C-AD0F-6C4AAFE55373}"/>
              </a:ext>
            </a:extLst>
          </p:cNvPr>
          <p:cNvSpPr txBox="1"/>
          <p:nvPr/>
        </p:nvSpPr>
        <p:spPr>
          <a:xfrm>
            <a:off x="596900" y="38481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Behavioral parity</a:t>
            </a:r>
          </a:p>
        </p:txBody>
      </p:sp>
      <p:sp>
        <p:nvSpPr>
          <p:cNvPr id="43" name="Rectangle 42">
            <a:extLst>
              <a:ext uri="{FF2B5EF4-FFF2-40B4-BE49-F238E27FC236}">
                <a16:creationId xmlns:a16="http://schemas.microsoft.com/office/drawing/2014/main" id="{97D8D5AC-42F0-826A-D6E3-FE0900308186}"/>
              </a:ext>
            </a:extLst>
          </p:cNvPr>
          <p:cNvSpPr/>
          <p:nvPr/>
        </p:nvSpPr>
        <p:spPr>
          <a:xfrm>
            <a:off x="2882900" y="38100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5E31261-B1D6-F985-0D00-6AD001E48B0D}"/>
              </a:ext>
            </a:extLst>
          </p:cNvPr>
          <p:cNvSpPr txBox="1"/>
          <p:nvPr/>
        </p:nvSpPr>
        <p:spPr>
          <a:xfrm>
            <a:off x="2946400" y="38481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45</a:t>
            </a:r>
          </a:p>
        </p:txBody>
      </p:sp>
      <p:sp>
        <p:nvSpPr>
          <p:cNvPr id="45" name="Rectangle 44">
            <a:extLst>
              <a:ext uri="{FF2B5EF4-FFF2-40B4-BE49-F238E27FC236}">
                <a16:creationId xmlns:a16="http://schemas.microsoft.com/office/drawing/2014/main" id="{B75C0BBD-3410-8B59-AB08-6E5A9CCC2A91}"/>
              </a:ext>
            </a:extLst>
          </p:cNvPr>
          <p:cNvSpPr/>
          <p:nvPr/>
        </p:nvSpPr>
        <p:spPr>
          <a:xfrm>
            <a:off x="4279900" y="38100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3B50832-584D-ED45-EEBB-9B9C02E56E27}"/>
              </a:ext>
            </a:extLst>
          </p:cNvPr>
          <p:cNvSpPr txBox="1"/>
          <p:nvPr/>
        </p:nvSpPr>
        <p:spPr>
          <a:xfrm>
            <a:off x="4343400" y="38481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40</a:t>
            </a:r>
          </a:p>
        </p:txBody>
      </p:sp>
      <p:sp>
        <p:nvSpPr>
          <p:cNvPr id="47" name="Rectangle 46">
            <a:extLst>
              <a:ext uri="{FF2B5EF4-FFF2-40B4-BE49-F238E27FC236}">
                <a16:creationId xmlns:a16="http://schemas.microsoft.com/office/drawing/2014/main" id="{D10B71AB-BFA8-F085-F128-02FA4E1AAADB}"/>
              </a:ext>
            </a:extLst>
          </p:cNvPr>
          <p:cNvSpPr/>
          <p:nvPr/>
        </p:nvSpPr>
        <p:spPr>
          <a:xfrm>
            <a:off x="5295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D369A58-791E-812F-5179-EA89326844AF}"/>
              </a:ext>
            </a:extLst>
          </p:cNvPr>
          <p:cNvSpPr txBox="1"/>
          <p:nvPr/>
        </p:nvSpPr>
        <p:spPr>
          <a:xfrm>
            <a:off x="5359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9" name="Rectangle 48">
            <a:extLst>
              <a:ext uri="{FF2B5EF4-FFF2-40B4-BE49-F238E27FC236}">
                <a16:creationId xmlns:a16="http://schemas.microsoft.com/office/drawing/2014/main" id="{2A37AA93-98F4-A41B-6FE4-1353DC605F58}"/>
              </a:ext>
            </a:extLst>
          </p:cNvPr>
          <p:cNvSpPr/>
          <p:nvPr/>
        </p:nvSpPr>
        <p:spPr>
          <a:xfrm>
            <a:off x="6184900" y="38100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4905D2D1-25CF-F126-10E3-B060D6747686}"/>
              </a:ext>
            </a:extLst>
          </p:cNvPr>
          <p:cNvSpPr txBox="1"/>
          <p:nvPr/>
        </p:nvSpPr>
        <p:spPr>
          <a:xfrm>
            <a:off x="6248400" y="38481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51" name="Rectangle 50">
            <a:extLst>
              <a:ext uri="{FF2B5EF4-FFF2-40B4-BE49-F238E27FC236}">
                <a16:creationId xmlns:a16="http://schemas.microsoft.com/office/drawing/2014/main" id="{016595DB-866E-BBEE-17DF-81B15DBFA211}"/>
              </a:ext>
            </a:extLst>
          </p:cNvPr>
          <p:cNvSpPr/>
          <p:nvPr/>
        </p:nvSpPr>
        <p:spPr>
          <a:xfrm>
            <a:off x="7645400" y="38100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9ADE2F2-F7B4-97D3-92C2-1FF24210EA7A}"/>
              </a:ext>
            </a:extLst>
          </p:cNvPr>
          <p:cNvSpPr txBox="1"/>
          <p:nvPr/>
        </p:nvSpPr>
        <p:spPr>
          <a:xfrm>
            <a:off x="7708900" y="38481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Observable changes</a:t>
            </a:r>
          </a:p>
        </p:txBody>
      </p:sp>
      <p:sp>
        <p:nvSpPr>
          <p:cNvPr id="53" name="Rectangle 52">
            <a:extLst>
              <a:ext uri="{FF2B5EF4-FFF2-40B4-BE49-F238E27FC236}">
                <a16:creationId xmlns:a16="http://schemas.microsoft.com/office/drawing/2014/main" id="{7AB36B25-A641-B436-449C-AA228A2DEF7B}"/>
              </a:ext>
            </a:extLst>
          </p:cNvPr>
          <p:cNvSpPr/>
          <p:nvPr/>
        </p:nvSpPr>
        <p:spPr>
          <a:xfrm>
            <a:off x="533400" y="43053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0B754A3-31CD-0A9A-E059-2ECBC0F47F50}"/>
              </a:ext>
            </a:extLst>
          </p:cNvPr>
          <p:cNvSpPr txBox="1"/>
          <p:nvPr/>
        </p:nvSpPr>
        <p:spPr>
          <a:xfrm>
            <a:off x="596900" y="43434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Robustness</a:t>
            </a:r>
          </a:p>
        </p:txBody>
      </p:sp>
      <p:sp>
        <p:nvSpPr>
          <p:cNvPr id="55" name="Rectangle 54">
            <a:extLst>
              <a:ext uri="{FF2B5EF4-FFF2-40B4-BE49-F238E27FC236}">
                <a16:creationId xmlns:a16="http://schemas.microsoft.com/office/drawing/2014/main" id="{F50B3CC3-4D51-8D00-144B-9A07BEC563BC}"/>
              </a:ext>
            </a:extLst>
          </p:cNvPr>
          <p:cNvSpPr/>
          <p:nvPr/>
        </p:nvSpPr>
        <p:spPr>
          <a:xfrm>
            <a:off x="2882900" y="43053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D52083F-C793-69B6-6CEF-7B3B1B51849F}"/>
              </a:ext>
            </a:extLst>
          </p:cNvPr>
          <p:cNvSpPr txBox="1"/>
          <p:nvPr/>
        </p:nvSpPr>
        <p:spPr>
          <a:xfrm>
            <a:off x="2946400" y="43434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35</a:t>
            </a:r>
          </a:p>
        </p:txBody>
      </p:sp>
      <p:sp>
        <p:nvSpPr>
          <p:cNvPr id="57" name="Rectangle 56">
            <a:extLst>
              <a:ext uri="{FF2B5EF4-FFF2-40B4-BE49-F238E27FC236}">
                <a16:creationId xmlns:a16="http://schemas.microsoft.com/office/drawing/2014/main" id="{09B0683C-7423-74A0-69BF-660D79F7353F}"/>
              </a:ext>
            </a:extLst>
          </p:cNvPr>
          <p:cNvSpPr/>
          <p:nvPr/>
        </p:nvSpPr>
        <p:spPr>
          <a:xfrm>
            <a:off x="4279900" y="43053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8BE29F1-72F3-E62F-36CE-6AC6576D723B}"/>
              </a:ext>
            </a:extLst>
          </p:cNvPr>
          <p:cNvSpPr txBox="1"/>
          <p:nvPr/>
        </p:nvSpPr>
        <p:spPr>
          <a:xfrm>
            <a:off x="4343400" y="43434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25</a:t>
            </a:r>
          </a:p>
        </p:txBody>
      </p:sp>
      <p:sp>
        <p:nvSpPr>
          <p:cNvPr id="59" name="Rectangle 58">
            <a:extLst>
              <a:ext uri="{FF2B5EF4-FFF2-40B4-BE49-F238E27FC236}">
                <a16:creationId xmlns:a16="http://schemas.microsoft.com/office/drawing/2014/main" id="{DBDEC368-37A7-E51C-124D-947AD35CF9A9}"/>
              </a:ext>
            </a:extLst>
          </p:cNvPr>
          <p:cNvSpPr/>
          <p:nvPr/>
        </p:nvSpPr>
        <p:spPr>
          <a:xfrm>
            <a:off x="5295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AF6417D-9ADC-5F3D-DD0B-9BEFD39D70A2}"/>
              </a:ext>
            </a:extLst>
          </p:cNvPr>
          <p:cNvSpPr txBox="1"/>
          <p:nvPr/>
        </p:nvSpPr>
        <p:spPr>
          <a:xfrm>
            <a:off x="5359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10</a:t>
            </a:r>
          </a:p>
        </p:txBody>
      </p:sp>
      <p:sp>
        <p:nvSpPr>
          <p:cNvPr id="61" name="Rectangle 60">
            <a:extLst>
              <a:ext uri="{FF2B5EF4-FFF2-40B4-BE49-F238E27FC236}">
                <a16:creationId xmlns:a16="http://schemas.microsoft.com/office/drawing/2014/main" id="{E98D6013-DE47-C2BE-6340-6165BC1F5F78}"/>
              </a:ext>
            </a:extLst>
          </p:cNvPr>
          <p:cNvSpPr/>
          <p:nvPr/>
        </p:nvSpPr>
        <p:spPr>
          <a:xfrm>
            <a:off x="6184900" y="43053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9FBBDF6-5D66-074F-0F87-F69888EBEF28}"/>
              </a:ext>
            </a:extLst>
          </p:cNvPr>
          <p:cNvSpPr txBox="1"/>
          <p:nvPr/>
        </p:nvSpPr>
        <p:spPr>
          <a:xfrm>
            <a:off x="6248400" y="43434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63" name="Rectangle 62">
            <a:extLst>
              <a:ext uri="{FF2B5EF4-FFF2-40B4-BE49-F238E27FC236}">
                <a16:creationId xmlns:a16="http://schemas.microsoft.com/office/drawing/2014/main" id="{9EF88659-5939-3975-87B7-DF5532D28DE0}"/>
              </a:ext>
            </a:extLst>
          </p:cNvPr>
          <p:cNvSpPr/>
          <p:nvPr/>
        </p:nvSpPr>
        <p:spPr>
          <a:xfrm>
            <a:off x="7645400" y="43053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5CCBA8B-28E2-E04D-B169-D9413A4F0A9F}"/>
              </a:ext>
            </a:extLst>
          </p:cNvPr>
          <p:cNvSpPr txBox="1"/>
          <p:nvPr/>
        </p:nvSpPr>
        <p:spPr>
          <a:xfrm>
            <a:off x="7708900" y="43434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New input contracts</a:t>
            </a:r>
          </a:p>
        </p:txBody>
      </p:sp>
      <p:sp>
        <p:nvSpPr>
          <p:cNvPr id="65" name="Rectangle 64">
            <a:extLst>
              <a:ext uri="{FF2B5EF4-FFF2-40B4-BE49-F238E27FC236}">
                <a16:creationId xmlns:a16="http://schemas.microsoft.com/office/drawing/2014/main" id="{AE97915B-2F5A-2B3E-F3E5-72E0D3B68648}"/>
              </a:ext>
            </a:extLst>
          </p:cNvPr>
          <p:cNvSpPr/>
          <p:nvPr/>
        </p:nvSpPr>
        <p:spPr>
          <a:xfrm>
            <a:off x="533400" y="48006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A29CE90C-8F1D-4A03-2644-DC04E10338E6}"/>
              </a:ext>
            </a:extLst>
          </p:cNvPr>
          <p:cNvSpPr txBox="1"/>
          <p:nvPr/>
        </p:nvSpPr>
        <p:spPr>
          <a:xfrm>
            <a:off x="596900" y="48387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5FC838CE-F2D1-1FD4-8E7F-B68BBA9D7C91}"/>
              </a:ext>
            </a:extLst>
          </p:cNvPr>
          <p:cNvSpPr/>
          <p:nvPr/>
        </p:nvSpPr>
        <p:spPr>
          <a:xfrm>
            <a:off x="2882900" y="48006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801CE15-B36B-36AB-14DC-701736A8C732}"/>
              </a:ext>
            </a:extLst>
          </p:cNvPr>
          <p:cNvSpPr txBox="1"/>
          <p:nvPr/>
        </p:nvSpPr>
        <p:spPr>
          <a:xfrm>
            <a:off x="2946400" y="48387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140</a:t>
            </a:r>
          </a:p>
        </p:txBody>
      </p:sp>
      <p:sp>
        <p:nvSpPr>
          <p:cNvPr id="69" name="Rectangle 68">
            <a:extLst>
              <a:ext uri="{FF2B5EF4-FFF2-40B4-BE49-F238E27FC236}">
                <a16:creationId xmlns:a16="http://schemas.microsoft.com/office/drawing/2014/main" id="{8186558C-C8E7-701D-8D48-7B855369699D}"/>
              </a:ext>
            </a:extLst>
          </p:cNvPr>
          <p:cNvSpPr/>
          <p:nvPr/>
        </p:nvSpPr>
        <p:spPr>
          <a:xfrm>
            <a:off x="4279900" y="48006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04B35578-8B9E-41AA-8062-08A29E711660}"/>
              </a:ext>
            </a:extLst>
          </p:cNvPr>
          <p:cNvSpPr txBox="1"/>
          <p:nvPr/>
        </p:nvSpPr>
        <p:spPr>
          <a:xfrm>
            <a:off x="4343400" y="48387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120</a:t>
            </a:r>
          </a:p>
        </p:txBody>
      </p:sp>
      <p:sp>
        <p:nvSpPr>
          <p:cNvPr id="71" name="Rectangle 70">
            <a:extLst>
              <a:ext uri="{FF2B5EF4-FFF2-40B4-BE49-F238E27FC236}">
                <a16:creationId xmlns:a16="http://schemas.microsoft.com/office/drawing/2014/main" id="{C138B1E2-E9DC-CCF8-8D41-CA7625628C16}"/>
              </a:ext>
            </a:extLst>
          </p:cNvPr>
          <p:cNvSpPr/>
          <p:nvPr/>
        </p:nvSpPr>
        <p:spPr>
          <a:xfrm>
            <a:off x="5295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DC06EF5-6377-F0B6-730C-F9CCAC62AC9A}"/>
              </a:ext>
            </a:extLst>
          </p:cNvPr>
          <p:cNvSpPr txBox="1"/>
          <p:nvPr/>
        </p:nvSpPr>
        <p:spPr>
          <a:xfrm>
            <a:off x="5359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73" name="Rectangle 72">
            <a:extLst>
              <a:ext uri="{FF2B5EF4-FFF2-40B4-BE49-F238E27FC236}">
                <a16:creationId xmlns:a16="http://schemas.microsoft.com/office/drawing/2014/main" id="{77C9D5A4-034B-E55E-91E1-1A8F6D03B3F2}"/>
              </a:ext>
            </a:extLst>
          </p:cNvPr>
          <p:cNvSpPr/>
          <p:nvPr/>
        </p:nvSpPr>
        <p:spPr>
          <a:xfrm>
            <a:off x="6184900" y="48006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16655001-AB89-3C4F-23D2-020BDE2C721A}"/>
              </a:ext>
            </a:extLst>
          </p:cNvPr>
          <p:cNvSpPr txBox="1"/>
          <p:nvPr/>
        </p:nvSpPr>
        <p:spPr>
          <a:xfrm>
            <a:off x="6248400" y="48387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75" name="Rectangle 74">
            <a:extLst>
              <a:ext uri="{FF2B5EF4-FFF2-40B4-BE49-F238E27FC236}">
                <a16:creationId xmlns:a16="http://schemas.microsoft.com/office/drawing/2014/main" id="{08894D1C-A42A-4E57-E932-01E5CF5B67F8}"/>
              </a:ext>
            </a:extLst>
          </p:cNvPr>
          <p:cNvSpPr/>
          <p:nvPr/>
        </p:nvSpPr>
        <p:spPr>
          <a:xfrm>
            <a:off x="7645400" y="48006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5CD365F2-A74E-FFA0-EFC9-47720F644059}"/>
              </a:ext>
            </a:extLst>
          </p:cNvPr>
          <p:cNvSpPr txBox="1"/>
          <p:nvPr/>
        </p:nvSpPr>
        <p:spPr>
          <a:xfrm>
            <a:off x="7708900" y="48387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Mixed categories</a:t>
            </a:r>
          </a:p>
        </p:txBody>
      </p:sp>
      <p:sp>
        <p:nvSpPr>
          <p:cNvPr id="77" name="TextBox 76">
            <a:extLst>
              <a:ext uri="{FF2B5EF4-FFF2-40B4-BE49-F238E27FC236}">
                <a16:creationId xmlns:a16="http://schemas.microsoft.com/office/drawing/2014/main" id="{A10DE64E-376F-91C8-015F-7D10E7207EC8}"/>
              </a:ext>
            </a:extLst>
          </p:cNvPr>
          <p:cNvSpPr txBox="1"/>
          <p:nvPr/>
        </p:nvSpPr>
        <p:spPr>
          <a:xfrm>
            <a:off x="609600" y="5486400"/>
            <a:ext cx="10896600" cy="276999"/>
          </a:xfrm>
          <a:prstGeom prst="rect">
            <a:avLst/>
          </a:prstGeom>
          <a:noFill/>
        </p:spPr>
        <p:txBody>
          <a:bodyPr vert="horz" wrap="square" lIns="0" tIns="0" rIns="0" bIns="0" rtlCol="0" anchor="t">
            <a:noAutofit/>
          </a:bodyPr>
          <a:lstStyle/>
          <a:p>
            <a:pPr algn="ctr"/>
            <a:r>
              <a:rPr lang="en-US" sz="1200">
                <a:solidFill>
                  <a:srgbClr val="526C8E"/>
                </a:solidFill>
                <a:latin typeface="Aptos" panose="020B0004020202020204" pitchFamily="34" charset="0"/>
              </a:rPr>
              <a:t>Denominators: 12 security x 5 = 60  |  9 parity x 5 = 45  |  7 robustness x 5 = 35</a:t>
            </a:r>
          </a:p>
        </p:txBody>
      </p:sp>
      <p:sp>
        <p:nvSpPr>
          <p:cNvPr id="78" name="Rectangle: Rounded Corners 77">
            <a:extLst>
              <a:ext uri="{FF2B5EF4-FFF2-40B4-BE49-F238E27FC236}">
                <a16:creationId xmlns:a16="http://schemas.microsoft.com/office/drawing/2014/main" id="{457CA913-7728-013E-FD52-F27698E2F018}"/>
              </a:ext>
            </a:extLst>
          </p:cNvPr>
          <p:cNvSpPr/>
          <p:nvPr/>
        </p:nvSpPr>
        <p:spPr>
          <a:xfrm>
            <a:off x="2667000" y="5867400"/>
            <a:ext cx="6858000" cy="482600"/>
          </a:xfrm>
          <a:prstGeom prst="roundRect">
            <a:avLst/>
          </a:prstGeom>
          <a:solidFill>
            <a:srgbClr val="FBECEA"/>
          </a:solidFill>
          <a:ln w="1524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84D569E4-C70C-7C7C-8975-FA823D228DBD}"/>
              </a:ext>
            </a:extLst>
          </p:cNvPr>
          <p:cNvSpPr txBox="1"/>
          <p:nvPr/>
        </p:nvSpPr>
        <p:spPr>
          <a:xfrm>
            <a:off x="2870200" y="5956300"/>
            <a:ext cx="6451600" cy="276999"/>
          </a:xfrm>
          <a:prstGeom prst="rect">
            <a:avLst/>
          </a:prstGeom>
          <a:noFill/>
        </p:spPr>
        <p:txBody>
          <a:bodyPr vert="horz" wrap="square" lIns="0" tIns="0" rIns="0" bIns="0" rtlCol="0" anchor="ctr">
            <a:noAutofit/>
          </a:bodyPr>
          <a:lstStyle/>
          <a:p>
            <a:pPr algn="ctr"/>
            <a:r>
              <a:rPr lang="en-US" sz="1350" b="1">
                <a:solidFill>
                  <a:srgbClr val="B35D5B"/>
                </a:solidFill>
                <a:latin typeface="Aptos" panose="020B0004020202020204" pitchFamily="34" charset="0"/>
              </a:rPr>
              <a:t>Do not pool these into one "security success rate."</a:t>
            </a:r>
          </a:p>
        </p:txBody>
      </p:sp>
      <p:sp>
        <p:nvSpPr>
          <p:cNvPr id="80" name="TextBox 79">
            <a:extLst>
              <a:ext uri="{FF2B5EF4-FFF2-40B4-BE49-F238E27FC236}">
                <a16:creationId xmlns:a16="http://schemas.microsoft.com/office/drawing/2014/main" id="{7C4D6E7A-BF7E-9F1A-3CDF-AFD69D82064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1" name="TextBox 80">
            <a:extLst>
              <a:ext uri="{FF2B5EF4-FFF2-40B4-BE49-F238E27FC236}">
                <a16:creationId xmlns:a16="http://schemas.microsoft.com/office/drawing/2014/main" id="{643F9578-A1D8-7745-A32E-A50C8511D829}"/>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5</a:t>
            </a:r>
          </a:p>
        </p:txBody>
      </p:sp>
    </p:spTree>
    <p:extLst>
      <p:ext uri="{BB962C8B-B14F-4D97-AF65-F5344CB8AC3E}">
        <p14:creationId xmlns:p14="http://schemas.microsoft.com/office/powerpoint/2010/main" val="371777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3ADF2-8CF5-76C7-E3A0-9AE190667DB1}"/>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4. Evidence demo: follow one candidate chain</a:t>
            </a:r>
          </a:p>
        </p:txBody>
      </p:sp>
      <p:sp>
        <p:nvSpPr>
          <p:cNvPr id="3" name="TextBox 2">
            <a:extLst>
              <a:ext uri="{FF2B5EF4-FFF2-40B4-BE49-F238E27FC236}">
                <a16:creationId xmlns:a16="http://schemas.microsoft.com/office/drawing/2014/main" id="{A5EDD953-AECA-BC77-ACEE-3AD13427403A}"/>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Open the public evidence first; keep raw artifacts as technical backup</a:t>
            </a:r>
          </a:p>
        </p:txBody>
      </p:sp>
      <p:cxnSp>
        <p:nvCxnSpPr>
          <p:cNvPr id="4" name="Straight Connector 3">
            <a:extLst>
              <a:ext uri="{FF2B5EF4-FFF2-40B4-BE49-F238E27FC236}">
                <a16:creationId xmlns:a16="http://schemas.microsoft.com/office/drawing/2014/main" id="{3199D1AC-18E3-DFBF-BCA5-7B503EF52B9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FA368071-AB53-4E75-F402-D34ADDC8F09D}"/>
              </a:ext>
            </a:extLst>
          </p:cNvPr>
          <p:cNvSpPr/>
          <p:nvPr/>
        </p:nvSpPr>
        <p:spPr>
          <a:xfrm>
            <a:off x="609600" y="14224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BD396A-857E-0F12-1F38-3D37391A3FD9}"/>
              </a:ext>
            </a:extLst>
          </p:cNvPr>
          <p:cNvSpPr txBox="1"/>
          <p:nvPr/>
        </p:nvSpPr>
        <p:spPr>
          <a:xfrm>
            <a:off x="609600" y="14351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1</a:t>
            </a:r>
          </a:p>
        </p:txBody>
      </p:sp>
      <p:sp>
        <p:nvSpPr>
          <p:cNvPr id="7" name="TextBox 6">
            <a:extLst>
              <a:ext uri="{FF2B5EF4-FFF2-40B4-BE49-F238E27FC236}">
                <a16:creationId xmlns:a16="http://schemas.microsoft.com/office/drawing/2014/main" id="{E37C5516-C10E-1120-012A-1EE83A095767}"/>
              </a:ext>
            </a:extLst>
          </p:cNvPr>
          <p:cNvSpPr txBox="1"/>
          <p:nvPr/>
        </p:nvSpPr>
        <p:spPr>
          <a:xfrm>
            <a:off x="1219200" y="13970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plan</a:t>
            </a:r>
          </a:p>
        </p:txBody>
      </p:sp>
      <p:sp>
        <p:nvSpPr>
          <p:cNvPr id="8" name="TextBox 7">
            <a:extLst>
              <a:ext uri="{FF2B5EF4-FFF2-40B4-BE49-F238E27FC236}">
                <a16:creationId xmlns:a16="http://schemas.microsoft.com/office/drawing/2014/main" id="{83EB2F21-8B87-B7E6-495B-329A737F57B9}"/>
              </a:ext>
            </a:extLst>
          </p:cNvPr>
          <p:cNvSpPr txBox="1"/>
          <p:nvPr/>
        </p:nvSpPr>
        <p:spPr>
          <a:xfrm>
            <a:off x="3505200" y="13970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Five calls per CWE; all 15 completed</a:t>
            </a:r>
          </a:p>
        </p:txBody>
      </p:sp>
      <p:cxnSp>
        <p:nvCxnSpPr>
          <p:cNvPr id="9" name="Straight Connector 8">
            <a:extLst>
              <a:ext uri="{FF2B5EF4-FFF2-40B4-BE49-F238E27FC236}">
                <a16:creationId xmlns:a16="http://schemas.microsoft.com/office/drawing/2014/main" id="{DE546671-1076-6ED7-0C8D-589D59CBF7BB}"/>
              </a:ext>
            </a:extLst>
          </p:cNvPr>
          <p:cNvCxnSpPr/>
          <p:nvPr/>
        </p:nvCxnSpPr>
        <p:spPr>
          <a:xfrm>
            <a:off x="825500" y="18669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D3739F29-10EB-7D82-1855-80B4AF56A8C9}"/>
              </a:ext>
            </a:extLst>
          </p:cNvPr>
          <p:cNvSpPr/>
          <p:nvPr/>
        </p:nvSpPr>
        <p:spPr>
          <a:xfrm>
            <a:off x="609600" y="22860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483C38-8D10-4295-1F77-A76150A6DD54}"/>
              </a:ext>
            </a:extLst>
          </p:cNvPr>
          <p:cNvSpPr txBox="1"/>
          <p:nvPr/>
        </p:nvSpPr>
        <p:spPr>
          <a:xfrm>
            <a:off x="609600" y="22987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2</a:t>
            </a:r>
          </a:p>
        </p:txBody>
      </p:sp>
      <p:sp>
        <p:nvSpPr>
          <p:cNvPr id="12" name="TextBox 11">
            <a:extLst>
              <a:ext uri="{FF2B5EF4-FFF2-40B4-BE49-F238E27FC236}">
                <a16:creationId xmlns:a16="http://schemas.microsoft.com/office/drawing/2014/main" id="{DD8DA1AA-C3AE-A9BD-CA9B-8B5BC966F788}"/>
              </a:ext>
            </a:extLst>
          </p:cNvPr>
          <p:cNvSpPr txBox="1"/>
          <p:nvPr/>
        </p:nvSpPr>
        <p:spPr>
          <a:xfrm>
            <a:off x="1219200" y="22606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Primary result</a:t>
            </a:r>
          </a:p>
        </p:txBody>
      </p:sp>
      <p:sp>
        <p:nvSpPr>
          <p:cNvPr id="13" name="TextBox 12">
            <a:extLst>
              <a:ext uri="{FF2B5EF4-FFF2-40B4-BE49-F238E27FC236}">
                <a16:creationId xmlns:a16="http://schemas.microsoft.com/office/drawing/2014/main" id="{9B2EFF73-CD9A-3908-D469-35EFA0005F5A}"/>
              </a:ext>
            </a:extLst>
          </p:cNvPr>
          <p:cNvSpPr txBox="1"/>
          <p:nvPr/>
        </p:nvSpPr>
        <p:spPr>
          <a:xfrm>
            <a:off x="3505200" y="22606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Target SAST finding persisted; runtime suites passed</a:t>
            </a:r>
          </a:p>
        </p:txBody>
      </p:sp>
      <p:cxnSp>
        <p:nvCxnSpPr>
          <p:cNvPr id="14" name="Straight Connector 13">
            <a:extLst>
              <a:ext uri="{FF2B5EF4-FFF2-40B4-BE49-F238E27FC236}">
                <a16:creationId xmlns:a16="http://schemas.microsoft.com/office/drawing/2014/main" id="{9DC2AF2B-484F-4AA5-E5F7-E7297E13DBA5}"/>
              </a:ext>
            </a:extLst>
          </p:cNvPr>
          <p:cNvCxnSpPr/>
          <p:nvPr/>
        </p:nvCxnSpPr>
        <p:spPr>
          <a:xfrm>
            <a:off x="825500" y="27305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2391318-A4E5-8372-1BE2-1201B2363DFD}"/>
              </a:ext>
            </a:extLst>
          </p:cNvPr>
          <p:cNvSpPr/>
          <p:nvPr/>
        </p:nvSpPr>
        <p:spPr>
          <a:xfrm>
            <a:off x="609600" y="31496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5DE7D8F-2CD0-39F6-5D67-93E0B4F5F3F9}"/>
              </a:ext>
            </a:extLst>
          </p:cNvPr>
          <p:cNvSpPr txBox="1"/>
          <p:nvPr/>
        </p:nvSpPr>
        <p:spPr>
          <a:xfrm>
            <a:off x="609600" y="31623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2E523A8A-BB93-B931-0778-445D5709D018}"/>
              </a:ext>
            </a:extLst>
          </p:cNvPr>
          <p:cNvSpPr txBox="1"/>
          <p:nvPr/>
        </p:nvSpPr>
        <p:spPr>
          <a:xfrm>
            <a:off x="1219200" y="31242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Candidate patches</a:t>
            </a:r>
          </a:p>
        </p:txBody>
      </p:sp>
      <p:sp>
        <p:nvSpPr>
          <p:cNvPr id="18" name="TextBox 17">
            <a:extLst>
              <a:ext uri="{FF2B5EF4-FFF2-40B4-BE49-F238E27FC236}">
                <a16:creationId xmlns:a16="http://schemas.microsoft.com/office/drawing/2014/main" id="{0A2519CA-C0AD-47BC-3009-754A9EF56748}"/>
              </a:ext>
            </a:extLst>
          </p:cNvPr>
          <p:cNvSpPr txBox="1"/>
          <p:nvPr/>
        </p:nvSpPr>
        <p:spPr>
          <a:xfrm>
            <a:off x="3505200" y="31242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String(value) vs String(value ?? "")</a:t>
            </a:r>
          </a:p>
        </p:txBody>
      </p:sp>
      <p:cxnSp>
        <p:nvCxnSpPr>
          <p:cNvPr id="19" name="Straight Connector 18">
            <a:extLst>
              <a:ext uri="{FF2B5EF4-FFF2-40B4-BE49-F238E27FC236}">
                <a16:creationId xmlns:a16="http://schemas.microsoft.com/office/drawing/2014/main" id="{182720FA-E3FB-A6BF-EE93-A1C5368C06AF}"/>
              </a:ext>
            </a:extLst>
          </p:cNvPr>
          <p:cNvCxnSpPr/>
          <p:nvPr/>
        </p:nvCxnSpPr>
        <p:spPr>
          <a:xfrm>
            <a:off x="825500" y="35941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39C9D96E-EE8A-9D02-A796-71598A5D5F7A}"/>
              </a:ext>
            </a:extLst>
          </p:cNvPr>
          <p:cNvSpPr/>
          <p:nvPr/>
        </p:nvSpPr>
        <p:spPr>
          <a:xfrm>
            <a:off x="609600" y="40132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4FA13DB-4C06-5D17-C316-CD341002211F}"/>
              </a:ext>
            </a:extLst>
          </p:cNvPr>
          <p:cNvSpPr txBox="1"/>
          <p:nvPr/>
        </p:nvSpPr>
        <p:spPr>
          <a:xfrm>
            <a:off x="609600" y="40259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6C5CF320-6C07-EE31-D70E-A6EF68B59848}"/>
              </a:ext>
            </a:extLst>
          </p:cNvPr>
          <p:cNvSpPr txBox="1"/>
          <p:nvPr/>
        </p:nvSpPr>
        <p:spPr>
          <a:xfrm>
            <a:off x="1219200" y="39878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case result</a:t>
            </a:r>
          </a:p>
        </p:txBody>
      </p:sp>
      <p:sp>
        <p:nvSpPr>
          <p:cNvPr id="23" name="TextBox 22">
            <a:extLst>
              <a:ext uri="{FF2B5EF4-FFF2-40B4-BE49-F238E27FC236}">
                <a16:creationId xmlns:a16="http://schemas.microsoft.com/office/drawing/2014/main" id="{531A6740-C036-DCEC-FA1E-325D5C9F5536}"/>
              </a:ext>
            </a:extLst>
          </p:cNvPr>
          <p:cNvSpPr txBox="1"/>
          <p:nvPr/>
        </p:nvSpPr>
        <p:spPr>
          <a:xfrm>
            <a:off x="3505200" y="39878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XSS-P01: undefined (pass) vs blank (fail)</a:t>
            </a:r>
          </a:p>
        </p:txBody>
      </p:sp>
      <p:cxnSp>
        <p:nvCxnSpPr>
          <p:cNvPr id="24" name="Straight Connector 23">
            <a:extLst>
              <a:ext uri="{FF2B5EF4-FFF2-40B4-BE49-F238E27FC236}">
                <a16:creationId xmlns:a16="http://schemas.microsoft.com/office/drawing/2014/main" id="{EFFD94B4-86CD-CE89-9DA9-AF7680156C34}"/>
              </a:ext>
            </a:extLst>
          </p:cNvPr>
          <p:cNvCxnSpPr/>
          <p:nvPr/>
        </p:nvCxnSpPr>
        <p:spPr>
          <a:xfrm>
            <a:off x="825500" y="44577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6C6A98B-F4C6-3A27-5902-79533295CB9E}"/>
              </a:ext>
            </a:extLst>
          </p:cNvPr>
          <p:cNvSpPr/>
          <p:nvPr/>
        </p:nvSpPr>
        <p:spPr>
          <a:xfrm>
            <a:off x="609600" y="48768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F369785-ADD0-E540-E8E8-674D2B131458}"/>
              </a:ext>
            </a:extLst>
          </p:cNvPr>
          <p:cNvSpPr txBox="1"/>
          <p:nvPr/>
        </p:nvSpPr>
        <p:spPr>
          <a:xfrm>
            <a:off x="609600" y="48895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5</a:t>
            </a:r>
          </a:p>
        </p:txBody>
      </p:sp>
      <p:sp>
        <p:nvSpPr>
          <p:cNvPr id="27" name="TextBox 26">
            <a:extLst>
              <a:ext uri="{FF2B5EF4-FFF2-40B4-BE49-F238E27FC236}">
                <a16:creationId xmlns:a16="http://schemas.microsoft.com/office/drawing/2014/main" id="{A1C5B1D1-1D8F-7BEC-4F42-2465BB33E1CF}"/>
              </a:ext>
            </a:extLst>
          </p:cNvPr>
          <p:cNvSpPr txBox="1"/>
          <p:nvPr/>
        </p:nvSpPr>
        <p:spPr>
          <a:xfrm>
            <a:off x="1219200" y="48514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Later decision</a:t>
            </a:r>
          </a:p>
        </p:txBody>
      </p:sp>
      <p:sp>
        <p:nvSpPr>
          <p:cNvPr id="28" name="TextBox 27">
            <a:extLst>
              <a:ext uri="{FF2B5EF4-FFF2-40B4-BE49-F238E27FC236}">
                <a16:creationId xmlns:a16="http://schemas.microsoft.com/office/drawing/2014/main" id="{165D99DE-4F12-3805-B3C6-E20CEA55C177}"/>
              </a:ext>
            </a:extLst>
          </p:cNvPr>
          <p:cNvSpPr txBox="1"/>
          <p:nvPr/>
        </p:nvSpPr>
        <p:spPr>
          <a:xfrm>
            <a:off x="3505200" y="48514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04: reject candidate for parity</a:t>
            </a:r>
          </a:p>
        </p:txBody>
      </p:sp>
      <p:sp>
        <p:nvSpPr>
          <p:cNvPr id="29" name="Rectangle: Rounded Corners 28">
            <a:extLst>
              <a:ext uri="{FF2B5EF4-FFF2-40B4-BE49-F238E27FC236}">
                <a16:creationId xmlns:a16="http://schemas.microsoft.com/office/drawing/2014/main" id="{6ADF2BC5-996E-A4C5-7409-44DF003D77A4}"/>
              </a:ext>
            </a:extLst>
          </p:cNvPr>
          <p:cNvSpPr/>
          <p:nvPr/>
        </p:nvSpPr>
        <p:spPr>
          <a:xfrm>
            <a:off x="8509000" y="1422400"/>
            <a:ext cx="3149600" cy="4292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6462D05-126A-DDE5-3DD9-02D00CBC7E6C}"/>
              </a:ext>
            </a:extLst>
          </p:cNvPr>
          <p:cNvSpPr txBox="1"/>
          <p:nvPr/>
        </p:nvSpPr>
        <p:spPr>
          <a:xfrm>
            <a:off x="8737600" y="1625600"/>
            <a:ext cx="26924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OPEN BEFORE RECORDING</a:t>
            </a:r>
          </a:p>
        </p:txBody>
      </p:sp>
      <p:sp>
        <p:nvSpPr>
          <p:cNvPr id="31" name="TextBox 30">
            <a:extLst>
              <a:ext uri="{FF2B5EF4-FFF2-40B4-BE49-F238E27FC236}">
                <a16:creationId xmlns:a16="http://schemas.microsoft.com/office/drawing/2014/main" id="{1648140A-C089-1B9F-C132-0AF333FEF5A5}"/>
              </a:ext>
            </a:extLst>
          </p:cNvPr>
          <p:cNvSpPr txBox="1"/>
          <p:nvPr/>
        </p:nvSpPr>
        <p:spPr>
          <a:xfrm>
            <a:off x="8737600" y="2032000"/>
            <a:ext cx="2692400" cy="276999"/>
          </a:xfrm>
          <a:prstGeom prst="rect">
            <a:avLst/>
          </a:prstGeom>
          <a:noFill/>
        </p:spPr>
        <p:txBody>
          <a:bodyPr vert="horz" wrap="square" lIns="0" tIns="0" rIns="0" bIns="0" rtlCol="0" anchor="t">
            <a:noAutofit/>
          </a:bodyPr>
          <a:lstStyle/>
          <a:p>
            <a:r>
              <a:rPr lang="en-US" sz="1100">
                <a:solidFill>
                  <a:srgbClr val="102A4D"/>
                </a:solidFill>
                <a:latin typeface="Consolas" panose="020B0609020204030204" pitchFamily="49" charset="0"/>
              </a:rPr>
              <a:t>fixproof.netlify.app
  filter: Reflected XSS
  open: XSS 04
Where tests ran:
  saved candidate app/app.js
  localhost (127.0.0.1)
  disposable workspace copy
Raw evidence backup:
  candidate.patch
  supplemental result.json
  follow-up result.json</a:t>
            </a:r>
          </a:p>
        </p:txBody>
      </p:sp>
      <p:sp>
        <p:nvSpPr>
          <p:cNvPr id="32" name="Rectangle: Rounded Corners 31">
            <a:extLst>
              <a:ext uri="{FF2B5EF4-FFF2-40B4-BE49-F238E27FC236}">
                <a16:creationId xmlns:a16="http://schemas.microsoft.com/office/drawing/2014/main" id="{2D333A92-32D9-8166-B2F9-43B4B4316EAE}"/>
              </a:ext>
            </a:extLst>
          </p:cNvPr>
          <p:cNvSpPr/>
          <p:nvPr/>
        </p:nvSpPr>
        <p:spPr>
          <a:xfrm>
            <a:off x="533400" y="5918200"/>
            <a:ext cx="11125200" cy="482600"/>
          </a:xfrm>
          <a:prstGeom prst="roundRect">
            <a:avLst/>
          </a:prstGeom>
          <a:solidFill>
            <a:srgbClr val="EAF1FA"/>
          </a:solidFill>
          <a:ln w="1270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CF4C865-BC2A-D525-9480-01C20DE1C908}"/>
              </a:ext>
            </a:extLst>
          </p:cNvPr>
          <p:cNvSpPr txBox="1"/>
          <p:nvPr/>
        </p:nvSpPr>
        <p:spPr>
          <a:xfrm>
            <a:off x="711200" y="6007100"/>
            <a:ext cx="10795000" cy="276999"/>
          </a:xfrm>
          <a:prstGeom prst="rect">
            <a:avLst/>
          </a:prstGeom>
          <a:noFill/>
        </p:spPr>
        <p:txBody>
          <a:bodyPr vert="horz" wrap="square" lIns="0" tIns="0" rIns="0" bIns="0" rtlCol="0" anchor="ctr">
            <a:noAutofit/>
          </a:bodyPr>
          <a:lstStyle/>
          <a:p>
            <a:pPr algn="ctr"/>
            <a:r>
              <a:rPr lang="en-US" sz="1250" b="1">
                <a:solidFill>
                  <a:srgbClr val="0B2447"/>
                </a:solidFill>
                <a:latin typeface="Aptos" panose="020B0004020202020204" pitchFamily="34" charset="0"/>
              </a:rPr>
              <a:t>The public site is a sanitized view of saved evidence; it does not replay historical model calls or tests.</a:t>
            </a:r>
          </a:p>
        </p:txBody>
      </p:sp>
      <p:sp>
        <p:nvSpPr>
          <p:cNvPr id="34" name="TextBox 33">
            <a:extLst>
              <a:ext uri="{FF2B5EF4-FFF2-40B4-BE49-F238E27FC236}">
                <a16:creationId xmlns:a16="http://schemas.microsoft.com/office/drawing/2014/main" id="{97134E6B-2635-3B50-BD68-3AE1A1DDFCC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35" name="TextBox 34">
            <a:extLst>
              <a:ext uri="{FF2B5EF4-FFF2-40B4-BE49-F238E27FC236}">
                <a16:creationId xmlns:a16="http://schemas.microsoft.com/office/drawing/2014/main" id="{33EDA605-5B36-929C-A1B2-D40204056F53}"/>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6</a:t>
            </a:r>
          </a:p>
        </p:txBody>
      </p:sp>
    </p:spTree>
    <p:extLst>
      <p:ext uri="{BB962C8B-B14F-4D97-AF65-F5344CB8AC3E}">
        <p14:creationId xmlns:p14="http://schemas.microsoft.com/office/powerpoint/2010/main" val="4076325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44F46-6812-5978-409E-C6843908B4DA}"/>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5. XSS 03 versus XSS 04</a:t>
            </a:r>
          </a:p>
        </p:txBody>
      </p:sp>
      <p:sp>
        <p:nvSpPr>
          <p:cNvPr id="3" name="TextBox 2">
            <a:extLst>
              <a:ext uri="{FF2B5EF4-FFF2-40B4-BE49-F238E27FC236}">
                <a16:creationId xmlns:a16="http://schemas.microsoft.com/office/drawing/2014/main" id="{7F19174E-6812-EB06-2A4A-95F619DCE87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Both blocked the registered XSS attacks; one changed missing-input behavior</a:t>
            </a:r>
          </a:p>
        </p:txBody>
      </p:sp>
      <p:cxnSp>
        <p:nvCxnSpPr>
          <p:cNvPr id="4" name="Straight Connector 3">
            <a:extLst>
              <a:ext uri="{FF2B5EF4-FFF2-40B4-BE49-F238E27FC236}">
                <a16:creationId xmlns:a16="http://schemas.microsoft.com/office/drawing/2014/main" id="{23862881-C16B-7E9B-1323-9E6C4C36E08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ABD6518-4951-C6AF-F182-5F12D5BB9194}"/>
              </a:ext>
            </a:extLst>
          </p:cNvPr>
          <p:cNvSpPr/>
          <p:nvPr/>
        </p:nvSpPr>
        <p:spPr>
          <a:xfrm>
            <a:off x="533400" y="1422400"/>
            <a:ext cx="5257800" cy="4140200"/>
          </a:xfrm>
          <a:prstGeom prst="roundRect">
            <a:avLst/>
          </a:prstGeom>
          <a:solidFill>
            <a:srgbClr val="E8F5F1"/>
          </a:solidFill>
          <a:ln w="190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354208-0F26-E836-BA07-6436594A58FB}"/>
              </a:ext>
            </a:extLst>
          </p:cNvPr>
          <p:cNvSpPr/>
          <p:nvPr/>
        </p:nvSpPr>
        <p:spPr>
          <a:xfrm>
            <a:off x="762000" y="1625600"/>
            <a:ext cx="1193800" cy="304800"/>
          </a:xfrm>
          <a:prstGeom prst="roundRect">
            <a:avLst/>
          </a:prstGeom>
          <a:solidFill>
            <a:srgbClr val="68A89A"/>
          </a:solidFill>
          <a:ln w="63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A17E0C-CB0E-84C8-FD84-5E4B7AD5AECE}"/>
              </a:ext>
            </a:extLst>
          </p:cNvPr>
          <p:cNvSpPr txBox="1"/>
          <p:nvPr/>
        </p:nvSpPr>
        <p:spPr>
          <a:xfrm>
            <a:off x="8255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03</a:t>
            </a:r>
          </a:p>
        </p:txBody>
      </p:sp>
      <p:sp>
        <p:nvSpPr>
          <p:cNvPr id="8" name="TextBox 7">
            <a:extLst>
              <a:ext uri="{FF2B5EF4-FFF2-40B4-BE49-F238E27FC236}">
                <a16:creationId xmlns:a16="http://schemas.microsoft.com/office/drawing/2014/main" id="{ECF68079-20DB-A871-1FBB-80F35E14FCFD}"/>
              </a:ext>
            </a:extLst>
          </p:cNvPr>
          <p:cNvSpPr txBox="1"/>
          <p:nvPr/>
        </p:nvSpPr>
        <p:spPr>
          <a:xfrm>
            <a:off x="762000" y="21082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PATCH</a:t>
            </a:r>
          </a:p>
        </p:txBody>
      </p:sp>
      <p:sp>
        <p:nvSpPr>
          <p:cNvPr id="9" name="Rectangle: Rounded Corners 8">
            <a:extLst>
              <a:ext uri="{FF2B5EF4-FFF2-40B4-BE49-F238E27FC236}">
                <a16:creationId xmlns:a16="http://schemas.microsoft.com/office/drawing/2014/main" id="{14A5B9F5-5846-B8EF-72D3-7C9745403D23}"/>
              </a:ext>
            </a:extLst>
          </p:cNvPr>
          <p:cNvSpPr/>
          <p:nvPr/>
        </p:nvSpPr>
        <p:spPr>
          <a:xfrm>
            <a:off x="7620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BA0E7F-2DEF-E49C-386A-B9349837B6B9}"/>
              </a:ext>
            </a:extLst>
          </p:cNvPr>
          <p:cNvSpPr txBox="1"/>
          <p:nvPr/>
        </p:nvSpPr>
        <p:spPr>
          <a:xfrm>
            <a:off x="9398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a:t>
            </a:r>
          </a:p>
        </p:txBody>
      </p:sp>
      <p:sp>
        <p:nvSpPr>
          <p:cNvPr id="11" name="TextBox 10">
            <a:extLst>
              <a:ext uri="{FF2B5EF4-FFF2-40B4-BE49-F238E27FC236}">
                <a16:creationId xmlns:a16="http://schemas.microsoft.com/office/drawing/2014/main" id="{01941454-0224-ECCA-FAD3-9D7BC52CE5E2}"/>
              </a:ext>
            </a:extLst>
          </p:cNvPr>
          <p:cNvSpPr txBox="1"/>
          <p:nvPr/>
        </p:nvSpPr>
        <p:spPr>
          <a:xfrm>
            <a:off x="762000" y="34290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SAVED XSS-P01 OBSERVATION</a:t>
            </a:r>
          </a:p>
        </p:txBody>
      </p:sp>
      <p:sp>
        <p:nvSpPr>
          <p:cNvPr id="12" name="Rectangle: Rounded Corners 11">
            <a:extLst>
              <a:ext uri="{FF2B5EF4-FFF2-40B4-BE49-F238E27FC236}">
                <a16:creationId xmlns:a16="http://schemas.microsoft.com/office/drawing/2014/main" id="{92DE9AC8-52EA-01B9-8083-6E6FEC5A6564}"/>
              </a:ext>
            </a:extLst>
          </p:cNvPr>
          <p:cNvSpPr/>
          <p:nvPr/>
        </p:nvSpPr>
        <p:spPr>
          <a:xfrm>
            <a:off x="7620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B67D6D0-BBD1-4CE8-6B07-D2A46003EA2C}"/>
              </a:ext>
            </a:extLst>
          </p:cNvPr>
          <p:cNvSpPr txBox="1"/>
          <p:nvPr/>
        </p:nvSpPr>
        <p:spPr>
          <a:xfrm>
            <a:off x="9398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undefined&lt;/h1&gt;"
"status": "pass"</a:t>
            </a:r>
          </a:p>
        </p:txBody>
      </p:sp>
      <p:sp>
        <p:nvSpPr>
          <p:cNvPr id="14" name="TextBox 13">
            <a:extLst>
              <a:ext uri="{FF2B5EF4-FFF2-40B4-BE49-F238E27FC236}">
                <a16:creationId xmlns:a16="http://schemas.microsoft.com/office/drawing/2014/main" id="{FADA716C-6023-921B-CA5C-0897DDE5DE01}"/>
              </a:ext>
            </a:extLst>
          </p:cNvPr>
          <p:cNvSpPr txBox="1"/>
          <p:nvPr/>
        </p:nvSpPr>
        <p:spPr>
          <a:xfrm>
            <a:off x="7620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9 pass | parity 5/5</a:t>
            </a:r>
          </a:p>
        </p:txBody>
      </p:sp>
      <p:sp>
        <p:nvSpPr>
          <p:cNvPr id="15" name="Rectangle: Rounded Corners 14">
            <a:extLst>
              <a:ext uri="{FF2B5EF4-FFF2-40B4-BE49-F238E27FC236}">
                <a16:creationId xmlns:a16="http://schemas.microsoft.com/office/drawing/2014/main" id="{678C61F5-E49F-EB0E-97AC-7EFACBDEE208}"/>
              </a:ext>
            </a:extLst>
          </p:cNvPr>
          <p:cNvSpPr/>
          <p:nvPr/>
        </p:nvSpPr>
        <p:spPr>
          <a:xfrm>
            <a:off x="6400800" y="1422400"/>
            <a:ext cx="5257800" cy="4140200"/>
          </a:xfrm>
          <a:prstGeom prst="roundRect">
            <a:avLst/>
          </a:prstGeom>
          <a:solidFill>
            <a:srgbClr val="FBECEA"/>
          </a:solidFill>
          <a:ln w="190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B246DF8-02E5-C49D-1C95-A40D5981C722}"/>
              </a:ext>
            </a:extLst>
          </p:cNvPr>
          <p:cNvSpPr/>
          <p:nvPr/>
        </p:nvSpPr>
        <p:spPr>
          <a:xfrm>
            <a:off x="6629400" y="1625600"/>
            <a:ext cx="1193800" cy="304800"/>
          </a:xfrm>
          <a:prstGeom prst="roundRect">
            <a:avLst/>
          </a:prstGeom>
          <a:solidFill>
            <a:srgbClr val="B35D5B"/>
          </a:solidFill>
          <a:ln w="63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887A6F8-2153-B81D-8F59-F94D477A6E0F}"/>
              </a:ext>
            </a:extLst>
          </p:cNvPr>
          <p:cNvSpPr txBox="1"/>
          <p:nvPr/>
        </p:nvSpPr>
        <p:spPr>
          <a:xfrm>
            <a:off x="66929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04</a:t>
            </a:r>
          </a:p>
        </p:txBody>
      </p:sp>
      <p:sp>
        <p:nvSpPr>
          <p:cNvPr id="18" name="TextBox 17">
            <a:extLst>
              <a:ext uri="{FF2B5EF4-FFF2-40B4-BE49-F238E27FC236}">
                <a16:creationId xmlns:a16="http://schemas.microsoft.com/office/drawing/2014/main" id="{B89964AA-BA84-4584-A6CC-F2D17586AB61}"/>
              </a:ext>
            </a:extLst>
          </p:cNvPr>
          <p:cNvSpPr txBox="1"/>
          <p:nvPr/>
        </p:nvSpPr>
        <p:spPr>
          <a:xfrm>
            <a:off x="6629400" y="21082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PATCH</a:t>
            </a:r>
          </a:p>
        </p:txBody>
      </p:sp>
      <p:sp>
        <p:nvSpPr>
          <p:cNvPr id="19" name="Rectangle: Rounded Corners 18">
            <a:extLst>
              <a:ext uri="{FF2B5EF4-FFF2-40B4-BE49-F238E27FC236}">
                <a16:creationId xmlns:a16="http://schemas.microsoft.com/office/drawing/2014/main" id="{BD484570-DC39-3669-A55E-AEE93BD8194D}"/>
              </a:ext>
            </a:extLst>
          </p:cNvPr>
          <p:cNvSpPr/>
          <p:nvPr/>
        </p:nvSpPr>
        <p:spPr>
          <a:xfrm>
            <a:off x="66294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CF96DF-5288-F57F-02F8-7F6E57BFA540}"/>
              </a:ext>
            </a:extLst>
          </p:cNvPr>
          <p:cNvSpPr txBox="1"/>
          <p:nvPr/>
        </p:nvSpPr>
        <p:spPr>
          <a:xfrm>
            <a:off x="68072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 ?? "")</a:t>
            </a:r>
          </a:p>
        </p:txBody>
      </p:sp>
      <p:sp>
        <p:nvSpPr>
          <p:cNvPr id="21" name="TextBox 20">
            <a:extLst>
              <a:ext uri="{FF2B5EF4-FFF2-40B4-BE49-F238E27FC236}">
                <a16:creationId xmlns:a16="http://schemas.microsoft.com/office/drawing/2014/main" id="{8AA031F0-29DD-8D60-0B63-360E200EE49A}"/>
              </a:ext>
            </a:extLst>
          </p:cNvPr>
          <p:cNvSpPr txBox="1"/>
          <p:nvPr/>
        </p:nvSpPr>
        <p:spPr>
          <a:xfrm>
            <a:off x="6629400" y="34290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SAVED XSS-P01 OBSERVATION</a:t>
            </a:r>
          </a:p>
        </p:txBody>
      </p:sp>
      <p:sp>
        <p:nvSpPr>
          <p:cNvPr id="22" name="Rectangle: Rounded Corners 21">
            <a:extLst>
              <a:ext uri="{FF2B5EF4-FFF2-40B4-BE49-F238E27FC236}">
                <a16:creationId xmlns:a16="http://schemas.microsoft.com/office/drawing/2014/main" id="{5B0A7B2F-F78D-5C13-B506-C60EE4B47E6F}"/>
              </a:ext>
            </a:extLst>
          </p:cNvPr>
          <p:cNvSpPr/>
          <p:nvPr/>
        </p:nvSpPr>
        <p:spPr>
          <a:xfrm>
            <a:off x="66294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FD604C9-CA79-CB53-4370-79E604821166}"/>
              </a:ext>
            </a:extLst>
          </p:cNvPr>
          <p:cNvSpPr txBox="1"/>
          <p:nvPr/>
        </p:nvSpPr>
        <p:spPr>
          <a:xfrm>
            <a:off x="68072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&lt;/h1&gt;"
"status": "fail"</a:t>
            </a:r>
          </a:p>
        </p:txBody>
      </p:sp>
      <p:sp>
        <p:nvSpPr>
          <p:cNvPr id="24" name="TextBox 23">
            <a:extLst>
              <a:ext uri="{FF2B5EF4-FFF2-40B4-BE49-F238E27FC236}">
                <a16:creationId xmlns:a16="http://schemas.microsoft.com/office/drawing/2014/main" id="{018FB34B-A495-763B-0225-F9041BFF753E}"/>
              </a:ext>
            </a:extLst>
          </p:cNvPr>
          <p:cNvSpPr txBox="1"/>
          <p:nvPr/>
        </p:nvSpPr>
        <p:spPr>
          <a:xfrm>
            <a:off x="66294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8 pass | 1 parity fail</a:t>
            </a:r>
          </a:p>
        </p:txBody>
      </p:sp>
      <p:sp>
        <p:nvSpPr>
          <p:cNvPr id="25" name="Rectangle: Rounded Corners 24">
            <a:extLst>
              <a:ext uri="{FF2B5EF4-FFF2-40B4-BE49-F238E27FC236}">
                <a16:creationId xmlns:a16="http://schemas.microsoft.com/office/drawing/2014/main" id="{B71E1C48-C489-EA9E-EB34-39E3F5794F40}"/>
              </a:ext>
            </a:extLst>
          </p:cNvPr>
          <p:cNvSpPr/>
          <p:nvPr/>
        </p:nvSpPr>
        <p:spPr>
          <a:xfrm>
            <a:off x="1524000" y="5791200"/>
            <a:ext cx="9144000" cy="558800"/>
          </a:xfrm>
          <a:prstGeom prst="roundRect">
            <a:avLst/>
          </a:prstGeom>
          <a:solidFill>
            <a:srgbClr val="EFEAFA"/>
          </a:solidFill>
          <a:ln w="1524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924FFC2-685A-6ECC-704C-3B054C2026BA}"/>
              </a:ext>
            </a:extLst>
          </p:cNvPr>
          <p:cNvSpPr txBox="1"/>
          <p:nvPr/>
        </p:nvSpPr>
        <p:spPr>
          <a:xfrm>
            <a:off x="1752600" y="5880100"/>
            <a:ext cx="8686800" cy="276999"/>
          </a:xfrm>
          <a:prstGeom prst="rect">
            <a:avLst/>
          </a:prstGeom>
          <a:noFill/>
        </p:spPr>
        <p:txBody>
          <a:bodyPr vert="horz" wrap="square" lIns="0" tIns="0" rIns="0" bIns="0" rtlCol="0" anchor="ctr">
            <a:noAutofit/>
          </a:bodyPr>
          <a:lstStyle/>
          <a:p>
            <a:pPr algn="ctr"/>
            <a:r>
              <a:rPr lang="en-US" sz="1350" b="1">
                <a:solidFill>
                  <a:srgbClr val="0B2447"/>
                </a:solidFill>
                <a:latin typeface="Aptos" panose="020B0004020202020204" pitchFamily="34" charset="0"/>
              </a:rPr>
              <a:t>Both supplemental security: 3/3 pass. XSS 04 was later rejected for parity, not continued exploitability.</a:t>
            </a:r>
          </a:p>
        </p:txBody>
      </p:sp>
      <p:sp>
        <p:nvSpPr>
          <p:cNvPr id="27" name="TextBox 26">
            <a:extLst>
              <a:ext uri="{FF2B5EF4-FFF2-40B4-BE49-F238E27FC236}">
                <a16:creationId xmlns:a16="http://schemas.microsoft.com/office/drawing/2014/main" id="{45A66605-B237-1E01-B4B6-C4B448F572F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8" name="TextBox 27">
            <a:extLst>
              <a:ext uri="{FF2B5EF4-FFF2-40B4-BE49-F238E27FC236}">
                <a16:creationId xmlns:a16="http://schemas.microsoft.com/office/drawing/2014/main" id="{AF834B38-E052-F9A5-A105-6C827945BDE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7</a:t>
            </a:r>
          </a:p>
        </p:txBody>
      </p:sp>
    </p:spTree>
    <p:extLst>
      <p:ext uri="{BB962C8B-B14F-4D97-AF65-F5344CB8AC3E}">
        <p14:creationId xmlns:p14="http://schemas.microsoft.com/office/powerpoint/2010/main" val="186758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0A4615-792E-5EAA-BFCF-70CBF3751104}"/>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6. Human judgment and next steps</a:t>
            </a:r>
          </a:p>
        </p:txBody>
      </p:sp>
      <p:sp>
        <p:nvSpPr>
          <p:cNvPr id="3" name="TextBox 2">
            <a:extLst>
              <a:ext uri="{FF2B5EF4-FFF2-40B4-BE49-F238E27FC236}">
                <a16:creationId xmlns:a16="http://schemas.microsoft.com/office/drawing/2014/main" id="{FCB1E421-E7F4-B2E5-AA86-1AACBEEE8CEB}"/>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Later records qualify the evidence; they never overwrite primary-v1</a:t>
            </a:r>
          </a:p>
        </p:txBody>
      </p:sp>
      <p:cxnSp>
        <p:nvCxnSpPr>
          <p:cNvPr id="4" name="Straight Connector 3">
            <a:extLst>
              <a:ext uri="{FF2B5EF4-FFF2-40B4-BE49-F238E27FC236}">
                <a16:creationId xmlns:a16="http://schemas.microsoft.com/office/drawing/2014/main" id="{A7AB8B59-C096-F75C-4630-7BC63260183F}"/>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EE0585A1-649B-9928-6236-E5EE34938775}"/>
              </a:ext>
            </a:extLst>
          </p:cNvPr>
          <p:cNvSpPr/>
          <p:nvPr/>
        </p:nvSpPr>
        <p:spPr>
          <a:xfrm>
            <a:off x="533400" y="1371600"/>
            <a:ext cx="33528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FC66AE-A4ED-566C-F2FC-C7D1AD2D097F}"/>
              </a:ext>
            </a:extLst>
          </p:cNvPr>
          <p:cNvSpPr txBox="1"/>
          <p:nvPr/>
        </p:nvSpPr>
        <p:spPr>
          <a:xfrm>
            <a:off x="6858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original reviews</a:t>
            </a:r>
          </a:p>
        </p:txBody>
      </p:sp>
      <p:sp>
        <p:nvSpPr>
          <p:cNvPr id="7" name="TextBox 6">
            <a:extLst>
              <a:ext uri="{FF2B5EF4-FFF2-40B4-BE49-F238E27FC236}">
                <a16:creationId xmlns:a16="http://schemas.microsoft.com/office/drawing/2014/main" id="{E4066CB1-77F5-B8D2-E6F1-5EAF3CBF0181}"/>
              </a:ext>
            </a:extLst>
          </p:cNvPr>
          <p:cNvSpPr txBox="1"/>
          <p:nvPr/>
        </p:nvSpPr>
        <p:spPr>
          <a:xfrm>
            <a:off x="6604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7 accept | 3 request more testing</a:t>
            </a:r>
          </a:p>
        </p:txBody>
      </p:sp>
      <p:sp>
        <p:nvSpPr>
          <p:cNvPr id="8" name="Rectangle: Rounded Corners 7">
            <a:extLst>
              <a:ext uri="{FF2B5EF4-FFF2-40B4-BE49-F238E27FC236}">
                <a16:creationId xmlns:a16="http://schemas.microsoft.com/office/drawing/2014/main" id="{5E04F8C9-A534-B1A5-F249-C879D9E76510}"/>
              </a:ext>
            </a:extLst>
          </p:cNvPr>
          <p:cNvSpPr/>
          <p:nvPr/>
        </p:nvSpPr>
        <p:spPr>
          <a:xfrm>
            <a:off x="4419600" y="1371600"/>
            <a:ext cx="3352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3917ED-DE4B-912D-25E6-40063AE6D320}"/>
              </a:ext>
            </a:extLst>
          </p:cNvPr>
          <p:cNvSpPr txBox="1"/>
          <p:nvPr/>
        </p:nvSpPr>
        <p:spPr>
          <a:xfrm>
            <a:off x="45720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 later records</a:t>
            </a:r>
          </a:p>
        </p:txBody>
      </p:sp>
      <p:sp>
        <p:nvSpPr>
          <p:cNvPr id="10" name="TextBox 9">
            <a:extLst>
              <a:ext uri="{FF2B5EF4-FFF2-40B4-BE49-F238E27FC236}">
                <a16:creationId xmlns:a16="http://schemas.microsoft.com/office/drawing/2014/main" id="{AE142D71-2F14-B51B-CB2A-375AD22BA873}"/>
              </a:ext>
            </a:extLst>
          </p:cNvPr>
          <p:cNvSpPr txBox="1"/>
          <p:nvPr/>
        </p:nvSpPr>
        <p:spPr>
          <a:xfrm>
            <a:off x="45466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5 reject | 5 bounded accept | 4 request</a:t>
            </a:r>
          </a:p>
        </p:txBody>
      </p:sp>
      <p:sp>
        <p:nvSpPr>
          <p:cNvPr id="11" name="Rectangle: Rounded Corners 10">
            <a:extLst>
              <a:ext uri="{FF2B5EF4-FFF2-40B4-BE49-F238E27FC236}">
                <a16:creationId xmlns:a16="http://schemas.microsoft.com/office/drawing/2014/main" id="{C2E41D15-3885-5E3A-0248-41291DFA8A12}"/>
              </a:ext>
            </a:extLst>
          </p:cNvPr>
          <p:cNvSpPr/>
          <p:nvPr/>
        </p:nvSpPr>
        <p:spPr>
          <a:xfrm>
            <a:off x="8305800" y="1371600"/>
            <a:ext cx="33528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31D14C-9002-DFD0-FCB8-2DBE08FFAD51}"/>
              </a:ext>
            </a:extLst>
          </p:cNvPr>
          <p:cNvSpPr txBox="1"/>
          <p:nvPr/>
        </p:nvSpPr>
        <p:spPr>
          <a:xfrm>
            <a:off x="84582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0 overwritten</a:t>
            </a:r>
          </a:p>
        </p:txBody>
      </p:sp>
      <p:sp>
        <p:nvSpPr>
          <p:cNvPr id="13" name="TextBox 12">
            <a:extLst>
              <a:ext uri="{FF2B5EF4-FFF2-40B4-BE49-F238E27FC236}">
                <a16:creationId xmlns:a16="http://schemas.microsoft.com/office/drawing/2014/main" id="{AC588AE3-E569-65A5-4544-CA54630348A3}"/>
              </a:ext>
            </a:extLst>
          </p:cNvPr>
          <p:cNvSpPr txBox="1"/>
          <p:nvPr/>
        </p:nvSpPr>
        <p:spPr>
          <a:xfrm>
            <a:off x="84328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records and metrics stay frozen</a:t>
            </a:r>
          </a:p>
        </p:txBody>
      </p:sp>
      <p:sp>
        <p:nvSpPr>
          <p:cNvPr id="14" name="Rectangle: Rounded Corners 13">
            <a:extLst>
              <a:ext uri="{FF2B5EF4-FFF2-40B4-BE49-F238E27FC236}">
                <a16:creationId xmlns:a16="http://schemas.microsoft.com/office/drawing/2014/main" id="{6AC4FD38-D491-2264-2BE1-842AF66665B1}"/>
              </a:ext>
            </a:extLst>
          </p:cNvPr>
          <p:cNvSpPr/>
          <p:nvPr/>
        </p:nvSpPr>
        <p:spPr>
          <a:xfrm>
            <a:off x="5334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776E51-2DF0-08DC-6534-6F67B25BA247}"/>
              </a:ext>
            </a:extLst>
          </p:cNvPr>
          <p:cNvSpPr txBox="1"/>
          <p:nvPr/>
        </p:nvSpPr>
        <p:spPr>
          <a:xfrm>
            <a:off x="762000" y="3022600"/>
            <a:ext cx="4902200" cy="276999"/>
          </a:xfrm>
          <a:prstGeom prst="rect">
            <a:avLst/>
          </a:prstGeom>
          <a:noFill/>
        </p:spPr>
        <p:txBody>
          <a:bodyPr vert="horz" wrap="square" lIns="0" tIns="0" rIns="0" bIns="0" rtlCol="0" anchor="t">
            <a:noAutofit/>
          </a:bodyPr>
          <a:lstStyle/>
          <a:p>
            <a:r>
              <a:rPr lang="en-US" sz="1100" b="1">
                <a:solidFill>
                  <a:srgbClr val="B35D5B"/>
                </a:solidFill>
                <a:latin typeface="Aptos" panose="020B0004020202020204" pitchFamily="34" charset="0"/>
              </a:rPr>
              <a:t>LIMITS TO SAY OUT LOUD</a:t>
            </a:r>
          </a:p>
        </p:txBody>
      </p:sp>
      <p:sp>
        <p:nvSpPr>
          <p:cNvPr id="16" name="TextBox 15">
            <a:extLst>
              <a:ext uri="{FF2B5EF4-FFF2-40B4-BE49-F238E27FC236}">
                <a16:creationId xmlns:a16="http://schemas.microsoft.com/office/drawing/2014/main" id="{1397E3B7-8337-3458-FDBA-2BE6B84477A2}"/>
              </a:ext>
            </a:extLst>
          </p:cNvPr>
          <p:cNvSpPr txBox="1"/>
          <p:nvPr/>
        </p:nvSpPr>
        <p:spPr>
          <a:xfrm>
            <a:off x="762000" y="3429000"/>
            <a:ext cx="4902200" cy="276999"/>
          </a:xfrm>
          <a:prstGeom prst="rect">
            <a:avLst/>
          </a:prstGeom>
          <a:noFill/>
        </p:spPr>
        <p:txBody>
          <a:bodyPr vert="horz" wrap="square" lIns="0" tIns="0" rIns="0" bIns="0" rtlCol="0" anchor="t">
            <a:noAutofit/>
          </a:bodyPr>
          <a:lstStyle/>
          <a:p>
            <a:pPr marL="285750" indent="-285750">
              <a:buFont typeface="Arial" panose="020B0604020202020204" pitchFamily="34" charset="0"/>
              <a:buChar char="•"/>
            </a:pPr>
            <a:r>
              <a:rPr lang="en-US" sz="1300" dirty="0">
                <a:solidFill>
                  <a:srgbClr val="102A4D"/>
                </a:solidFill>
                <a:latin typeface="Aptos" panose="020B0004020202020204" pitchFamily="34" charset="0"/>
              </a:rPr>
              <a:t>One application per CWE
15 calls are not 15 unique patches; SQLi has one source
PATH-S06 remains inconclusive on Windows
SQLi target comparison used a labeled controlled rule
No production-readiness or broad success-rate claim</a:t>
            </a:r>
          </a:p>
        </p:txBody>
      </p:sp>
      <p:sp>
        <p:nvSpPr>
          <p:cNvPr id="17" name="Rectangle: Rounded Corners 16">
            <a:extLst>
              <a:ext uri="{FF2B5EF4-FFF2-40B4-BE49-F238E27FC236}">
                <a16:creationId xmlns:a16="http://schemas.microsoft.com/office/drawing/2014/main" id="{C2F9B139-BE7E-9CA7-9950-DA84806B5FFF}"/>
              </a:ext>
            </a:extLst>
          </p:cNvPr>
          <p:cNvSpPr/>
          <p:nvPr/>
        </p:nvSpPr>
        <p:spPr>
          <a:xfrm>
            <a:off x="62992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5A975F3-F673-BA52-9226-AAEBF568630C}"/>
              </a:ext>
            </a:extLst>
          </p:cNvPr>
          <p:cNvSpPr txBox="1"/>
          <p:nvPr/>
        </p:nvSpPr>
        <p:spPr>
          <a:xfrm>
            <a:off x="6527800" y="3022600"/>
            <a:ext cx="49022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PROGRESS REPORT 4 NEXT STEPS</a:t>
            </a:r>
          </a:p>
        </p:txBody>
      </p:sp>
      <p:sp>
        <p:nvSpPr>
          <p:cNvPr id="19" name="TextBox 18">
            <a:extLst>
              <a:ext uri="{FF2B5EF4-FFF2-40B4-BE49-F238E27FC236}">
                <a16:creationId xmlns:a16="http://schemas.microsoft.com/office/drawing/2014/main" id="{70479A0D-8A9C-9B0D-47D8-B4DA23C4C593}"/>
              </a:ext>
            </a:extLst>
          </p:cNvPr>
          <p:cNvSpPr txBox="1"/>
          <p:nvPr/>
        </p:nvSpPr>
        <p:spPr>
          <a:xfrm>
            <a:off x="6527800" y="3429000"/>
            <a:ext cx="4902200" cy="276999"/>
          </a:xfrm>
          <a:prstGeom prst="rect">
            <a:avLst/>
          </a:prstGeom>
          <a:noFill/>
        </p:spPr>
        <p:txBody>
          <a:bodyPr vert="horz" wrap="square" lIns="0" tIns="0" rIns="0" bIns="0" rtlCol="0" anchor="t">
            <a:noAutofit/>
          </a:bodyPr>
          <a:lstStyle/>
          <a:p>
            <a:pPr marL="285750" lvl="0" indent="-285750">
              <a:buFont typeface="Arial" panose="020B0604020202020204" pitchFamily="34" charset="0"/>
              <a:buChar char="•"/>
            </a:pPr>
            <a:r>
              <a:rPr lang="en-US" sz="1400" dirty="0"/>
              <a:t>Oct. 11: summarize Video III feedback</a:t>
            </a:r>
          </a:p>
          <a:p>
            <a:pPr marL="285750" lvl="0" indent="-285750">
              <a:buFont typeface="Arial" panose="020B0604020202020204" pitchFamily="34" charset="0"/>
              <a:buChar char="•"/>
            </a:pPr>
            <a:r>
              <a:rPr lang="en-US" sz="1400" dirty="0"/>
              <a:t>Document new tests and pass/fail rules before execution</a:t>
            </a:r>
          </a:p>
          <a:p>
            <a:pPr marL="285750" lvl="0" indent="-285750">
              <a:buFont typeface="Arial" panose="020B0604020202020204" pitchFamily="34" charset="0"/>
              <a:buChar char="•"/>
            </a:pPr>
            <a:r>
              <a:rPr lang="en-US" sz="1400" dirty="0"/>
              <a:t>Attempt PATH-S06 in Linux or another </a:t>
            </a:r>
            <a:r>
              <a:rPr lang="en-US" sz="1400" dirty="0" err="1"/>
              <a:t>symlink</a:t>
            </a:r>
            <a:r>
              <a:rPr lang="en-US" sz="1400" dirty="0"/>
              <a:t>-capable environment </a:t>
            </a:r>
          </a:p>
          <a:p>
            <a:pPr marL="285750" lvl="0" indent="-285750">
              <a:buFont typeface="Arial" panose="020B0604020202020204" pitchFamily="34" charset="0"/>
              <a:buChar char="•"/>
            </a:pPr>
            <a:r>
              <a:rPr lang="en-US" sz="1400" dirty="0"/>
              <a:t>Verify controls, failure handling, and reproduction</a:t>
            </a:r>
          </a:p>
          <a:p>
            <a:pPr marL="285750" lvl="0" indent="-285750">
              <a:buFont typeface="Arial" panose="020B0604020202020204" pitchFamily="34" charset="0"/>
              <a:buChar char="•"/>
            </a:pPr>
            <a:r>
              <a:rPr lang="en-US" sz="1400" dirty="0"/>
              <a:t>Oct. 18: submit Report 4 with updated limitations</a:t>
            </a:r>
          </a:p>
        </p:txBody>
      </p:sp>
      <p:sp>
        <p:nvSpPr>
          <p:cNvPr id="20" name="Rectangle: Rounded Corners 19">
            <a:extLst>
              <a:ext uri="{FF2B5EF4-FFF2-40B4-BE49-F238E27FC236}">
                <a16:creationId xmlns:a16="http://schemas.microsoft.com/office/drawing/2014/main" id="{7AEB7A4E-4E7A-8412-BC11-3290F9806255}"/>
              </a:ext>
            </a:extLst>
          </p:cNvPr>
          <p:cNvSpPr/>
          <p:nvPr/>
        </p:nvSpPr>
        <p:spPr>
          <a:xfrm>
            <a:off x="1117600" y="5562600"/>
            <a:ext cx="9956800" cy="7874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8A9661-EA9B-AC1B-892A-2E6C7392D465}"/>
              </a:ext>
            </a:extLst>
          </p:cNvPr>
          <p:cNvSpPr txBox="1"/>
          <p:nvPr/>
        </p:nvSpPr>
        <p:spPr>
          <a:xfrm>
            <a:off x="1371600" y="5676900"/>
            <a:ext cx="9448800" cy="276999"/>
          </a:xfrm>
          <a:prstGeom prst="rect">
            <a:avLst/>
          </a:prstGeom>
          <a:noFill/>
        </p:spPr>
        <p:txBody>
          <a:bodyPr vert="horz" wrap="square" lIns="0" tIns="0" rIns="0" bIns="0" rtlCol="0" anchor="ctr">
            <a:noAutofit/>
          </a:bodyPr>
          <a:lstStyle/>
          <a:p>
            <a:pPr algn="ctr"/>
            <a:r>
              <a:rPr lang="en-US" sz="1400" b="1" dirty="0">
                <a:solidFill>
                  <a:srgbClr val="0B2447"/>
                </a:solidFill>
                <a:latin typeface="Aptos" panose="020B0004020202020204" pitchFamily="34" charset="0"/>
              </a:rPr>
              <a:t>Feedback: </a:t>
            </a:r>
            <a:r>
              <a:rPr lang="en-US" sz="1400" dirty="0"/>
              <a:t>Which next step would increase your confidence more: testing </a:t>
            </a:r>
            <a:r>
              <a:rPr lang="en-US" sz="1400" dirty="0" err="1"/>
              <a:t>FixProof</a:t>
            </a:r>
            <a:r>
              <a:rPr lang="en-US" sz="1400" dirty="0"/>
              <a:t> on another vulnerable app, or completing the path-traversal test that Windows could not run?</a:t>
            </a:r>
            <a:endParaRPr lang="en-US" sz="1400" b="1" dirty="0">
              <a:solidFill>
                <a:srgbClr val="0B2447"/>
              </a:solidFill>
              <a:latin typeface="Aptos" panose="020B0004020202020204" pitchFamily="34" charset="0"/>
            </a:endParaRPr>
          </a:p>
        </p:txBody>
      </p:sp>
      <p:sp>
        <p:nvSpPr>
          <p:cNvPr id="22" name="TextBox 21">
            <a:extLst>
              <a:ext uri="{FF2B5EF4-FFF2-40B4-BE49-F238E27FC236}">
                <a16:creationId xmlns:a16="http://schemas.microsoft.com/office/drawing/2014/main" id="{B19F17B2-D2C4-A10F-5AA3-488EE83A03D7}"/>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3" name="TextBox 22">
            <a:extLst>
              <a:ext uri="{FF2B5EF4-FFF2-40B4-BE49-F238E27FC236}">
                <a16:creationId xmlns:a16="http://schemas.microsoft.com/office/drawing/2014/main" id="{58A57BB1-44C1-61EA-F162-1AED0A6947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8</a:t>
            </a:r>
          </a:p>
        </p:txBody>
      </p:sp>
    </p:spTree>
    <p:extLst>
      <p:ext uri="{BB962C8B-B14F-4D97-AF65-F5344CB8AC3E}">
        <p14:creationId xmlns:p14="http://schemas.microsoft.com/office/powerpoint/2010/main" val="402926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559FA-5F80-3CFB-6433-F263CFB0904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BACKUP | If asked about SQLi or traversal</a:t>
            </a:r>
          </a:p>
        </p:txBody>
      </p:sp>
      <p:sp>
        <p:nvSpPr>
          <p:cNvPr id="3" name="TextBox 2">
            <a:extLst>
              <a:ext uri="{FF2B5EF4-FFF2-40B4-BE49-F238E27FC236}">
                <a16:creationId xmlns:a16="http://schemas.microsoft.com/office/drawing/2014/main" id="{5128AAF9-4ED5-F55B-742D-93328B633B8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Skip during the main recording unless the course format allows extra detail</a:t>
            </a:r>
          </a:p>
        </p:txBody>
      </p:sp>
      <p:cxnSp>
        <p:nvCxnSpPr>
          <p:cNvPr id="4" name="Straight Connector 3">
            <a:extLst>
              <a:ext uri="{FF2B5EF4-FFF2-40B4-BE49-F238E27FC236}">
                <a16:creationId xmlns:a16="http://schemas.microsoft.com/office/drawing/2014/main" id="{6B00D609-C164-625B-228C-1B049D1D969B}"/>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4A45F97-36B1-13BE-9F20-F88752BB4001}"/>
              </a:ext>
            </a:extLst>
          </p:cNvPr>
          <p:cNvSpPr/>
          <p:nvPr/>
        </p:nvSpPr>
        <p:spPr>
          <a:xfrm>
            <a:off x="533400" y="1473200"/>
            <a:ext cx="5334000" cy="4241800"/>
          </a:xfrm>
          <a:prstGeom prst="roundRect">
            <a:avLst/>
          </a:prstGeom>
          <a:solidFill>
            <a:srgbClr val="EAF1FA"/>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C6406D4-8115-3AD0-DF45-D08C436646C9}"/>
              </a:ext>
            </a:extLst>
          </p:cNvPr>
          <p:cNvSpPr/>
          <p:nvPr/>
        </p:nvSpPr>
        <p:spPr>
          <a:xfrm>
            <a:off x="762000" y="1676400"/>
            <a:ext cx="2032000" cy="304800"/>
          </a:xfrm>
          <a:prstGeom prst="roundRect">
            <a:avLst/>
          </a:prstGeom>
          <a:solidFill>
            <a:srgbClr val="5878A5"/>
          </a:solidFill>
          <a:ln w="63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FD572E-4B31-4791-799E-9289AABAC41E}"/>
              </a:ext>
            </a:extLst>
          </p:cNvPr>
          <p:cNvSpPr txBox="1"/>
          <p:nvPr/>
        </p:nvSpPr>
        <p:spPr>
          <a:xfrm>
            <a:off x="825500" y="1701800"/>
            <a:ext cx="19050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SQLi 01-05</a:t>
            </a:r>
          </a:p>
        </p:txBody>
      </p:sp>
      <p:sp>
        <p:nvSpPr>
          <p:cNvPr id="8" name="TextBox 7">
            <a:extLst>
              <a:ext uri="{FF2B5EF4-FFF2-40B4-BE49-F238E27FC236}">
                <a16:creationId xmlns:a16="http://schemas.microsoft.com/office/drawing/2014/main" id="{00DC96F4-09BA-76BB-EC18-F12D9C0313E7}"/>
              </a:ext>
            </a:extLst>
          </p:cNvPr>
          <p:cNvSpPr txBox="1"/>
          <p:nvPr/>
        </p:nvSpPr>
        <p:spPr>
          <a:xfrm>
            <a:off x="7620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5/5 resolved
Primary security and functional suites: all 5 candidates passed
Supplement per candidate:
- Security 3/3
- Parity 2/2
- Robustness 2/3
SQL-R01: repeated usernames returned HTTP 200 [] instead of registered HTTP 400.
Human result: bounded accept; failure remains recorded.</a:t>
            </a:r>
          </a:p>
        </p:txBody>
      </p:sp>
      <p:sp>
        <p:nvSpPr>
          <p:cNvPr id="9" name="Rectangle: Rounded Corners 8">
            <a:extLst>
              <a:ext uri="{FF2B5EF4-FFF2-40B4-BE49-F238E27FC236}">
                <a16:creationId xmlns:a16="http://schemas.microsoft.com/office/drawing/2014/main" id="{05BDD717-DD61-4325-503F-0D446783B160}"/>
              </a:ext>
            </a:extLst>
          </p:cNvPr>
          <p:cNvSpPr/>
          <p:nvPr/>
        </p:nvSpPr>
        <p:spPr>
          <a:xfrm>
            <a:off x="6324600" y="1473200"/>
            <a:ext cx="5334000" cy="42418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FB0E151-443D-AB73-17CC-0F3312C03B58}"/>
              </a:ext>
            </a:extLst>
          </p:cNvPr>
          <p:cNvSpPr/>
          <p:nvPr/>
        </p:nvSpPr>
        <p:spPr>
          <a:xfrm>
            <a:off x="6553200" y="1676400"/>
            <a:ext cx="2362200" cy="304800"/>
          </a:xfrm>
          <a:prstGeom prst="roundRect">
            <a:avLst/>
          </a:prstGeom>
          <a:solidFill>
            <a:srgbClr val="D9A64E"/>
          </a:solidFill>
          <a:ln w="63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56F2C4-577F-6B2D-FF39-63FAC40F5260}"/>
              </a:ext>
            </a:extLst>
          </p:cNvPr>
          <p:cNvSpPr txBox="1"/>
          <p:nvPr/>
        </p:nvSpPr>
        <p:spPr>
          <a:xfrm>
            <a:off x="6616700" y="1701800"/>
            <a:ext cx="2235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Traversal 02-05</a:t>
            </a:r>
          </a:p>
        </p:txBody>
      </p:sp>
      <p:sp>
        <p:nvSpPr>
          <p:cNvPr id="12" name="TextBox 11">
            <a:extLst>
              <a:ext uri="{FF2B5EF4-FFF2-40B4-BE49-F238E27FC236}">
                <a16:creationId xmlns:a16="http://schemas.microsoft.com/office/drawing/2014/main" id="{934398DA-3FF9-0562-FB03-7767765AAB8A}"/>
              </a:ext>
            </a:extLst>
          </p:cNvPr>
          <p:cNvSpPr txBox="1"/>
          <p:nvPr/>
        </p:nvSpPr>
        <p:spPr>
          <a:xfrm>
            <a:off x="65532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0/5 resolved
Primary security and functional suites: all 5 candidates passed
Supplement:
- Five executable security cases pass per candidate
- PATH-S06 symlink case remains inconclusive
- Traversal 03 fails R01-R03
- Traversal 05 fails R03
Human result: request more testing; no symlink-safety claim.</a:t>
            </a:r>
          </a:p>
        </p:txBody>
      </p:sp>
      <p:sp>
        <p:nvSpPr>
          <p:cNvPr id="13" name="Rectangle: Rounded Corners 12">
            <a:extLst>
              <a:ext uri="{FF2B5EF4-FFF2-40B4-BE49-F238E27FC236}">
                <a16:creationId xmlns:a16="http://schemas.microsoft.com/office/drawing/2014/main" id="{7B380F46-2ACC-8C8F-727D-7276B3FBA8C1}"/>
              </a:ext>
            </a:extLst>
          </p:cNvPr>
          <p:cNvSpPr/>
          <p:nvPr/>
        </p:nvSpPr>
        <p:spPr>
          <a:xfrm>
            <a:off x="1841500" y="5969000"/>
            <a:ext cx="8509000" cy="4318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FF03994-9F01-7AC8-3E37-18B7A028265C}"/>
              </a:ext>
            </a:extLst>
          </p:cNvPr>
          <p:cNvSpPr txBox="1"/>
          <p:nvPr/>
        </p:nvSpPr>
        <p:spPr>
          <a:xfrm>
            <a:off x="2032000" y="6045200"/>
            <a:ext cx="8128000" cy="276999"/>
          </a:xfrm>
          <a:prstGeom prst="rect">
            <a:avLst/>
          </a:prstGeom>
          <a:noFill/>
        </p:spPr>
        <p:txBody>
          <a:bodyPr vert="horz" wrap="square" lIns="0" tIns="0" rIns="0" bIns="0" rtlCol="0" anchor="t">
            <a:noAutofit/>
          </a:bodyPr>
          <a:lstStyle/>
          <a:p>
            <a:pPr algn="ctr"/>
            <a:r>
              <a:rPr lang="en-US" sz="1150" b="1">
                <a:solidFill>
                  <a:srgbClr val="0B2447"/>
                </a:solidFill>
                <a:latin typeface="Aptos" panose="020B0004020202020204" pitchFamily="34" charset="0"/>
              </a:rPr>
              <a:t>Full matrices and rationales: Video-III-15-candidate-evidence-appendix.pdf</a:t>
            </a:r>
          </a:p>
        </p:txBody>
      </p:sp>
      <p:sp>
        <p:nvSpPr>
          <p:cNvPr id="15" name="TextBox 14">
            <a:extLst>
              <a:ext uri="{FF2B5EF4-FFF2-40B4-BE49-F238E27FC236}">
                <a16:creationId xmlns:a16="http://schemas.microsoft.com/office/drawing/2014/main" id="{C6BF47E4-5EBF-278F-4C80-B4675DD03B2E}"/>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BACKUP | CS6727 | FixProof Video III</a:t>
            </a:r>
          </a:p>
        </p:txBody>
      </p:sp>
      <p:sp>
        <p:nvSpPr>
          <p:cNvPr id="16" name="TextBox 15">
            <a:extLst>
              <a:ext uri="{FF2B5EF4-FFF2-40B4-BE49-F238E27FC236}">
                <a16:creationId xmlns:a16="http://schemas.microsoft.com/office/drawing/2014/main" id="{3A8A0685-1EC8-1813-4398-8810DC53BED0}"/>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9</a:t>
            </a:r>
          </a:p>
        </p:txBody>
      </p:sp>
    </p:spTree>
    <p:extLst>
      <p:ext uri="{BB962C8B-B14F-4D97-AF65-F5344CB8AC3E}">
        <p14:creationId xmlns:p14="http://schemas.microsoft.com/office/powerpoint/2010/main" val="2790825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4ACBC8-4A50-4AA0-A92F-C74E59F1C44A}">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237</TotalTime>
  <Words>1908</Words>
  <Application>Microsoft Office PowerPoint</Application>
  <PresentationFormat>Widescreen</PresentationFormat>
  <Paragraphs>194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9</cp:revision>
  <dcterms:created xsi:type="dcterms:W3CDTF">2026-09-24T15:35:30Z</dcterms:created>
  <dcterms:modified xsi:type="dcterms:W3CDTF">2026-09-29T20:08:01Z</dcterms:modified>
</cp:coreProperties>
</file>