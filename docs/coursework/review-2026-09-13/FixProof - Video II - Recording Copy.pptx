
<file path=[Content_Types].xml><?xml version="1.0" encoding="utf-8"?>
<Types xmlns="http://schemas.openxmlformats.org/package/2006/content-types">
  <Default Extension="jpg" ContentType="image/jpe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12"/>
  </p:notesMasterIdLst>
  <p:handoutMasterIdLst>
    <p:handoutMasterId r:id="rId13"/>
  </p:handoutMasterIdLst>
  <p:sldIdLst>
    <p:sldId id="258" r:id="rId5"/>
    <p:sldId id="259" r:id="rId6"/>
    <p:sldId id="265" r:id="rId7"/>
    <p:sldId id="260" r:id="rId8"/>
    <p:sldId id="261" r:id="rId9"/>
    <p:sldId id="262"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A1ABE0-46CA-4962-907A-50F3DB39621D}" v="2" dt="2026-09-12T21:07:29.1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5924" autoAdjust="0"/>
  </p:normalViewPr>
  <p:slideViewPr>
    <p:cSldViewPr showGuides="1">
      <p:cViewPr>
        <p:scale>
          <a:sx n="52" d="100"/>
          <a:sy n="52" d="100"/>
        </p:scale>
        <p:origin x="29" y="43"/>
      </p:cViewPr>
      <p:guideLst>
        <p:guide orient="horz" pos="2160"/>
        <p:guide pos="3840"/>
      </p:guideLst>
    </p:cSldViewPr>
  </p:slideViewPr>
  <p:notesTextViewPr>
    <p:cViewPr>
      <p:scale>
        <a:sx n="1" d="1"/>
        <a:sy n="1" d="1"/>
      </p:scale>
      <p:origin x="0" y="-48"/>
    </p:cViewPr>
  </p:notesTextViewPr>
  <p:sorterViewPr>
    <p:cViewPr>
      <p:scale>
        <a:sx n="100" d="100"/>
        <a:sy n="100" d="100"/>
      </p:scale>
      <p:origin x="0" y="-21892"/>
    </p:cViewPr>
  </p:sorterViewPr>
  <p:notesViewPr>
    <p:cSldViewPr>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9/13/2026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9/13/2026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r>
              <a:rPr sz="1200"/>
              <a:t>Hi everyone. This is my second FixProof progress update. Progress Report 2 has been submitted. I’ll clarify what the prototype does, show the completed trial and review results, and explain what the next evaluation phase needs to test.</a:t>
            </a:r>
          </a:p>
          <a:p>
            <a:r>
              <a:rPr sz="1200"/>
              <a:t>Evidence / references: Student-reported submission status; data/evaluation/primary-report.json.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r>
              <a:rPr lang="en-US" dirty="0"/>
              <a:t>This slide responds to peer feedback asking what </a:t>
            </a:r>
            <a:r>
              <a:rPr lang="en-US" dirty="0" err="1"/>
              <a:t>FixProof</a:t>
            </a:r>
            <a:r>
              <a:rPr lang="en-US" dirty="0"/>
              <a:t> is and what role AI plays. </a:t>
            </a:r>
            <a:r>
              <a:rPr lang="en-US" dirty="0" err="1"/>
              <a:t>FixProof</a:t>
            </a:r>
            <a:r>
              <a:rPr lang="en-US" dirty="0"/>
              <a:t> is a Python research prototype that evaluates AI-generated security repairs for three small JavaScript and Express benchmarks: reflected XSS, SQL injection, and path traversal. ChatGPT and Codex assisted me during project development. Separately, the experiment’s configured runtime model receives one scanner finding and focused source context and proposes candidate code. </a:t>
            </a:r>
            <a:r>
              <a:rPr lang="en-US" dirty="0" err="1"/>
              <a:t>FixProof</a:t>
            </a:r>
            <a:r>
              <a:rPr lang="en-US" dirty="0"/>
              <a:t> then evaluates that candidate independently using syntax checks, SAST comparison, targeted runtime-security tests, and functional tests. During the initial primary attempts, the model did not receive the hidden test implementations, payload lists, or ground truth. The model also cannot approve or deploy its own candidate; the workflow ends with automated triage and, when necessary, a separate human decision.</a:t>
            </a:r>
          </a:p>
          <a:p>
            <a:endParaRPr lang="en-US" sz="1200" dirty="0"/>
          </a:p>
          <a:p>
            <a:r>
              <a:rPr sz="1200" dirty="0"/>
              <a:t>Evidence / references: User-supplied example prompt; </a:t>
            </a:r>
            <a:r>
              <a:rPr sz="1200" dirty="0" err="1"/>
              <a:t>pyproject.toml</a:t>
            </a:r>
            <a:r>
              <a:rPr sz="1200" dirty="0"/>
              <a:t>; </a:t>
            </a:r>
            <a:r>
              <a:rPr sz="1200" dirty="0" err="1"/>
              <a:t>src</a:t>
            </a:r>
            <a:r>
              <a:rPr sz="1200" dirty="0"/>
              <a:t>/</a:t>
            </a:r>
            <a:r>
              <a:rPr sz="1200" dirty="0" err="1"/>
              <a:t>fixproof</a:t>
            </a:r>
            <a:r>
              <a:rPr sz="1200" dirty="0"/>
              <a:t>/agent/; docs/study-protocol-v1.md.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r>
              <a:rPr sz="1200"/>
              <a:t>The design connects to prior research. Pearce and colleagues studied insecure generated code under defined security scenarios, which motivates controlled fixtures. Their vulnerability-repair work also identifies functional-correctness challenges, supporting separate benign-behavior tests. Kulsum and colleagues investigate external validation feedback in vulnerability repair, providing precedent for a bounded retry. FixProof does not claim that these ideas are new or that it outperforms those systems. My project evaluates an auditable evidence workflow in three controlled cases.</a:t>
            </a:r>
          </a:p>
          <a:p>
            <a:r>
              <a:rPr sz="1200"/>
              <a:t>Evidence / references: https://arxiv.org/abs/2108.09293 ; https://arxiv.org/abs/2112.02125 ; https://arxiv.org/abs/2405.15690 . Preprint-year citations match submitted Report 2.</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r>
              <a:rPr lang="en-US" dirty="0"/>
              <a:t>This workflow begins with an intentionally vulnerable baseline. </a:t>
            </a:r>
            <a:r>
              <a:rPr lang="en-US" dirty="0" err="1"/>
              <a:t>FixProof</a:t>
            </a:r>
            <a:r>
              <a:rPr lang="en-US" dirty="0"/>
              <a:t> runs the same fixed, endpoint-specific security and normal-use tests against the baseline and candidate so the results can be compared. The experiment model receives one scanner finding and focused source context, then proposes candidate code. </a:t>
            </a:r>
            <a:r>
              <a:rPr lang="en-US" dirty="0" err="1"/>
              <a:t>FixProof</a:t>
            </a:r>
            <a:r>
              <a:rPr lang="en-US" dirty="0"/>
              <a:t> applies that code only inside a copied workspace and independently checks syntax, reruns SAST, and executes targeted-security and functional tests. Failed checks or newly introduced scanner findings cause rejection. If the original SAST finding disappears and the other checks pass, the candidate is marked ready for human review. If the warning persists while the other evidence passes, </a:t>
            </a:r>
            <a:r>
              <a:rPr lang="en-US" dirty="0" err="1"/>
              <a:t>FixProof</a:t>
            </a:r>
            <a:r>
              <a:rPr lang="en-US" dirty="0"/>
              <a:t> requires human adjudication. A reviewer may then accept, reject, or request additional testing. The model never approves or deploys its own candidate.</a:t>
            </a:r>
          </a:p>
          <a:p>
            <a:endParaRPr lang="en-US" sz="1200" dirty="0"/>
          </a:p>
          <a:p>
            <a:r>
              <a:rPr sz="1200" dirty="0"/>
              <a:t>Evidence / references: </a:t>
            </a:r>
            <a:r>
              <a:rPr sz="1200" dirty="0" err="1"/>
              <a:t>src</a:t>
            </a:r>
            <a:r>
              <a:rPr sz="1200" dirty="0"/>
              <a:t>/</a:t>
            </a:r>
            <a:r>
              <a:rPr sz="1200" dirty="0" err="1"/>
              <a:t>fixproof</a:t>
            </a:r>
            <a:r>
              <a:rPr sz="1200" dirty="0"/>
              <a:t>/evaluation/benchmark_verifier.py; </a:t>
            </a:r>
            <a:r>
              <a:rPr sz="1200" dirty="0" err="1"/>
              <a:t>src</a:t>
            </a:r>
            <a:r>
              <a:rPr sz="1200" dirty="0"/>
              <a:t>/</a:t>
            </a:r>
            <a:r>
              <a:rPr sz="1200" dirty="0" err="1"/>
              <a:t>fixproof</a:t>
            </a:r>
            <a:r>
              <a:rPr sz="1200" dirty="0"/>
              <a:t>/validation/; docs/threat-model.md.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r>
              <a:rPr lang="en-US" dirty="0"/>
              <a:t>The frozen primary plan used five initial attempts per CWE, for fifteen total attempts. Each case used the same baseline and prompt conditions. All fifteen candidates passed the configured targeted-security and functional suites, but only five cleared the target SAST finding. The remaining ten became evidence conflicts requiring human adjudication. All ten reviews are complete: seven candidates were accepted under the recorded, bounded evidence, while three require additional testing. September 13 verification also passed 89 repository tests, but that verification checked the implementation and saved evidence rather than rerunning every historical model call, scan, or attack. Because the primary study observed no SAST false success, I cannot estimate </a:t>
            </a:r>
            <a:r>
              <a:rPr lang="en-US" dirty="0" err="1"/>
              <a:t>FixProof’s</a:t>
            </a:r>
            <a:r>
              <a:rPr lang="en-US" dirty="0"/>
              <a:t> detection rate for that failure mode.</a:t>
            </a:r>
          </a:p>
          <a:p>
            <a:endParaRPr lang="en-US" sz="1200" dirty="0"/>
          </a:p>
          <a:p>
            <a:r>
              <a:rPr sz="1200" dirty="0"/>
              <a:t>Evidence / references: data/evaluation/primary-</a:t>
            </a:r>
            <a:r>
              <a:rPr sz="1200" dirty="0" err="1"/>
              <a:t>report.json</a:t>
            </a:r>
            <a:r>
              <a:rPr sz="1200" dirty="0"/>
              <a:t>; docs/primary-results.md; September 13 </a:t>
            </a:r>
            <a:r>
              <a:rPr sz="1200" dirty="0" err="1"/>
              <a:t>primary_report</a:t>
            </a:r>
            <a:r>
              <a:rPr sz="1200" dirty="0"/>
              <a:t> --check and </a:t>
            </a:r>
            <a:r>
              <a:rPr sz="1200" dirty="0" err="1"/>
              <a:t>unittest</a:t>
            </a:r>
            <a:r>
              <a:rPr sz="1200" dirty="0"/>
              <a:t> run (89 tests, OK).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r>
              <a:rPr lang="en-US" dirty="0"/>
              <a:t>SQL injection attempt 01 replaces direct SQL string construction with a parameterized query. It cleared the target SAST finding and passed two targeted-security checks and three functional checks. </a:t>
            </a:r>
            <a:r>
              <a:rPr lang="en-US" dirty="0" err="1"/>
              <a:t>FixProof</a:t>
            </a:r>
            <a:r>
              <a:rPr lang="en-US" dirty="0"/>
              <a:t> marked it ready for human review, but readiness is not approval. XSS attempt 04 presents a different situation. The target SAST finding persisted, but all four targeted-security checks and all six functional checks passed. That conflict triggered human adjudication. During code review, I found that an omitted name would change from the original text “undefined” to an empty string, but the frozen suite did not test that input. I therefore requested additional testing. The same untested conversion appears in accepted XSS attempts 01 and 02, which shows why review quality depends on test coverage rather than only the number of passing tests. This does not establish that the XSS candidate remains exploitable; it identifies a functional-coverage gap that requires supplemental testing.</a:t>
            </a:r>
          </a:p>
          <a:p>
            <a:endParaRPr lang="en-US" sz="1200" dirty="0"/>
          </a:p>
          <a:p>
            <a:r>
              <a:rPr sz="1200" dirty="0"/>
              <a:t>Evidence / references: data/</a:t>
            </a:r>
            <a:r>
              <a:rPr sz="1200" dirty="0" err="1"/>
              <a:t>primary_trials</a:t>
            </a:r>
            <a:r>
              <a:rPr sz="1200" dirty="0"/>
              <a:t>/v1/cases/</a:t>
            </a:r>
            <a:r>
              <a:rPr sz="1200" dirty="0" err="1"/>
              <a:t>sqli</a:t>
            </a:r>
            <a:r>
              <a:rPr sz="1200" dirty="0"/>
              <a:t>/attempt-01/; data/</a:t>
            </a:r>
            <a:r>
              <a:rPr sz="1200" dirty="0" err="1"/>
              <a:t>primary_trials</a:t>
            </a:r>
            <a:r>
              <a:rPr sz="1200" dirty="0"/>
              <a:t>/v1/cases/</a:t>
            </a:r>
            <a:r>
              <a:rPr sz="1200" dirty="0" err="1"/>
              <a:t>xss</a:t>
            </a:r>
            <a:r>
              <a:rPr sz="1200" dirty="0"/>
              <a:t>/attempt-04/; data/</a:t>
            </a:r>
            <a:r>
              <a:rPr sz="1200" dirty="0" err="1"/>
              <a:t>primary_reviews</a:t>
            </a:r>
            <a:r>
              <a:rPr sz="1200" dirty="0"/>
              <a:t>/v1/primary-v1-xss-initial-04/</a:t>
            </a:r>
            <a:r>
              <a:rPr sz="1200" dirty="0" err="1"/>
              <a:t>result.json</a:t>
            </a:r>
            <a:r>
              <a:rPr sz="1200" dirty="0"/>
              <a:t>; docs/coursework/review-2026-09-12/xss-review-supplement.md.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r>
              <a:rPr lang="en-US" dirty="0"/>
              <a:t>My next milestone is to predefine and execute a supplemental test matrix, beginning with XSS attempts four and five and path-traversal attempt one—the three candidates for which I requested additional testing. I will apply the same missing-input tests to accepted XSS attempts one and two because code review found the same </a:t>
            </a:r>
            <a:r>
              <a:rPr lang="en-US" dirty="0" err="1"/>
              <a:t>nullish</a:t>
            </a:r>
            <a:r>
              <a:rPr lang="en-US" dirty="0"/>
              <a:t>-to-empty-string conversion. Every supplemental outcome will be stored separately from the frozen primary study. I also plan to add separately labeled constructed bad-patch controls and failure-handling tests for malformed output, scanner timeouts, and application startup problems. These controls will not be presented as AI-generated failures. I will retain the current three-CWE scope rather than add more vulnerability classes before strengthening the existing evaluation. I welcome feedback on the highest-value supplemental tests and whether a second reviewer would provide more useful evidence than another vulnerability </a:t>
            </a:r>
            <a:r>
              <a:rPr lang="en-US"/>
              <a:t>class.</a:t>
            </a:r>
          </a:p>
          <a:p>
            <a:endParaRPr lang="en-US"/>
          </a:p>
          <a:p>
            <a:r>
              <a:rPr sz="1200" dirty="0"/>
              <a:t>Evidence / references: Human REQUEST_ADDITIONAL_TESTING records; supplied course dates; prototype limitations and user-provided AI-use disclosure.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endParaRPr lang="en-US" dirty="0"/>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9/13/2026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AC2C24E-B95E-481D-968E-0BDCFC72F656}" type="datetime1">
              <a:rPr lang="en-US" smtClean="0"/>
              <a:t>9/13/2026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endParaRPr lang="en-US" dirty="0"/>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9/13/2026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9/13/2026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9/13/2026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9/13/2026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9/13/2026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1415DC98-F527-4737-A5B9-3597210FA2F7}" type="datetime1">
              <a:rPr lang="en-US" smtClean="0"/>
              <a:t>9/13/2026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2188889-44B4-42BD-84DC-2D1A93FD44C7}" type="datetime1">
              <a:rPr lang="en-US" smtClean="0"/>
              <a:t>9/13/2026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9/13/2026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9/13/2026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9/13/2026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3EB29E-E91D-4BC9-BE3F-394F6FDC9AC7}" type="datetime1">
              <a:rPr lang="en-US" smtClean="0"/>
              <a:t>9/13/2026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BAD7DA-2107-4637-8C8D-3B775970879B}" type="datetime1">
              <a:rPr lang="en-US" smtClean="0"/>
              <a:t>9/13/2026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9/13/2026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4597AFA7-1C4B-4AAF-9FD8-61D1DA4C999A}" type="datetime1">
              <a:rPr lang="en-US" smtClean="0"/>
              <a:t>9/13/2026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EF5F7DF4-8BE0-4832-9230-78DDDEC4B6DD}" type="datetime1">
              <a:rPr lang="en-US" smtClean="0"/>
              <a:t>9/13/2026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9/13/2026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9/13/2026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C1166B1E-1AFA-4A7F-9646-409FBAA0A887}" type="datetime1">
              <a:rPr lang="en-US" smtClean="0"/>
              <a:t>9/13/2026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9/13/2026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9/13/2026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AA28231D-ABE1-4859-B037-5D42FA8F4858}" type="datetime1">
              <a:rPr lang="en-US" smtClean="0"/>
              <a:t>9/13/2026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endParaRPr lang="en-US" dirty="0"/>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9/13/2026</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9/13/2026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endParaRPr lang="en-US" dirty="0"/>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9/13/2026</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9/13/2026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9/13/2026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9/13/2026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9/13/2026</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9/13/2026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endParaRPr lang="en-US" dirty="0"/>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9/13/2026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9/13/2026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9/13/2026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9/13/2026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endParaRPr lang="en-US" dirty="0"/>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9/13/2026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9/13/2026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AB608D6C-D0F1-479F-911E-8569D2F1ED15}" type="datetime1">
              <a:rPr lang="en-US" smtClean="0"/>
              <a:t>9/13/2026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CBCFCC67-CBC1-48BE-A467-33E284003C9C}" type="datetime1">
              <a:rPr lang="en-US" smtClean="0"/>
              <a:t>9/13/2026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9/13/2026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9/13/2026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9/13/2026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8CAF44C-1683-44E3-97C5-DF51C69BF7AA}" type="datetime1">
              <a:rPr lang="en-US" smtClean="0"/>
              <a:t>9/13/2026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9/13/2026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9/13/2026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A0C8FE45-F91B-4375-B362-4DC6F9A2A304}" type="datetime1">
              <a:rPr lang="en-US" smtClean="0"/>
              <a:t>9/13/2026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endParaRPr lang="en-US" dirty="0"/>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9/13/2026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9/13/2026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9/13/2026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E9E0D87-B7D0-4C2E-BAD1-97A555313A20}" type="datetime1">
              <a:rPr lang="en-US" smtClean="0"/>
              <a:t>9/13/2026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29814657-813A-4D7B-A2F8-E573BA1645D3}" type="datetime1">
              <a:rPr lang="en-US" smtClean="0"/>
              <a:t>9/13/2026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rxiv.org/pdf/2108.09293"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arxiv.org/pdf/2405.15690" TargetMode="External"/><Relationship Id="rId4" Type="http://schemas.openxmlformats.org/officeDocument/2006/relationships/hyperlink" Target="https://arxiv.org/pdf/2112.02125"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55DA4480-7E9F-4D48-BD17-7C21608FB707}"/>
              </a:ext>
            </a:extLst>
          </p:cNvPr>
          <p:cNvSpPr/>
          <p:nvPr/>
        </p:nvSpPr>
        <p:spPr>
          <a:xfrm>
            <a:off x="0" y="0"/>
            <a:ext cx="12192000" cy="6858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Rectangle 22">
            <a:extLst>
              <a:ext uri="{FF2B5EF4-FFF2-40B4-BE49-F238E27FC236}">
                <a16:creationId xmlns:a16="http://schemas.microsoft.com/office/drawing/2014/main" id="{353B1EBA-B4B5-4A8B-87A2-2EC1BB79E1AC}"/>
              </a:ext>
            </a:extLst>
          </p:cNvPr>
          <p:cNvSpPr/>
          <p:nvPr/>
        </p:nvSpPr>
        <p:spPr>
          <a:xfrm>
            <a:off x="0" y="0"/>
            <a:ext cx="12192000" cy="127000"/>
          </a:xfrm>
          <a:prstGeom prst="rect">
            <a:avLst/>
          </a:prstGeom>
          <a:solidFill>
            <a:srgbClr val="0B7F8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4E683431-A06B-41BD-B885-BB24FF877BFD}"/>
              </a:ext>
            </a:extLst>
          </p:cNvPr>
          <p:cNvSpPr txBox="1"/>
          <p:nvPr/>
        </p:nvSpPr>
        <p:spPr>
          <a:xfrm>
            <a:off x="889000" y="1244600"/>
            <a:ext cx="10414000" cy="863600"/>
          </a:xfrm>
          <a:prstGeom prst="rect">
            <a:avLst/>
          </a:prstGeom>
          <a:noFill/>
        </p:spPr>
        <p:txBody>
          <a:bodyPr vertOverflow="overflow" vert="horz" wrap="square" rtlCol="0" anchor="ctr" anchorCtr="0">
            <a:noAutofit/>
          </a:bodyPr>
          <a:lstStyle/>
          <a:p>
            <a:pPr algn="l"/>
            <a:r>
              <a:rPr lang="en-US" sz="3800" b="1">
                <a:solidFill>
                  <a:srgbClr val="172033"/>
                </a:solidFill>
                <a:latin typeface="Aptos"/>
              </a:rPr>
              <a:t>FixProof — Video II</a:t>
            </a:r>
          </a:p>
        </p:txBody>
      </p:sp>
      <p:sp>
        <p:nvSpPr>
          <p:cNvPr id="25" name="TextBox 24">
            <a:extLst>
              <a:ext uri="{FF2B5EF4-FFF2-40B4-BE49-F238E27FC236}">
                <a16:creationId xmlns:a16="http://schemas.microsoft.com/office/drawing/2014/main" id="{B01D692A-137B-49FE-97AC-17B701A2C8F4}"/>
              </a:ext>
            </a:extLst>
          </p:cNvPr>
          <p:cNvSpPr txBox="1"/>
          <p:nvPr/>
        </p:nvSpPr>
        <p:spPr>
          <a:xfrm>
            <a:off x="889000" y="2260600"/>
            <a:ext cx="9144000" cy="457200"/>
          </a:xfrm>
          <a:prstGeom prst="rect">
            <a:avLst/>
          </a:prstGeom>
          <a:noFill/>
        </p:spPr>
        <p:txBody>
          <a:bodyPr vertOverflow="overflow" vert="horz" wrap="square" rtlCol="0" anchor="ctr" anchorCtr="0">
            <a:noAutofit/>
          </a:bodyPr>
          <a:lstStyle/>
          <a:p>
            <a:pPr algn="l"/>
            <a:r>
              <a:rPr lang="en-US" sz="2300" b="1">
                <a:solidFill>
                  <a:srgbClr val="0B7F86"/>
                </a:solidFill>
                <a:latin typeface="Aptos"/>
              </a:rPr>
              <a:t>Validating AI-generated security repairs</a:t>
            </a:r>
          </a:p>
        </p:txBody>
      </p:sp>
      <p:sp>
        <p:nvSpPr>
          <p:cNvPr id="26" name="TextBox 25">
            <a:extLst>
              <a:ext uri="{FF2B5EF4-FFF2-40B4-BE49-F238E27FC236}">
                <a16:creationId xmlns:a16="http://schemas.microsoft.com/office/drawing/2014/main" id="{B0B0A45B-8563-4569-A086-02FD59A94819}"/>
              </a:ext>
            </a:extLst>
          </p:cNvPr>
          <p:cNvSpPr txBox="1"/>
          <p:nvPr/>
        </p:nvSpPr>
        <p:spPr>
          <a:xfrm>
            <a:off x="889000" y="3022600"/>
            <a:ext cx="9652000" cy="762000"/>
          </a:xfrm>
          <a:prstGeom prst="rect">
            <a:avLst/>
          </a:prstGeom>
          <a:noFill/>
        </p:spPr>
        <p:txBody>
          <a:bodyPr vertOverflow="overflow" vert="horz" wrap="square" rtlCol="0" anchor="ctr" anchorCtr="0">
            <a:noAutofit/>
          </a:bodyPr>
          <a:lstStyle/>
          <a:p>
            <a:pPr algn="l"/>
            <a:r>
              <a:rPr lang="en-US" sz="1900">
                <a:solidFill>
                  <a:srgbClr val="556070"/>
                </a:solidFill>
                <a:latin typeface="Aptos"/>
              </a:rPr>
              <a:t>Progress update: completed trials, conflict reviews, and the next evidence gaps to test</a:t>
            </a:r>
          </a:p>
        </p:txBody>
      </p:sp>
      <p:sp>
        <p:nvSpPr>
          <p:cNvPr id="27" name="Rectangle 26">
            <a:extLst>
              <a:ext uri="{FF2B5EF4-FFF2-40B4-BE49-F238E27FC236}">
                <a16:creationId xmlns:a16="http://schemas.microsoft.com/office/drawing/2014/main" id="{9195C38F-1152-452B-BC8C-FE803E11F72D}"/>
              </a:ext>
            </a:extLst>
          </p:cNvPr>
          <p:cNvSpPr/>
          <p:nvPr/>
        </p:nvSpPr>
        <p:spPr>
          <a:xfrm>
            <a:off x="889000" y="4318000"/>
            <a:ext cx="1397000" cy="50800"/>
          </a:xfrm>
          <a:prstGeom prst="rect">
            <a:avLst/>
          </a:prstGeom>
          <a:solidFill>
            <a:srgbClr val="0B7F8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TextBox 27">
            <a:extLst>
              <a:ext uri="{FF2B5EF4-FFF2-40B4-BE49-F238E27FC236}">
                <a16:creationId xmlns:a16="http://schemas.microsoft.com/office/drawing/2014/main" id="{9E15A603-3798-4FDB-B92D-EE88C791BC16}"/>
              </a:ext>
            </a:extLst>
          </p:cNvPr>
          <p:cNvSpPr txBox="1"/>
          <p:nvPr/>
        </p:nvSpPr>
        <p:spPr>
          <a:xfrm>
            <a:off x="889000" y="4648200"/>
            <a:ext cx="8255000" cy="355600"/>
          </a:xfrm>
          <a:prstGeom prst="rect">
            <a:avLst/>
          </a:prstGeom>
          <a:noFill/>
        </p:spPr>
        <p:txBody>
          <a:bodyPr vertOverflow="overflow" vert="horz" wrap="square" rtlCol="0" anchor="ctr" anchorCtr="0">
            <a:noAutofit/>
          </a:bodyPr>
          <a:lstStyle/>
          <a:p>
            <a:pPr algn="l"/>
            <a:r>
              <a:rPr lang="en-US" sz="1600" b="1" dirty="0">
                <a:solidFill>
                  <a:srgbClr val="172033"/>
                </a:solidFill>
                <a:latin typeface="Aptos"/>
              </a:rPr>
              <a:t>Tony Tran  |  CS6727  |  September 2026</a:t>
            </a:r>
          </a:p>
        </p:txBody>
      </p:sp>
      <p:sp>
        <p:nvSpPr>
          <p:cNvPr id="29" name="TextBox 28">
            <a:extLst>
              <a:ext uri="{FF2B5EF4-FFF2-40B4-BE49-F238E27FC236}">
                <a16:creationId xmlns:a16="http://schemas.microsoft.com/office/drawing/2014/main" id="{70DA531E-D1CC-4CF1-9383-BFFCF165558E}"/>
              </a:ext>
            </a:extLst>
          </p:cNvPr>
          <p:cNvSpPr txBox="1"/>
          <p:nvPr/>
        </p:nvSpPr>
        <p:spPr>
          <a:xfrm>
            <a:off x="889000" y="5181600"/>
            <a:ext cx="8255000" cy="304800"/>
          </a:xfrm>
          <a:prstGeom prst="rect">
            <a:avLst/>
          </a:prstGeom>
          <a:noFill/>
        </p:spPr>
        <p:txBody>
          <a:bodyPr vertOverflow="overflow" vert="horz" wrap="square" rtlCol="0" anchor="ctr" anchorCtr="0">
            <a:noAutofit/>
          </a:bodyPr>
          <a:lstStyle/>
          <a:p>
            <a:pPr algn="l"/>
            <a:endParaRPr lang="en-US" sz="1400" dirty="0">
              <a:solidFill>
                <a:srgbClr val="556070"/>
              </a:solidFill>
              <a:latin typeface="Aptos"/>
            </a:endParaRPr>
          </a:p>
        </p:txBody>
      </p:sp>
      <p:sp>
        <p:nvSpPr>
          <p:cNvPr id="30" name="TextBox 29">
            <a:extLst>
              <a:ext uri="{FF2B5EF4-FFF2-40B4-BE49-F238E27FC236}">
                <a16:creationId xmlns:a16="http://schemas.microsoft.com/office/drawing/2014/main" id="{927E3AF8-C731-4073-96DA-0A81E8C72BD2}"/>
              </a:ext>
            </a:extLst>
          </p:cNvPr>
          <p:cNvSpPr txBox="1"/>
          <p:nvPr/>
        </p:nvSpPr>
        <p:spPr>
          <a:xfrm>
            <a:off x="889000" y="5562600"/>
            <a:ext cx="8255000" cy="304800"/>
          </a:xfrm>
          <a:prstGeom prst="rect">
            <a:avLst/>
          </a:prstGeom>
          <a:noFill/>
        </p:spPr>
        <p:txBody>
          <a:bodyPr vertOverflow="overflow" vert="horz" wrap="square" rtlCol="0" anchor="ctr" anchorCtr="0">
            <a:noAutofit/>
          </a:bodyPr>
          <a:lstStyle/>
          <a:p>
            <a:pPr algn="l"/>
            <a:endParaRPr lang="en-US" sz="1400" dirty="0">
              <a:solidFill>
                <a:srgbClr val="556070"/>
              </a:solidFill>
              <a:latin typeface="Aptos"/>
            </a:endParaRPr>
          </a:p>
        </p:txBody>
      </p:sp>
    </p:spTree>
    <p:extLst>
      <p:ext uri="{BB962C8B-B14F-4D97-AF65-F5344CB8AC3E}">
        <p14:creationId xmlns:p14="http://schemas.microsoft.com/office/powerpoint/2010/main" val="281245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F2D6067D-CBAE-4FF0-AEA7-25BD6F52F44E}"/>
              </a:ext>
            </a:extLst>
          </p:cNvPr>
          <p:cNvSpPr/>
          <p:nvPr/>
        </p:nvSpPr>
        <p:spPr>
          <a:xfrm>
            <a:off x="0" y="0"/>
            <a:ext cx="12192000" cy="6858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Rectangle 39">
            <a:extLst>
              <a:ext uri="{FF2B5EF4-FFF2-40B4-BE49-F238E27FC236}">
                <a16:creationId xmlns:a16="http://schemas.microsoft.com/office/drawing/2014/main" id="{CA4C524D-D334-430E-9A39-662F12828981}"/>
              </a:ext>
            </a:extLst>
          </p:cNvPr>
          <p:cNvSpPr/>
          <p:nvPr/>
        </p:nvSpPr>
        <p:spPr>
          <a:xfrm>
            <a:off x="0" y="0"/>
            <a:ext cx="12192000" cy="101600"/>
          </a:xfrm>
          <a:prstGeom prst="rect">
            <a:avLst/>
          </a:prstGeom>
          <a:solidFill>
            <a:srgbClr val="0B7F8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TextBox 40">
            <a:extLst>
              <a:ext uri="{FF2B5EF4-FFF2-40B4-BE49-F238E27FC236}">
                <a16:creationId xmlns:a16="http://schemas.microsoft.com/office/drawing/2014/main" id="{F86CF6A3-ED82-4DDC-8CD3-A87B784281AA}"/>
              </a:ext>
            </a:extLst>
          </p:cNvPr>
          <p:cNvSpPr txBox="1"/>
          <p:nvPr/>
        </p:nvSpPr>
        <p:spPr>
          <a:xfrm>
            <a:off x="736600" y="533400"/>
            <a:ext cx="10414000" cy="660400"/>
          </a:xfrm>
          <a:prstGeom prst="rect">
            <a:avLst/>
          </a:prstGeom>
          <a:noFill/>
        </p:spPr>
        <p:txBody>
          <a:bodyPr vertOverflow="overflow" vert="horz" wrap="square" rtlCol="0" anchor="ctr" anchorCtr="0">
            <a:noAutofit/>
          </a:bodyPr>
          <a:lstStyle/>
          <a:p>
            <a:pPr algn="l"/>
            <a:r>
              <a:rPr lang="en-US" sz="3000" b="1" dirty="0">
                <a:solidFill>
                  <a:srgbClr val="172033"/>
                </a:solidFill>
                <a:latin typeface="Aptos"/>
              </a:rPr>
              <a:t>What </a:t>
            </a:r>
            <a:r>
              <a:rPr lang="en-US" sz="3000" b="1" dirty="0" err="1">
                <a:solidFill>
                  <a:srgbClr val="172033"/>
                </a:solidFill>
                <a:latin typeface="Aptos"/>
              </a:rPr>
              <a:t>FixProof</a:t>
            </a:r>
            <a:r>
              <a:rPr lang="en-US" sz="3000" b="1" dirty="0">
                <a:solidFill>
                  <a:srgbClr val="172033"/>
                </a:solidFill>
                <a:latin typeface="Aptos"/>
              </a:rPr>
              <a:t> is</a:t>
            </a:r>
          </a:p>
        </p:txBody>
      </p:sp>
      <p:sp>
        <p:nvSpPr>
          <p:cNvPr id="42" name="Rectangle 41">
            <a:extLst>
              <a:ext uri="{FF2B5EF4-FFF2-40B4-BE49-F238E27FC236}">
                <a16:creationId xmlns:a16="http://schemas.microsoft.com/office/drawing/2014/main" id="{07BC41C3-FAD0-45D9-B178-BE602C62BA4C}"/>
              </a:ext>
            </a:extLst>
          </p:cNvPr>
          <p:cNvSpPr/>
          <p:nvPr/>
        </p:nvSpPr>
        <p:spPr>
          <a:xfrm>
            <a:off x="736600" y="1371600"/>
            <a:ext cx="10718800" cy="19050"/>
          </a:xfrm>
          <a:prstGeom prst="rect">
            <a:avLst/>
          </a:prstGeom>
          <a:solidFill>
            <a:srgbClr val="D7DE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3" name="TextBox 42">
            <a:extLst>
              <a:ext uri="{FF2B5EF4-FFF2-40B4-BE49-F238E27FC236}">
                <a16:creationId xmlns:a16="http://schemas.microsoft.com/office/drawing/2014/main" id="{C250207B-2B06-49D3-AC4F-FFAC93E94126}"/>
              </a:ext>
            </a:extLst>
          </p:cNvPr>
          <p:cNvSpPr txBox="1"/>
          <p:nvPr/>
        </p:nvSpPr>
        <p:spPr>
          <a:xfrm>
            <a:off x="11125200" y="584200"/>
            <a:ext cx="330200" cy="355600"/>
          </a:xfrm>
          <a:prstGeom prst="rect">
            <a:avLst/>
          </a:prstGeom>
          <a:noFill/>
        </p:spPr>
        <p:txBody>
          <a:bodyPr vertOverflow="overflow" vert="horz" wrap="square" rtlCol="0" anchor="ctr" anchorCtr="0">
            <a:noAutofit/>
          </a:bodyPr>
          <a:lstStyle/>
          <a:p>
            <a:pPr algn="l"/>
            <a:r>
              <a:rPr lang="en-US" sz="1200" b="1">
                <a:solidFill>
                  <a:srgbClr val="556070"/>
                </a:solidFill>
                <a:latin typeface="Aptos"/>
              </a:rPr>
              <a:t>2</a:t>
            </a:r>
          </a:p>
        </p:txBody>
      </p:sp>
      <p:sp>
        <p:nvSpPr>
          <p:cNvPr id="44" name="TextBox 43">
            <a:extLst>
              <a:ext uri="{FF2B5EF4-FFF2-40B4-BE49-F238E27FC236}">
                <a16:creationId xmlns:a16="http://schemas.microsoft.com/office/drawing/2014/main" id="{BFB4A696-649D-4C9F-A19A-8007A6F9D57E}"/>
              </a:ext>
            </a:extLst>
          </p:cNvPr>
          <p:cNvSpPr txBox="1"/>
          <p:nvPr/>
        </p:nvSpPr>
        <p:spPr>
          <a:xfrm>
            <a:off x="736600" y="1727200"/>
            <a:ext cx="4699000" cy="330200"/>
          </a:xfrm>
          <a:prstGeom prst="rect">
            <a:avLst/>
          </a:prstGeom>
          <a:noFill/>
        </p:spPr>
        <p:txBody>
          <a:bodyPr vertOverflow="overflow" vert="horz" wrap="square" rtlCol="0" anchor="ctr" anchorCtr="0">
            <a:noAutofit/>
          </a:bodyPr>
          <a:lstStyle/>
          <a:p>
            <a:pPr algn="l"/>
            <a:r>
              <a:rPr lang="en-US" sz="1400" b="1">
                <a:solidFill>
                  <a:srgbClr val="0B7F86"/>
                </a:solidFill>
                <a:latin typeface="Aptos"/>
              </a:rPr>
              <a:t>Prototype</a:t>
            </a:r>
          </a:p>
        </p:txBody>
      </p:sp>
      <p:sp>
        <p:nvSpPr>
          <p:cNvPr id="45" name="TextBox 44">
            <a:extLst>
              <a:ext uri="{FF2B5EF4-FFF2-40B4-BE49-F238E27FC236}">
                <a16:creationId xmlns:a16="http://schemas.microsoft.com/office/drawing/2014/main" id="{EF83B4A4-5FE5-4E00-B54F-632AF448C93A}"/>
              </a:ext>
            </a:extLst>
          </p:cNvPr>
          <p:cNvSpPr txBox="1"/>
          <p:nvPr/>
        </p:nvSpPr>
        <p:spPr>
          <a:xfrm>
            <a:off x="736600" y="2133600"/>
            <a:ext cx="5080000" cy="1600200"/>
          </a:xfrm>
          <a:prstGeom prst="rect">
            <a:avLst/>
          </a:prstGeom>
          <a:noFill/>
        </p:spPr>
        <p:txBody>
          <a:bodyPr vertOverflow="overflow" vert="horz" wrap="square" rtlCol="0" anchor="ctr" anchorCtr="0">
            <a:noAutofit/>
          </a:bodyPr>
          <a:lstStyle/>
          <a:p>
            <a:pPr algn="l"/>
            <a:r>
              <a:rPr lang="en-US" sz="1900" dirty="0">
                <a:solidFill>
                  <a:srgbClr val="172033"/>
                </a:solidFill>
                <a:latin typeface="Aptos"/>
              </a:rPr>
              <a:t>• Python orchestration
• JavaScript / Express test applications
• Three controlled weaknesses: Reflected XSS, SQL injection, and path traversal</a:t>
            </a:r>
          </a:p>
        </p:txBody>
      </p:sp>
      <p:sp>
        <p:nvSpPr>
          <p:cNvPr id="46" name="Rectangle 45">
            <a:extLst>
              <a:ext uri="{FF2B5EF4-FFF2-40B4-BE49-F238E27FC236}">
                <a16:creationId xmlns:a16="http://schemas.microsoft.com/office/drawing/2014/main" id="{472F52FA-0319-46E8-B096-95B728DD7D29}"/>
              </a:ext>
            </a:extLst>
          </p:cNvPr>
          <p:cNvSpPr/>
          <p:nvPr/>
        </p:nvSpPr>
        <p:spPr>
          <a:xfrm>
            <a:off x="6019800" y="1752600"/>
            <a:ext cx="19050" cy="3175000"/>
          </a:xfrm>
          <a:prstGeom prst="rect">
            <a:avLst/>
          </a:prstGeom>
          <a:solidFill>
            <a:srgbClr val="D7DE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7" name="TextBox 46">
            <a:extLst>
              <a:ext uri="{FF2B5EF4-FFF2-40B4-BE49-F238E27FC236}">
                <a16:creationId xmlns:a16="http://schemas.microsoft.com/office/drawing/2014/main" id="{3E298131-0BCC-4DD7-85D0-00147FC9F8CC}"/>
              </a:ext>
            </a:extLst>
          </p:cNvPr>
          <p:cNvSpPr txBox="1"/>
          <p:nvPr/>
        </p:nvSpPr>
        <p:spPr>
          <a:xfrm>
            <a:off x="6477000" y="1727200"/>
            <a:ext cx="4826000" cy="330200"/>
          </a:xfrm>
          <a:prstGeom prst="rect">
            <a:avLst/>
          </a:prstGeom>
          <a:noFill/>
        </p:spPr>
        <p:txBody>
          <a:bodyPr vertOverflow="overflow" vert="horz" wrap="square" rtlCol="0" anchor="ctr" anchorCtr="0">
            <a:noAutofit/>
          </a:bodyPr>
          <a:lstStyle/>
          <a:p>
            <a:pPr algn="l"/>
            <a:r>
              <a:rPr lang="en-US" sz="1400" b="1" dirty="0">
                <a:solidFill>
                  <a:srgbClr val="0B7F86"/>
                </a:solidFill>
                <a:latin typeface="Aptos"/>
              </a:rPr>
              <a:t>AI roles and validation boundary</a:t>
            </a:r>
          </a:p>
        </p:txBody>
      </p:sp>
      <p:sp>
        <p:nvSpPr>
          <p:cNvPr id="48" name="TextBox 47">
            <a:extLst>
              <a:ext uri="{FF2B5EF4-FFF2-40B4-BE49-F238E27FC236}">
                <a16:creationId xmlns:a16="http://schemas.microsoft.com/office/drawing/2014/main" id="{22532FB5-D87D-4381-9181-D33AF7D7CACC}"/>
              </a:ext>
            </a:extLst>
          </p:cNvPr>
          <p:cNvSpPr txBox="1"/>
          <p:nvPr/>
        </p:nvSpPr>
        <p:spPr>
          <a:xfrm>
            <a:off x="6477000" y="2133600"/>
            <a:ext cx="4826000" cy="1905000"/>
          </a:xfrm>
          <a:prstGeom prst="rect">
            <a:avLst/>
          </a:prstGeom>
          <a:noFill/>
        </p:spPr>
        <p:txBody>
          <a:bodyPr vertOverflow="overflow" vert="horz" wrap="square" rtlCol="0" anchor="ctr" anchorCtr="0">
            <a:noAutofit/>
          </a:bodyPr>
          <a:lstStyle/>
          <a:p>
            <a:r>
              <a:rPr lang="en-US" dirty="0">
                <a:solidFill>
                  <a:srgbClr val="172033"/>
                </a:solidFill>
                <a:latin typeface="Aptos"/>
              </a:rPr>
              <a:t>• Codex assists development
• </a:t>
            </a:r>
            <a:r>
              <a:rPr lang="en-US" dirty="0"/>
              <a:t>The experiment model proposes candidate code for one finding </a:t>
            </a:r>
            <a:r>
              <a:rPr lang="en-US" dirty="0">
                <a:solidFill>
                  <a:srgbClr val="172033"/>
                </a:solidFill>
                <a:latin typeface="Aptos"/>
              </a:rPr>
              <a:t>
• </a:t>
            </a:r>
            <a:r>
              <a:rPr lang="en-US" dirty="0" err="1"/>
              <a:t>FixProof</a:t>
            </a:r>
            <a:r>
              <a:rPr lang="en-US" dirty="0"/>
              <a:t> independently runs syntax, SAST, targeted-security, and functional checks </a:t>
            </a:r>
            <a:r>
              <a:rPr lang="en-US" dirty="0">
                <a:solidFill>
                  <a:srgbClr val="172033"/>
                </a:solidFill>
                <a:latin typeface="Aptos"/>
              </a:rPr>
              <a:t>
• </a:t>
            </a:r>
            <a:r>
              <a:rPr lang="en-US" dirty="0"/>
              <a:t>The model cannot approve or deploy its own candidate</a:t>
            </a:r>
            <a:endParaRPr lang="en-US" dirty="0">
              <a:solidFill>
                <a:srgbClr val="172033"/>
              </a:solidFill>
              <a:latin typeface="Aptos"/>
            </a:endParaRPr>
          </a:p>
        </p:txBody>
      </p:sp>
      <p:sp>
        <p:nvSpPr>
          <p:cNvPr id="49" name="Rectangle 48">
            <a:extLst>
              <a:ext uri="{FF2B5EF4-FFF2-40B4-BE49-F238E27FC236}">
                <a16:creationId xmlns:a16="http://schemas.microsoft.com/office/drawing/2014/main" id="{A7E8F365-3116-41CA-AB74-60E32A6A2BD6}"/>
              </a:ext>
            </a:extLst>
          </p:cNvPr>
          <p:cNvSpPr/>
          <p:nvPr/>
        </p:nvSpPr>
        <p:spPr>
          <a:xfrm>
            <a:off x="736600" y="4419600"/>
            <a:ext cx="10566400" cy="1168400"/>
          </a:xfrm>
          <a:prstGeom prst="rect">
            <a:avLst/>
          </a:prstGeom>
          <a:solidFill>
            <a:srgbClr val="E9F5F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0" name="TextBox 49">
            <a:extLst>
              <a:ext uri="{FF2B5EF4-FFF2-40B4-BE49-F238E27FC236}">
                <a16:creationId xmlns:a16="http://schemas.microsoft.com/office/drawing/2014/main" id="{14C3AA63-A59D-43C2-A6CC-8BC31BB7AD4E}"/>
              </a:ext>
            </a:extLst>
          </p:cNvPr>
          <p:cNvSpPr txBox="1"/>
          <p:nvPr/>
        </p:nvSpPr>
        <p:spPr>
          <a:xfrm>
            <a:off x="990600" y="4572000"/>
            <a:ext cx="2413000" cy="279400"/>
          </a:xfrm>
          <a:prstGeom prst="rect">
            <a:avLst/>
          </a:prstGeom>
          <a:noFill/>
        </p:spPr>
        <p:txBody>
          <a:bodyPr vertOverflow="overflow" vert="horz" wrap="square" rtlCol="0" anchor="ctr" anchorCtr="0">
            <a:noAutofit/>
          </a:bodyPr>
          <a:lstStyle/>
          <a:p>
            <a:pPr algn="l"/>
            <a:r>
              <a:rPr lang="en-US" sz="1300" b="1">
                <a:solidFill>
                  <a:srgbClr val="0B7F86"/>
                </a:solidFill>
                <a:latin typeface="Aptos"/>
              </a:rPr>
              <a:t>Research question</a:t>
            </a:r>
          </a:p>
        </p:txBody>
      </p:sp>
      <p:sp>
        <p:nvSpPr>
          <p:cNvPr id="51" name="TextBox 50">
            <a:extLst>
              <a:ext uri="{FF2B5EF4-FFF2-40B4-BE49-F238E27FC236}">
                <a16:creationId xmlns:a16="http://schemas.microsoft.com/office/drawing/2014/main" id="{55F4A377-492B-483E-91E1-9EC83F69CD88}"/>
              </a:ext>
            </a:extLst>
          </p:cNvPr>
          <p:cNvSpPr txBox="1"/>
          <p:nvPr/>
        </p:nvSpPr>
        <p:spPr>
          <a:xfrm>
            <a:off x="990600" y="4902200"/>
            <a:ext cx="9956800" cy="482600"/>
          </a:xfrm>
          <a:prstGeom prst="rect">
            <a:avLst/>
          </a:prstGeom>
          <a:noFill/>
        </p:spPr>
        <p:txBody>
          <a:bodyPr vertOverflow="overflow" vert="horz" wrap="square" rtlCol="0" anchor="ctr" anchorCtr="0">
            <a:noAutofit/>
          </a:bodyPr>
          <a:lstStyle/>
          <a:p>
            <a:r>
              <a:rPr lang="en-US" sz="2000" b="1" dirty="0"/>
              <a:t>For the same AI-generated repair, do SAST results agree with targeted runtime-security and functional evidence?</a:t>
            </a:r>
            <a:endParaRPr lang="en-US" sz="2000" b="1" dirty="0">
              <a:solidFill>
                <a:srgbClr val="172033"/>
              </a:solidFill>
              <a:latin typeface="Aptos"/>
            </a:endParaRPr>
          </a:p>
        </p:txBody>
      </p:sp>
      <p:sp>
        <p:nvSpPr>
          <p:cNvPr id="52" name="Rectangle 51">
            <a:extLst>
              <a:ext uri="{FF2B5EF4-FFF2-40B4-BE49-F238E27FC236}">
                <a16:creationId xmlns:a16="http://schemas.microsoft.com/office/drawing/2014/main" id="{6C6AD570-0C7B-466C-9325-7543D22347D8}"/>
              </a:ext>
            </a:extLst>
          </p:cNvPr>
          <p:cNvSpPr/>
          <p:nvPr/>
        </p:nvSpPr>
        <p:spPr>
          <a:xfrm>
            <a:off x="736600" y="6350000"/>
            <a:ext cx="10718800" cy="12700"/>
          </a:xfrm>
          <a:prstGeom prst="rect">
            <a:avLst/>
          </a:prstGeom>
          <a:solidFill>
            <a:srgbClr val="D7DE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3" name="TextBox 52">
            <a:extLst>
              <a:ext uri="{FF2B5EF4-FFF2-40B4-BE49-F238E27FC236}">
                <a16:creationId xmlns:a16="http://schemas.microsoft.com/office/drawing/2014/main" id="{1374D6C4-1B54-4940-86AB-61D009453A47}"/>
              </a:ext>
            </a:extLst>
          </p:cNvPr>
          <p:cNvSpPr txBox="1"/>
          <p:nvPr/>
        </p:nvSpPr>
        <p:spPr>
          <a:xfrm>
            <a:off x="736600" y="6451600"/>
            <a:ext cx="10718800" cy="203200"/>
          </a:xfrm>
          <a:prstGeom prst="rect">
            <a:avLst/>
          </a:prstGeom>
          <a:noFill/>
        </p:spPr>
        <p:txBody>
          <a:bodyPr vertOverflow="overflow" vert="horz" wrap="square" rtlCol="0" anchor="ctr" anchorCtr="0">
            <a:noAutofit/>
          </a:bodyPr>
          <a:lstStyle/>
          <a:p>
            <a:pPr algn="l"/>
            <a:r>
              <a:rPr lang="en-US" sz="900">
                <a:solidFill>
                  <a:srgbClr val="556070"/>
                </a:solidFill>
                <a:latin typeface="Aptos"/>
              </a:rPr>
              <a:t>Scope: small controlled web routes, including browser execution for reflected XSS</a:t>
            </a:r>
          </a:p>
        </p:txBody>
      </p:sp>
    </p:spTree>
    <p:extLst>
      <p:ext uri="{BB962C8B-B14F-4D97-AF65-F5344CB8AC3E}">
        <p14:creationId xmlns:p14="http://schemas.microsoft.com/office/powerpoint/2010/main" val="121228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1F4FE30F-31FE-437A-BA8A-E126A199D238}"/>
              </a:ext>
            </a:extLst>
          </p:cNvPr>
          <p:cNvSpPr/>
          <p:nvPr/>
        </p:nvSpPr>
        <p:spPr>
          <a:xfrm>
            <a:off x="0" y="0"/>
            <a:ext cx="12192000" cy="6858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3" name="Rectangle 32">
            <a:extLst>
              <a:ext uri="{FF2B5EF4-FFF2-40B4-BE49-F238E27FC236}">
                <a16:creationId xmlns:a16="http://schemas.microsoft.com/office/drawing/2014/main" id="{9EA782F1-1C83-40E3-92C1-25D17F4408D6}"/>
              </a:ext>
            </a:extLst>
          </p:cNvPr>
          <p:cNvSpPr/>
          <p:nvPr/>
        </p:nvSpPr>
        <p:spPr>
          <a:xfrm>
            <a:off x="0" y="0"/>
            <a:ext cx="12192000" cy="101600"/>
          </a:xfrm>
          <a:prstGeom prst="rect">
            <a:avLst/>
          </a:prstGeom>
          <a:solidFill>
            <a:srgbClr val="0B7F8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TextBox 33">
            <a:extLst>
              <a:ext uri="{FF2B5EF4-FFF2-40B4-BE49-F238E27FC236}">
                <a16:creationId xmlns:a16="http://schemas.microsoft.com/office/drawing/2014/main" id="{8692D8CC-87B3-466A-94DB-212028DCCC25}"/>
              </a:ext>
            </a:extLst>
          </p:cNvPr>
          <p:cNvSpPr txBox="1"/>
          <p:nvPr/>
        </p:nvSpPr>
        <p:spPr>
          <a:xfrm>
            <a:off x="736600" y="533400"/>
            <a:ext cx="10414000" cy="660400"/>
          </a:xfrm>
          <a:prstGeom prst="rect">
            <a:avLst/>
          </a:prstGeom>
          <a:noFill/>
        </p:spPr>
        <p:txBody>
          <a:bodyPr vertOverflow="overflow" vert="horz" wrap="square" rtlCol="0" anchor="ctr" anchorCtr="0">
            <a:noAutofit/>
          </a:bodyPr>
          <a:lstStyle/>
          <a:p>
            <a:pPr algn="l"/>
            <a:r>
              <a:rPr lang="en-US" sz="3000" b="1" dirty="0">
                <a:solidFill>
                  <a:srgbClr val="172033"/>
                </a:solidFill>
                <a:latin typeface="Aptos"/>
              </a:rPr>
              <a:t>Research-informed design</a:t>
            </a:r>
          </a:p>
        </p:txBody>
      </p:sp>
      <p:sp>
        <p:nvSpPr>
          <p:cNvPr id="35" name="Rectangle 34">
            <a:extLst>
              <a:ext uri="{FF2B5EF4-FFF2-40B4-BE49-F238E27FC236}">
                <a16:creationId xmlns:a16="http://schemas.microsoft.com/office/drawing/2014/main" id="{84E039A3-6DEB-41FB-B4FE-977267796D29}"/>
              </a:ext>
            </a:extLst>
          </p:cNvPr>
          <p:cNvSpPr/>
          <p:nvPr/>
        </p:nvSpPr>
        <p:spPr>
          <a:xfrm>
            <a:off x="736600" y="1371600"/>
            <a:ext cx="10718800" cy="19050"/>
          </a:xfrm>
          <a:prstGeom prst="rect">
            <a:avLst/>
          </a:prstGeom>
          <a:solidFill>
            <a:srgbClr val="D7DE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TextBox 35">
            <a:extLst>
              <a:ext uri="{FF2B5EF4-FFF2-40B4-BE49-F238E27FC236}">
                <a16:creationId xmlns:a16="http://schemas.microsoft.com/office/drawing/2014/main" id="{D12477CD-A81E-4E62-8726-7A1E1F1204D3}"/>
              </a:ext>
            </a:extLst>
          </p:cNvPr>
          <p:cNvSpPr txBox="1"/>
          <p:nvPr/>
        </p:nvSpPr>
        <p:spPr>
          <a:xfrm>
            <a:off x="11125200" y="584200"/>
            <a:ext cx="330200" cy="355600"/>
          </a:xfrm>
          <a:prstGeom prst="rect">
            <a:avLst/>
          </a:prstGeom>
          <a:noFill/>
        </p:spPr>
        <p:txBody>
          <a:bodyPr vertOverflow="overflow" vert="horz" wrap="square" rtlCol="0" anchor="ctr" anchorCtr="0">
            <a:noAutofit/>
          </a:bodyPr>
          <a:lstStyle/>
          <a:p>
            <a:pPr algn="l"/>
            <a:r>
              <a:rPr lang="en-US" sz="1200" b="1">
                <a:solidFill>
                  <a:srgbClr val="556070"/>
                </a:solidFill>
                <a:latin typeface="Aptos"/>
              </a:rPr>
              <a:t>3</a:t>
            </a:r>
          </a:p>
        </p:txBody>
      </p:sp>
      <p:sp>
        <p:nvSpPr>
          <p:cNvPr id="37" name="TextBox 36">
            <a:extLst>
              <a:ext uri="{FF2B5EF4-FFF2-40B4-BE49-F238E27FC236}">
                <a16:creationId xmlns:a16="http://schemas.microsoft.com/office/drawing/2014/main" id="{6936EC89-13F4-4A44-88C3-5C0706421FA8}"/>
              </a:ext>
            </a:extLst>
          </p:cNvPr>
          <p:cNvSpPr txBox="1"/>
          <p:nvPr/>
        </p:nvSpPr>
        <p:spPr>
          <a:xfrm>
            <a:off x="914400" y="1676400"/>
            <a:ext cx="4318000" cy="304800"/>
          </a:xfrm>
          <a:prstGeom prst="rect">
            <a:avLst/>
          </a:prstGeom>
          <a:noFill/>
        </p:spPr>
        <p:txBody>
          <a:bodyPr vertOverflow="overflow" vert="horz" wrap="square" rtlCol="0" anchor="ctr" anchorCtr="0">
            <a:noAutofit/>
          </a:bodyPr>
          <a:lstStyle/>
          <a:p>
            <a:pPr algn="l"/>
            <a:r>
              <a:rPr lang="en-US" sz="1400" b="1" dirty="0">
                <a:solidFill>
                  <a:srgbClr val="0B7F86"/>
                </a:solidFill>
                <a:latin typeface="Aptos"/>
              </a:rPr>
              <a:t>Research evidence</a:t>
            </a:r>
          </a:p>
        </p:txBody>
      </p:sp>
      <p:sp>
        <p:nvSpPr>
          <p:cNvPr id="38" name="TextBox 37">
            <a:extLst>
              <a:ext uri="{FF2B5EF4-FFF2-40B4-BE49-F238E27FC236}">
                <a16:creationId xmlns:a16="http://schemas.microsoft.com/office/drawing/2014/main" id="{7376E1A4-EC5B-4D2A-8BDB-3615B88470D4}"/>
              </a:ext>
            </a:extLst>
          </p:cNvPr>
          <p:cNvSpPr txBox="1"/>
          <p:nvPr/>
        </p:nvSpPr>
        <p:spPr>
          <a:xfrm>
            <a:off x="6604000" y="1676400"/>
            <a:ext cx="4318000" cy="304800"/>
          </a:xfrm>
          <a:prstGeom prst="rect">
            <a:avLst/>
          </a:prstGeom>
          <a:noFill/>
        </p:spPr>
        <p:txBody>
          <a:bodyPr vertOverflow="overflow" vert="horz" wrap="square" rtlCol="0" anchor="ctr" anchorCtr="0">
            <a:noAutofit/>
          </a:bodyPr>
          <a:lstStyle/>
          <a:p>
            <a:pPr algn="l"/>
            <a:r>
              <a:rPr lang="en-US" sz="1400" b="1" dirty="0" err="1">
                <a:solidFill>
                  <a:srgbClr val="0B7F86"/>
                </a:solidFill>
                <a:latin typeface="Aptos"/>
              </a:rPr>
              <a:t>FixProof</a:t>
            </a:r>
            <a:r>
              <a:rPr lang="en-US" sz="1400" b="1" dirty="0">
                <a:solidFill>
                  <a:srgbClr val="0B7F86"/>
                </a:solidFill>
                <a:latin typeface="Aptos"/>
              </a:rPr>
              <a:t> adaptation</a:t>
            </a:r>
          </a:p>
        </p:txBody>
      </p:sp>
      <p:sp>
        <p:nvSpPr>
          <p:cNvPr id="39" name="Rectangle 38">
            <a:extLst>
              <a:ext uri="{FF2B5EF4-FFF2-40B4-BE49-F238E27FC236}">
                <a16:creationId xmlns:a16="http://schemas.microsoft.com/office/drawing/2014/main" id="{454B2CBD-DA89-4467-B8D8-D5FEEA8602E2}"/>
              </a:ext>
            </a:extLst>
          </p:cNvPr>
          <p:cNvSpPr/>
          <p:nvPr/>
        </p:nvSpPr>
        <p:spPr>
          <a:xfrm>
            <a:off x="736600" y="2159000"/>
            <a:ext cx="10718800" cy="914400"/>
          </a:xfrm>
          <a:prstGeom prst="rect">
            <a:avLst/>
          </a:prstGeom>
          <a:solidFill>
            <a:srgbClr val="EEF3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40" name="TextBox 39">
            <a:extLst>
              <a:ext uri="{FF2B5EF4-FFF2-40B4-BE49-F238E27FC236}">
                <a16:creationId xmlns:a16="http://schemas.microsoft.com/office/drawing/2014/main" id="{F3E886E3-00A6-4C8E-B6AC-BEA9024A9538}"/>
              </a:ext>
            </a:extLst>
          </p:cNvPr>
          <p:cNvSpPr txBox="1"/>
          <p:nvPr/>
        </p:nvSpPr>
        <p:spPr>
          <a:xfrm>
            <a:off x="990600" y="2260600"/>
            <a:ext cx="4699000" cy="304800"/>
          </a:xfrm>
          <a:prstGeom prst="rect">
            <a:avLst/>
          </a:prstGeom>
          <a:noFill/>
        </p:spPr>
        <p:txBody>
          <a:bodyPr vertOverflow="overflow" vert="horz" wrap="square" rtlCol="0" anchor="ctr" anchorCtr="0">
            <a:noAutofit/>
          </a:bodyPr>
          <a:lstStyle/>
          <a:p>
            <a:r>
              <a:rPr lang="en-US" sz="2000" b="1" dirty="0"/>
              <a:t>Generated-code security scenarios</a:t>
            </a:r>
            <a:endParaRPr lang="en-US" sz="1900" b="1" dirty="0">
              <a:solidFill>
                <a:srgbClr val="172033"/>
              </a:solidFill>
              <a:latin typeface="Aptos"/>
            </a:endParaRPr>
          </a:p>
        </p:txBody>
      </p:sp>
      <p:sp>
        <p:nvSpPr>
          <p:cNvPr id="41" name="TextBox 40">
            <a:extLst>
              <a:ext uri="{FF2B5EF4-FFF2-40B4-BE49-F238E27FC236}">
                <a16:creationId xmlns:a16="http://schemas.microsoft.com/office/drawing/2014/main" id="{B9ADB27A-C43E-42B5-8B0E-2B0676A697E4}"/>
              </a:ext>
            </a:extLst>
          </p:cNvPr>
          <p:cNvSpPr txBox="1"/>
          <p:nvPr/>
        </p:nvSpPr>
        <p:spPr>
          <a:xfrm>
            <a:off x="990600" y="2578100"/>
            <a:ext cx="4699000" cy="457200"/>
          </a:xfrm>
          <a:prstGeom prst="rect">
            <a:avLst/>
          </a:prstGeom>
          <a:noFill/>
        </p:spPr>
        <p:txBody>
          <a:bodyPr vertOverflow="overflow" vert="horz" wrap="square" rtlCol="0" anchor="ctr" anchorCtr="0">
            <a:noAutofit/>
          </a:bodyPr>
          <a:lstStyle/>
          <a:p>
            <a:r>
              <a:rPr lang="en-US" sz="1100" dirty="0"/>
              <a:t>Evidence: 89 CWE-based scenarios; 1,689 programs; about 40% vulnerable in that study.</a:t>
            </a:r>
          </a:p>
          <a:p>
            <a:r>
              <a:rPr lang="en-US" sz="1100" u="sng" dirty="0">
                <a:solidFill>
                  <a:srgbClr val="3659E3"/>
                </a:solidFill>
                <a:latin typeface="Aptos"/>
                <a:hlinkClick r:id="rId3"/>
              </a:rPr>
              <a:t>Pearce et al. (2021a) </a:t>
            </a:r>
            <a:endParaRPr lang="en-US" sz="1100" dirty="0">
              <a:solidFill>
                <a:srgbClr val="556070"/>
              </a:solidFill>
              <a:latin typeface="Aptos"/>
            </a:endParaRPr>
          </a:p>
        </p:txBody>
      </p:sp>
      <p:sp>
        <p:nvSpPr>
          <p:cNvPr id="42" name="TextBox 41">
            <a:extLst>
              <a:ext uri="{FF2B5EF4-FFF2-40B4-BE49-F238E27FC236}">
                <a16:creationId xmlns:a16="http://schemas.microsoft.com/office/drawing/2014/main" id="{12E4EC46-A07A-4E62-A85B-C2A54FF290BC}"/>
              </a:ext>
            </a:extLst>
          </p:cNvPr>
          <p:cNvSpPr txBox="1"/>
          <p:nvPr/>
        </p:nvSpPr>
        <p:spPr>
          <a:xfrm>
            <a:off x="5867400" y="2438400"/>
            <a:ext cx="431800" cy="355600"/>
          </a:xfrm>
          <a:prstGeom prst="rect">
            <a:avLst/>
          </a:prstGeom>
          <a:noFill/>
        </p:spPr>
        <p:txBody>
          <a:bodyPr vertOverflow="overflow" vert="horz" wrap="square" rtlCol="0" anchor="ctr" anchorCtr="0">
            <a:noAutofit/>
          </a:bodyPr>
          <a:lstStyle/>
          <a:p>
            <a:pPr algn="l"/>
            <a:r>
              <a:rPr lang="en-US" sz="2200" b="1" dirty="0">
                <a:solidFill>
                  <a:srgbClr val="0B7F86"/>
                </a:solidFill>
                <a:latin typeface="Aptos"/>
              </a:rPr>
              <a:t>→</a:t>
            </a:r>
          </a:p>
        </p:txBody>
      </p:sp>
      <p:sp>
        <p:nvSpPr>
          <p:cNvPr id="43" name="TextBox 42">
            <a:extLst>
              <a:ext uri="{FF2B5EF4-FFF2-40B4-BE49-F238E27FC236}">
                <a16:creationId xmlns:a16="http://schemas.microsoft.com/office/drawing/2014/main" id="{3A4479CA-1868-45DC-B734-07AFD06C5181}"/>
              </a:ext>
            </a:extLst>
          </p:cNvPr>
          <p:cNvSpPr txBox="1"/>
          <p:nvPr/>
        </p:nvSpPr>
        <p:spPr>
          <a:xfrm>
            <a:off x="6604000" y="2260600"/>
            <a:ext cx="4445000" cy="711200"/>
          </a:xfrm>
          <a:prstGeom prst="rect">
            <a:avLst/>
          </a:prstGeom>
          <a:noFill/>
        </p:spPr>
        <p:txBody>
          <a:bodyPr vertOverflow="overflow" vert="horz" wrap="square" rtlCol="0" anchor="ctr" anchorCtr="0">
            <a:noAutofit/>
          </a:bodyPr>
          <a:lstStyle/>
          <a:p>
            <a:pPr algn="l"/>
            <a:r>
              <a:rPr lang="en-US" sz="1900" b="1" dirty="0">
                <a:solidFill>
                  <a:srgbClr val="172033"/>
                </a:solidFill>
                <a:latin typeface="Aptos"/>
              </a:rPr>
              <a:t>Controlled CWE fixtures with repeatable inputs</a:t>
            </a:r>
          </a:p>
        </p:txBody>
      </p:sp>
      <p:sp>
        <p:nvSpPr>
          <p:cNvPr id="44" name="Rectangle 43">
            <a:extLst>
              <a:ext uri="{FF2B5EF4-FFF2-40B4-BE49-F238E27FC236}">
                <a16:creationId xmlns:a16="http://schemas.microsoft.com/office/drawing/2014/main" id="{43ADA8E9-7F45-4CC0-B208-E0043680EAF0}"/>
              </a:ext>
            </a:extLst>
          </p:cNvPr>
          <p:cNvSpPr/>
          <p:nvPr/>
        </p:nvSpPr>
        <p:spPr>
          <a:xfrm>
            <a:off x="736600" y="3175000"/>
            <a:ext cx="10718800" cy="127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TextBox 44">
            <a:extLst>
              <a:ext uri="{FF2B5EF4-FFF2-40B4-BE49-F238E27FC236}">
                <a16:creationId xmlns:a16="http://schemas.microsoft.com/office/drawing/2014/main" id="{F88BFE7E-2959-4FE2-B19C-F9FDD562ADBA}"/>
              </a:ext>
            </a:extLst>
          </p:cNvPr>
          <p:cNvSpPr txBox="1"/>
          <p:nvPr/>
        </p:nvSpPr>
        <p:spPr>
          <a:xfrm>
            <a:off x="990600" y="3276600"/>
            <a:ext cx="4699000" cy="304800"/>
          </a:xfrm>
          <a:prstGeom prst="rect">
            <a:avLst/>
          </a:prstGeom>
          <a:noFill/>
        </p:spPr>
        <p:txBody>
          <a:bodyPr vertOverflow="overflow" vert="horz" wrap="square" rtlCol="0" anchor="ctr" anchorCtr="0">
            <a:noAutofit/>
          </a:bodyPr>
          <a:lstStyle/>
          <a:p>
            <a:r>
              <a:rPr lang="en-US" sz="2000" b="1" dirty="0"/>
              <a:t>Functional correctness remains difficult</a:t>
            </a:r>
            <a:endParaRPr lang="en-US" sz="1900" b="1" dirty="0">
              <a:solidFill>
                <a:srgbClr val="172033"/>
              </a:solidFill>
              <a:latin typeface="Aptos"/>
            </a:endParaRPr>
          </a:p>
        </p:txBody>
      </p:sp>
      <p:sp>
        <p:nvSpPr>
          <p:cNvPr id="46" name="TextBox 45">
            <a:extLst>
              <a:ext uri="{FF2B5EF4-FFF2-40B4-BE49-F238E27FC236}">
                <a16:creationId xmlns:a16="http://schemas.microsoft.com/office/drawing/2014/main" id="{E2094A10-E9F6-4125-8153-FC326CA11ED7}"/>
              </a:ext>
            </a:extLst>
          </p:cNvPr>
          <p:cNvSpPr txBox="1"/>
          <p:nvPr/>
        </p:nvSpPr>
        <p:spPr>
          <a:xfrm>
            <a:off x="990600" y="3581400"/>
            <a:ext cx="4699000" cy="812800"/>
          </a:xfrm>
          <a:prstGeom prst="rect">
            <a:avLst/>
          </a:prstGeom>
          <a:noFill/>
        </p:spPr>
        <p:txBody>
          <a:bodyPr vertOverflow="overflow" vert="horz" wrap="square" rtlCol="0" anchor="ctr" anchorCtr="0">
            <a:noAutofit/>
          </a:bodyPr>
          <a:lstStyle/>
          <a:p>
            <a:endParaRPr lang="en-US" sz="1100" dirty="0"/>
          </a:p>
          <a:p>
            <a:r>
              <a:rPr lang="en-US" sz="1100" dirty="0"/>
              <a:t>Evidence: a qualitative evaluation of the model’s performance over a corpus of historical real-world examples highlights challenges in generating functionally correct code.</a:t>
            </a:r>
          </a:p>
          <a:p>
            <a:r>
              <a:rPr lang="en-US" sz="1100" u="sng" dirty="0">
                <a:solidFill>
                  <a:srgbClr val="3659E3"/>
                </a:solidFill>
                <a:latin typeface="Aptos"/>
                <a:hlinkClick r:id="rId4"/>
              </a:rPr>
              <a:t>Pearce et al. (2021b)</a:t>
            </a:r>
            <a:endParaRPr lang="en-US" sz="1100" dirty="0">
              <a:solidFill>
                <a:srgbClr val="556070"/>
              </a:solidFill>
              <a:latin typeface="Aptos"/>
            </a:endParaRPr>
          </a:p>
        </p:txBody>
      </p:sp>
      <p:sp>
        <p:nvSpPr>
          <p:cNvPr id="47" name="TextBox 46">
            <a:extLst>
              <a:ext uri="{FF2B5EF4-FFF2-40B4-BE49-F238E27FC236}">
                <a16:creationId xmlns:a16="http://schemas.microsoft.com/office/drawing/2014/main" id="{8B34D36A-7215-4EA9-83AB-2AA6C427BF69}"/>
              </a:ext>
            </a:extLst>
          </p:cNvPr>
          <p:cNvSpPr txBox="1"/>
          <p:nvPr/>
        </p:nvSpPr>
        <p:spPr>
          <a:xfrm>
            <a:off x="5867400" y="3632200"/>
            <a:ext cx="431800" cy="355600"/>
          </a:xfrm>
          <a:prstGeom prst="rect">
            <a:avLst/>
          </a:prstGeom>
          <a:noFill/>
        </p:spPr>
        <p:txBody>
          <a:bodyPr vertOverflow="overflow" vert="horz" wrap="square" rtlCol="0" anchor="ctr" anchorCtr="0">
            <a:noAutofit/>
          </a:bodyPr>
          <a:lstStyle/>
          <a:p>
            <a:pPr algn="l"/>
            <a:r>
              <a:rPr lang="en-US" sz="2200" b="1">
                <a:solidFill>
                  <a:srgbClr val="0B7F86"/>
                </a:solidFill>
                <a:latin typeface="Aptos"/>
              </a:rPr>
              <a:t>→</a:t>
            </a:r>
          </a:p>
        </p:txBody>
      </p:sp>
      <p:sp>
        <p:nvSpPr>
          <p:cNvPr id="48" name="TextBox 47">
            <a:extLst>
              <a:ext uri="{FF2B5EF4-FFF2-40B4-BE49-F238E27FC236}">
                <a16:creationId xmlns:a16="http://schemas.microsoft.com/office/drawing/2014/main" id="{4E298EDB-BC86-4F2E-811F-F7FA3EB987F2}"/>
              </a:ext>
            </a:extLst>
          </p:cNvPr>
          <p:cNvSpPr txBox="1"/>
          <p:nvPr/>
        </p:nvSpPr>
        <p:spPr>
          <a:xfrm>
            <a:off x="6604000" y="3276600"/>
            <a:ext cx="4445000" cy="1066800"/>
          </a:xfrm>
          <a:prstGeom prst="rect">
            <a:avLst/>
          </a:prstGeom>
          <a:noFill/>
        </p:spPr>
        <p:txBody>
          <a:bodyPr vertOverflow="overflow" vert="horz" wrap="square" rtlCol="0" anchor="ctr" anchorCtr="0">
            <a:noAutofit/>
          </a:bodyPr>
          <a:lstStyle/>
          <a:p>
            <a:pPr algn="l"/>
            <a:r>
              <a:rPr lang="en-US" sz="1900" b="1">
                <a:solidFill>
                  <a:srgbClr val="172033"/>
                </a:solidFill>
                <a:latin typeface="Aptos"/>
              </a:rPr>
              <a:t>Separate benign-behavior tests</a:t>
            </a:r>
          </a:p>
        </p:txBody>
      </p:sp>
      <p:sp>
        <p:nvSpPr>
          <p:cNvPr id="49" name="Rectangle 48">
            <a:extLst>
              <a:ext uri="{FF2B5EF4-FFF2-40B4-BE49-F238E27FC236}">
                <a16:creationId xmlns:a16="http://schemas.microsoft.com/office/drawing/2014/main" id="{967BB1B5-417D-4089-BEA2-C415B0E1B83B}"/>
              </a:ext>
            </a:extLst>
          </p:cNvPr>
          <p:cNvSpPr/>
          <p:nvPr/>
        </p:nvSpPr>
        <p:spPr>
          <a:xfrm>
            <a:off x="736600" y="4546600"/>
            <a:ext cx="10718800" cy="1117600"/>
          </a:xfrm>
          <a:prstGeom prst="rect">
            <a:avLst/>
          </a:prstGeom>
          <a:solidFill>
            <a:srgbClr val="EEF3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0" name="TextBox 49">
            <a:extLst>
              <a:ext uri="{FF2B5EF4-FFF2-40B4-BE49-F238E27FC236}">
                <a16:creationId xmlns:a16="http://schemas.microsoft.com/office/drawing/2014/main" id="{AF043BDF-8645-4FFD-AE46-E10BFD85C97C}"/>
              </a:ext>
            </a:extLst>
          </p:cNvPr>
          <p:cNvSpPr txBox="1"/>
          <p:nvPr/>
        </p:nvSpPr>
        <p:spPr>
          <a:xfrm>
            <a:off x="990600" y="4648200"/>
            <a:ext cx="4699000" cy="304800"/>
          </a:xfrm>
          <a:prstGeom prst="rect">
            <a:avLst/>
          </a:prstGeom>
          <a:noFill/>
        </p:spPr>
        <p:txBody>
          <a:bodyPr vertOverflow="overflow" vert="horz" wrap="square" rtlCol="0" anchor="ctr" anchorCtr="0">
            <a:noAutofit/>
          </a:bodyPr>
          <a:lstStyle/>
          <a:p>
            <a:pPr algn="l"/>
            <a:r>
              <a:rPr lang="en-US" sz="1900" b="1" dirty="0">
                <a:solidFill>
                  <a:srgbClr val="172033"/>
                </a:solidFill>
                <a:latin typeface="Aptos"/>
              </a:rPr>
              <a:t>External validation feedback</a:t>
            </a:r>
          </a:p>
        </p:txBody>
      </p:sp>
      <p:sp>
        <p:nvSpPr>
          <p:cNvPr id="51" name="TextBox 50">
            <a:extLst>
              <a:ext uri="{FF2B5EF4-FFF2-40B4-BE49-F238E27FC236}">
                <a16:creationId xmlns:a16="http://schemas.microsoft.com/office/drawing/2014/main" id="{50FF2245-5649-4BB8-82C1-A5283EE55039}"/>
              </a:ext>
            </a:extLst>
          </p:cNvPr>
          <p:cNvSpPr txBox="1"/>
          <p:nvPr/>
        </p:nvSpPr>
        <p:spPr>
          <a:xfrm>
            <a:off x="990600" y="4873625"/>
            <a:ext cx="4699000" cy="660400"/>
          </a:xfrm>
          <a:prstGeom prst="rect">
            <a:avLst/>
          </a:prstGeom>
          <a:noFill/>
        </p:spPr>
        <p:txBody>
          <a:bodyPr vertOverflow="overflow" vert="horz" wrap="square" rtlCol="0" anchor="ctr" anchorCtr="0">
            <a:noAutofit/>
          </a:bodyPr>
          <a:lstStyle/>
          <a:p>
            <a:r>
              <a:rPr lang="en-US" sz="1100" dirty="0"/>
              <a:t>Evidence: compiler, sanitizer, and test feedback were used to refine generated patches.</a:t>
            </a:r>
          </a:p>
          <a:p>
            <a:r>
              <a:rPr lang="en-US" sz="1100" u="sng" dirty="0">
                <a:solidFill>
                  <a:srgbClr val="3659E3"/>
                </a:solidFill>
                <a:latin typeface="Aptos"/>
                <a:hlinkClick r:id="rId5"/>
              </a:rPr>
              <a:t>Kulsum et al. (2024)</a:t>
            </a:r>
            <a:endParaRPr lang="en-US" sz="1100" dirty="0">
              <a:solidFill>
                <a:srgbClr val="556070"/>
              </a:solidFill>
              <a:latin typeface="Aptos"/>
            </a:endParaRPr>
          </a:p>
        </p:txBody>
      </p:sp>
      <p:sp>
        <p:nvSpPr>
          <p:cNvPr id="52" name="TextBox 51">
            <a:extLst>
              <a:ext uri="{FF2B5EF4-FFF2-40B4-BE49-F238E27FC236}">
                <a16:creationId xmlns:a16="http://schemas.microsoft.com/office/drawing/2014/main" id="{26C3405A-04C8-48A9-89A7-197110474883}"/>
              </a:ext>
            </a:extLst>
          </p:cNvPr>
          <p:cNvSpPr txBox="1"/>
          <p:nvPr/>
        </p:nvSpPr>
        <p:spPr>
          <a:xfrm>
            <a:off x="5867400" y="4927600"/>
            <a:ext cx="431800" cy="355600"/>
          </a:xfrm>
          <a:prstGeom prst="rect">
            <a:avLst/>
          </a:prstGeom>
          <a:noFill/>
        </p:spPr>
        <p:txBody>
          <a:bodyPr vertOverflow="overflow" vert="horz" wrap="square" rtlCol="0" anchor="ctr" anchorCtr="0">
            <a:noAutofit/>
          </a:bodyPr>
          <a:lstStyle/>
          <a:p>
            <a:pPr algn="l"/>
            <a:r>
              <a:rPr lang="en-US" sz="2200" b="1">
                <a:solidFill>
                  <a:srgbClr val="0B7F86"/>
                </a:solidFill>
                <a:latin typeface="Aptos"/>
              </a:rPr>
              <a:t>→</a:t>
            </a:r>
          </a:p>
        </p:txBody>
      </p:sp>
      <p:sp>
        <p:nvSpPr>
          <p:cNvPr id="53" name="TextBox 52">
            <a:extLst>
              <a:ext uri="{FF2B5EF4-FFF2-40B4-BE49-F238E27FC236}">
                <a16:creationId xmlns:a16="http://schemas.microsoft.com/office/drawing/2014/main" id="{378E6BD1-EAA4-4E6D-9F9F-7FC45C707404}"/>
              </a:ext>
            </a:extLst>
          </p:cNvPr>
          <p:cNvSpPr txBox="1"/>
          <p:nvPr/>
        </p:nvSpPr>
        <p:spPr>
          <a:xfrm>
            <a:off x="6604000" y="4648200"/>
            <a:ext cx="4445000" cy="914400"/>
          </a:xfrm>
          <a:prstGeom prst="rect">
            <a:avLst/>
          </a:prstGeom>
          <a:noFill/>
        </p:spPr>
        <p:txBody>
          <a:bodyPr vertOverflow="overflow" vert="horz" wrap="square" rtlCol="0" anchor="ctr" anchorCtr="0">
            <a:noAutofit/>
          </a:bodyPr>
          <a:lstStyle/>
          <a:p>
            <a:pPr algn="l"/>
            <a:r>
              <a:rPr lang="en-US" sz="1900" b="1">
                <a:solidFill>
                  <a:srgbClr val="172033"/>
                </a:solidFill>
                <a:latin typeface="Aptos"/>
              </a:rPr>
              <a:t>One bounded repair retry</a:t>
            </a:r>
          </a:p>
        </p:txBody>
      </p:sp>
      <p:sp>
        <p:nvSpPr>
          <p:cNvPr id="54" name="Rectangle 53">
            <a:extLst>
              <a:ext uri="{FF2B5EF4-FFF2-40B4-BE49-F238E27FC236}">
                <a16:creationId xmlns:a16="http://schemas.microsoft.com/office/drawing/2014/main" id="{F785AC6C-D97C-4AAC-864E-FA98F4B164C1}"/>
              </a:ext>
            </a:extLst>
          </p:cNvPr>
          <p:cNvSpPr/>
          <p:nvPr/>
        </p:nvSpPr>
        <p:spPr>
          <a:xfrm>
            <a:off x="736600" y="5765800"/>
            <a:ext cx="10718800" cy="431800"/>
          </a:xfrm>
          <a:prstGeom prst="rect">
            <a:avLst/>
          </a:prstGeom>
          <a:solidFill>
            <a:srgbClr val="E9F5F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5" name="TextBox 54">
            <a:extLst>
              <a:ext uri="{FF2B5EF4-FFF2-40B4-BE49-F238E27FC236}">
                <a16:creationId xmlns:a16="http://schemas.microsoft.com/office/drawing/2014/main" id="{F89181ED-C622-4147-B587-A0F17F983E02}"/>
              </a:ext>
            </a:extLst>
          </p:cNvPr>
          <p:cNvSpPr txBox="1"/>
          <p:nvPr/>
        </p:nvSpPr>
        <p:spPr>
          <a:xfrm>
            <a:off x="914400" y="5829300"/>
            <a:ext cx="10363200" cy="304800"/>
          </a:xfrm>
          <a:prstGeom prst="rect">
            <a:avLst/>
          </a:prstGeom>
          <a:noFill/>
        </p:spPr>
        <p:txBody>
          <a:bodyPr vertOverflow="overflow" vert="horz" wrap="square" rtlCol="0" anchor="ctr" anchorCtr="0">
            <a:noAutofit/>
          </a:bodyPr>
          <a:lstStyle/>
          <a:p>
            <a:r>
              <a:rPr lang="en-US" sz="1400" dirty="0"/>
              <a:t>Claim boundary: Research motivates these design choices; it does not prove </a:t>
            </a:r>
            <a:r>
              <a:rPr lang="en-US" sz="1400" dirty="0" err="1"/>
              <a:t>FixProof’s</a:t>
            </a:r>
            <a:r>
              <a:rPr lang="en-US" sz="1400" dirty="0"/>
              <a:t> effectiveness or superiority.</a:t>
            </a:r>
            <a:endParaRPr lang="en-US" sz="1300" b="1" dirty="0">
              <a:solidFill>
                <a:srgbClr val="172033"/>
              </a:solidFill>
              <a:latin typeface="Aptos"/>
            </a:endParaRPr>
          </a:p>
        </p:txBody>
      </p:sp>
      <p:sp>
        <p:nvSpPr>
          <p:cNvPr id="56" name="Rectangle 55">
            <a:extLst>
              <a:ext uri="{FF2B5EF4-FFF2-40B4-BE49-F238E27FC236}">
                <a16:creationId xmlns:a16="http://schemas.microsoft.com/office/drawing/2014/main" id="{4365F4ED-FA88-4026-86CB-461A4C2F9922}"/>
              </a:ext>
            </a:extLst>
          </p:cNvPr>
          <p:cNvSpPr/>
          <p:nvPr/>
        </p:nvSpPr>
        <p:spPr>
          <a:xfrm>
            <a:off x="736600" y="6350000"/>
            <a:ext cx="10718800" cy="12700"/>
          </a:xfrm>
          <a:prstGeom prst="rect">
            <a:avLst/>
          </a:prstGeom>
          <a:solidFill>
            <a:srgbClr val="D7DE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7" name="TextBox 56">
            <a:extLst>
              <a:ext uri="{FF2B5EF4-FFF2-40B4-BE49-F238E27FC236}">
                <a16:creationId xmlns:a16="http://schemas.microsoft.com/office/drawing/2014/main" id="{9237AB96-8C60-4D46-8531-E044559DB3C3}"/>
              </a:ext>
            </a:extLst>
          </p:cNvPr>
          <p:cNvSpPr txBox="1"/>
          <p:nvPr/>
        </p:nvSpPr>
        <p:spPr>
          <a:xfrm>
            <a:off x="736600" y="6451600"/>
            <a:ext cx="10718800" cy="203200"/>
          </a:xfrm>
          <a:prstGeom prst="rect">
            <a:avLst/>
          </a:prstGeom>
          <a:noFill/>
        </p:spPr>
        <p:txBody>
          <a:bodyPr vertOverflow="overflow" vert="horz" wrap="square" rtlCol="0" anchor="ctr" anchorCtr="0">
            <a:noAutofit/>
          </a:bodyPr>
          <a:lstStyle/>
          <a:p>
            <a:pPr algn="l"/>
            <a:r>
              <a:rPr lang="en-US" sz="900" dirty="0">
                <a:solidFill>
                  <a:srgbClr val="556070"/>
                </a:solidFill>
                <a:latin typeface="Aptos"/>
              </a:rPr>
              <a:t>Full research URLs remain in the speaker notes and accompanying materials</a:t>
            </a:r>
          </a:p>
        </p:txBody>
      </p:sp>
    </p:spTree>
    <p:extLst>
      <p:ext uri="{BB962C8B-B14F-4D97-AF65-F5344CB8AC3E}">
        <p14:creationId xmlns:p14="http://schemas.microsoft.com/office/powerpoint/2010/main" val="1308754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9BEAEAF8-901D-44C0-ABC0-80DFA0E5530F}"/>
              </a:ext>
            </a:extLst>
          </p:cNvPr>
          <p:cNvSpPr/>
          <p:nvPr/>
        </p:nvSpPr>
        <p:spPr>
          <a:xfrm>
            <a:off x="0" y="0"/>
            <a:ext cx="12192000" cy="6858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3" name="Rectangle 42">
            <a:extLst>
              <a:ext uri="{FF2B5EF4-FFF2-40B4-BE49-F238E27FC236}">
                <a16:creationId xmlns:a16="http://schemas.microsoft.com/office/drawing/2014/main" id="{E442168A-83ED-4E5E-A3C4-58976C6FD5DA}"/>
              </a:ext>
            </a:extLst>
          </p:cNvPr>
          <p:cNvSpPr/>
          <p:nvPr/>
        </p:nvSpPr>
        <p:spPr>
          <a:xfrm>
            <a:off x="0" y="0"/>
            <a:ext cx="12192000" cy="101600"/>
          </a:xfrm>
          <a:prstGeom prst="rect">
            <a:avLst/>
          </a:prstGeom>
          <a:solidFill>
            <a:srgbClr val="0B7F8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4" name="TextBox 43">
            <a:extLst>
              <a:ext uri="{FF2B5EF4-FFF2-40B4-BE49-F238E27FC236}">
                <a16:creationId xmlns:a16="http://schemas.microsoft.com/office/drawing/2014/main" id="{40644172-187A-4EDF-B2A5-506B94F5ABFF}"/>
              </a:ext>
            </a:extLst>
          </p:cNvPr>
          <p:cNvSpPr txBox="1"/>
          <p:nvPr/>
        </p:nvSpPr>
        <p:spPr>
          <a:xfrm>
            <a:off x="736600" y="533400"/>
            <a:ext cx="10414000" cy="660400"/>
          </a:xfrm>
          <a:prstGeom prst="rect">
            <a:avLst/>
          </a:prstGeom>
          <a:noFill/>
        </p:spPr>
        <p:txBody>
          <a:bodyPr vertOverflow="overflow" vert="horz" wrap="square" rtlCol="0" anchor="ctr" anchorCtr="0">
            <a:noAutofit/>
          </a:bodyPr>
          <a:lstStyle/>
          <a:p>
            <a:r>
              <a:rPr lang="en-US" sz="3200" b="1" dirty="0"/>
              <a:t>How </a:t>
            </a:r>
            <a:r>
              <a:rPr lang="en-US" sz="3200" b="1" dirty="0" err="1"/>
              <a:t>FixProof</a:t>
            </a:r>
            <a:r>
              <a:rPr lang="en-US" sz="3200" b="1" dirty="0"/>
              <a:t> evaluates a candidate repair</a:t>
            </a:r>
            <a:endParaRPr lang="en-US" sz="3200" dirty="0"/>
          </a:p>
        </p:txBody>
      </p:sp>
      <p:sp>
        <p:nvSpPr>
          <p:cNvPr id="45" name="Rectangle 44">
            <a:extLst>
              <a:ext uri="{FF2B5EF4-FFF2-40B4-BE49-F238E27FC236}">
                <a16:creationId xmlns:a16="http://schemas.microsoft.com/office/drawing/2014/main" id="{7F8A6626-ABFE-4D59-AECB-61DDFF717341}"/>
              </a:ext>
            </a:extLst>
          </p:cNvPr>
          <p:cNvSpPr/>
          <p:nvPr/>
        </p:nvSpPr>
        <p:spPr>
          <a:xfrm>
            <a:off x="736600" y="1371600"/>
            <a:ext cx="10718800" cy="19050"/>
          </a:xfrm>
          <a:prstGeom prst="rect">
            <a:avLst/>
          </a:prstGeom>
          <a:solidFill>
            <a:srgbClr val="D7DE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6" name="TextBox 45">
            <a:extLst>
              <a:ext uri="{FF2B5EF4-FFF2-40B4-BE49-F238E27FC236}">
                <a16:creationId xmlns:a16="http://schemas.microsoft.com/office/drawing/2014/main" id="{6FE9A188-88D2-43F6-92BE-9C79A79FBA4C}"/>
              </a:ext>
            </a:extLst>
          </p:cNvPr>
          <p:cNvSpPr txBox="1"/>
          <p:nvPr/>
        </p:nvSpPr>
        <p:spPr>
          <a:xfrm>
            <a:off x="11125200" y="584200"/>
            <a:ext cx="330200" cy="355600"/>
          </a:xfrm>
          <a:prstGeom prst="rect">
            <a:avLst/>
          </a:prstGeom>
          <a:noFill/>
        </p:spPr>
        <p:txBody>
          <a:bodyPr vertOverflow="overflow" vert="horz" wrap="square" rtlCol="0" anchor="ctr" anchorCtr="0">
            <a:noAutofit/>
          </a:bodyPr>
          <a:lstStyle/>
          <a:p>
            <a:pPr algn="l"/>
            <a:r>
              <a:rPr lang="en-US" sz="1200" b="1">
                <a:solidFill>
                  <a:srgbClr val="556070"/>
                </a:solidFill>
                <a:latin typeface="Aptos"/>
              </a:rPr>
              <a:t>4</a:t>
            </a:r>
          </a:p>
        </p:txBody>
      </p:sp>
      <p:sp>
        <p:nvSpPr>
          <p:cNvPr id="47" name="Rectangle 46">
            <a:extLst>
              <a:ext uri="{FF2B5EF4-FFF2-40B4-BE49-F238E27FC236}">
                <a16:creationId xmlns:a16="http://schemas.microsoft.com/office/drawing/2014/main" id="{8317253E-A913-4205-835E-9EAAED4D0ED6}"/>
              </a:ext>
            </a:extLst>
          </p:cNvPr>
          <p:cNvSpPr/>
          <p:nvPr/>
        </p:nvSpPr>
        <p:spPr>
          <a:xfrm>
            <a:off x="736600" y="1955800"/>
            <a:ext cx="2413000" cy="2717800"/>
          </a:xfrm>
          <a:prstGeom prst="rect">
            <a:avLst/>
          </a:prstGeom>
          <a:solidFill>
            <a:srgbClr val="EEF3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8" name="Rectangle 47">
            <a:extLst>
              <a:ext uri="{FF2B5EF4-FFF2-40B4-BE49-F238E27FC236}">
                <a16:creationId xmlns:a16="http://schemas.microsoft.com/office/drawing/2014/main" id="{FCFC995D-1481-4844-8E21-BC9A8C05E909}"/>
              </a:ext>
            </a:extLst>
          </p:cNvPr>
          <p:cNvSpPr/>
          <p:nvPr/>
        </p:nvSpPr>
        <p:spPr>
          <a:xfrm>
            <a:off x="736600" y="1955800"/>
            <a:ext cx="2413000" cy="101600"/>
          </a:xfrm>
          <a:prstGeom prst="rect">
            <a:avLst/>
          </a:prstGeom>
          <a:solidFill>
            <a:srgbClr val="0B7F8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9" name="TextBox 48">
            <a:extLst>
              <a:ext uri="{FF2B5EF4-FFF2-40B4-BE49-F238E27FC236}">
                <a16:creationId xmlns:a16="http://schemas.microsoft.com/office/drawing/2014/main" id="{E8BE0327-3CD1-47BE-A6C6-1625C1A7A2DB}"/>
              </a:ext>
            </a:extLst>
          </p:cNvPr>
          <p:cNvSpPr txBox="1"/>
          <p:nvPr/>
        </p:nvSpPr>
        <p:spPr>
          <a:xfrm>
            <a:off x="939800" y="2235200"/>
            <a:ext cx="431800" cy="355600"/>
          </a:xfrm>
          <a:prstGeom prst="rect">
            <a:avLst/>
          </a:prstGeom>
          <a:noFill/>
        </p:spPr>
        <p:txBody>
          <a:bodyPr vertOverflow="overflow" vert="horz" wrap="square" rtlCol="0" anchor="t" anchorCtr="0">
            <a:noAutofit/>
          </a:bodyPr>
          <a:lstStyle/>
          <a:p>
            <a:pPr algn="l"/>
            <a:r>
              <a:rPr lang="en-US" b="1">
                <a:solidFill>
                  <a:srgbClr val="00848A"/>
                </a:solidFill>
                <a:latin typeface="Aptos"/>
              </a:rPr>
              <a:t>1</a:t>
            </a:r>
          </a:p>
        </p:txBody>
      </p:sp>
      <p:sp>
        <p:nvSpPr>
          <p:cNvPr id="50" name="TextBox 49">
            <a:extLst>
              <a:ext uri="{FF2B5EF4-FFF2-40B4-BE49-F238E27FC236}">
                <a16:creationId xmlns:a16="http://schemas.microsoft.com/office/drawing/2014/main" id="{677FCD50-A594-4C3B-B73A-81807076C675}"/>
              </a:ext>
            </a:extLst>
          </p:cNvPr>
          <p:cNvSpPr txBox="1"/>
          <p:nvPr/>
        </p:nvSpPr>
        <p:spPr>
          <a:xfrm>
            <a:off x="939800" y="2768600"/>
            <a:ext cx="2006600" cy="533400"/>
          </a:xfrm>
          <a:prstGeom prst="rect">
            <a:avLst/>
          </a:prstGeom>
          <a:noFill/>
        </p:spPr>
        <p:txBody>
          <a:bodyPr vertOverflow="overflow" vert="horz" wrap="square" rtlCol="0" anchor="t" anchorCtr="0">
            <a:noAutofit/>
          </a:bodyPr>
          <a:lstStyle/>
          <a:p>
            <a:pPr algn="l"/>
            <a:r>
              <a:rPr lang="en-US" sz="1600" b="1">
                <a:solidFill>
                  <a:srgbClr val="172033"/>
                </a:solidFill>
                <a:latin typeface="Aptos"/>
              </a:rPr>
              <a:t>Establish baseline</a:t>
            </a:r>
          </a:p>
        </p:txBody>
      </p:sp>
      <p:sp>
        <p:nvSpPr>
          <p:cNvPr id="51" name="TextBox 50">
            <a:extLst>
              <a:ext uri="{FF2B5EF4-FFF2-40B4-BE49-F238E27FC236}">
                <a16:creationId xmlns:a16="http://schemas.microsoft.com/office/drawing/2014/main" id="{81DA95AB-0753-41CB-B36C-F6160D24FE23}"/>
              </a:ext>
            </a:extLst>
          </p:cNvPr>
          <p:cNvSpPr txBox="1"/>
          <p:nvPr/>
        </p:nvSpPr>
        <p:spPr>
          <a:xfrm>
            <a:off x="939800" y="3403600"/>
            <a:ext cx="2006600" cy="1066800"/>
          </a:xfrm>
          <a:prstGeom prst="rect">
            <a:avLst/>
          </a:prstGeom>
          <a:noFill/>
        </p:spPr>
        <p:txBody>
          <a:bodyPr vertOverflow="overflow" vert="horz" wrap="square" rtlCol="0" anchor="t" anchorCtr="0">
            <a:noAutofit/>
          </a:bodyPr>
          <a:lstStyle/>
          <a:p>
            <a:r>
              <a:rPr lang="en-US" sz="1450">
                <a:solidFill>
                  <a:srgbClr val="172033"/>
                </a:solidFill>
                <a:latin typeface="Aptos"/>
              </a:rPr>
              <a:t>Run the fixed attack, normal-use controls, and functional tests.</a:t>
            </a:r>
            <a:endParaRPr lang="en-US" sz="1450" dirty="0">
              <a:solidFill>
                <a:srgbClr val="172033"/>
              </a:solidFill>
              <a:latin typeface="Aptos"/>
            </a:endParaRPr>
          </a:p>
        </p:txBody>
      </p:sp>
      <p:sp>
        <p:nvSpPr>
          <p:cNvPr id="52" name="TextBox 51">
            <a:extLst>
              <a:ext uri="{FF2B5EF4-FFF2-40B4-BE49-F238E27FC236}">
                <a16:creationId xmlns:a16="http://schemas.microsoft.com/office/drawing/2014/main" id="{956354CF-6CC5-492C-B2E1-EF3574AA5793}"/>
              </a:ext>
            </a:extLst>
          </p:cNvPr>
          <p:cNvSpPr txBox="1"/>
          <p:nvPr/>
        </p:nvSpPr>
        <p:spPr>
          <a:xfrm>
            <a:off x="3149600" y="2870200"/>
            <a:ext cx="330200" cy="431800"/>
          </a:xfrm>
          <a:prstGeom prst="rect">
            <a:avLst/>
          </a:prstGeom>
          <a:noFill/>
        </p:spPr>
        <p:txBody>
          <a:bodyPr vertOverflow="overflow" vert="horz" wrap="square" rtlCol="0" anchor="ctr" anchorCtr="0">
            <a:noAutofit/>
          </a:bodyPr>
          <a:lstStyle/>
          <a:p>
            <a:pPr algn="l"/>
            <a:r>
              <a:rPr lang="en-US" sz="2000" b="1">
                <a:solidFill>
                  <a:srgbClr val="00848A"/>
                </a:solidFill>
                <a:latin typeface="Aptos"/>
              </a:rPr>
              <a:t>→</a:t>
            </a:r>
          </a:p>
        </p:txBody>
      </p:sp>
      <p:sp>
        <p:nvSpPr>
          <p:cNvPr id="53" name="Rectangle 52">
            <a:extLst>
              <a:ext uri="{FF2B5EF4-FFF2-40B4-BE49-F238E27FC236}">
                <a16:creationId xmlns:a16="http://schemas.microsoft.com/office/drawing/2014/main" id="{9DFE6687-ABF5-4CEC-B78E-DA6003432E92}"/>
              </a:ext>
            </a:extLst>
          </p:cNvPr>
          <p:cNvSpPr/>
          <p:nvPr/>
        </p:nvSpPr>
        <p:spPr>
          <a:xfrm>
            <a:off x="3479800" y="1955800"/>
            <a:ext cx="2413000" cy="2717800"/>
          </a:xfrm>
          <a:prstGeom prst="rect">
            <a:avLst/>
          </a:prstGeom>
          <a:solidFill>
            <a:srgbClr val="E9F5F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4" name="Rectangle 53">
            <a:extLst>
              <a:ext uri="{FF2B5EF4-FFF2-40B4-BE49-F238E27FC236}">
                <a16:creationId xmlns:a16="http://schemas.microsoft.com/office/drawing/2014/main" id="{1ADFCCD0-1CA1-483E-A4DC-EF002D498516}"/>
              </a:ext>
            </a:extLst>
          </p:cNvPr>
          <p:cNvSpPr/>
          <p:nvPr/>
        </p:nvSpPr>
        <p:spPr>
          <a:xfrm>
            <a:off x="3479800" y="1955800"/>
            <a:ext cx="2413000" cy="101600"/>
          </a:xfrm>
          <a:prstGeom prst="rect">
            <a:avLst/>
          </a:prstGeom>
          <a:solidFill>
            <a:srgbClr val="0B7F8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5" name="TextBox 54">
            <a:extLst>
              <a:ext uri="{FF2B5EF4-FFF2-40B4-BE49-F238E27FC236}">
                <a16:creationId xmlns:a16="http://schemas.microsoft.com/office/drawing/2014/main" id="{62982A6E-FDF7-4C3E-9965-B7E74414C182}"/>
              </a:ext>
            </a:extLst>
          </p:cNvPr>
          <p:cNvSpPr txBox="1"/>
          <p:nvPr/>
        </p:nvSpPr>
        <p:spPr>
          <a:xfrm>
            <a:off x="3683000" y="2235200"/>
            <a:ext cx="431800" cy="355600"/>
          </a:xfrm>
          <a:prstGeom prst="rect">
            <a:avLst/>
          </a:prstGeom>
          <a:noFill/>
        </p:spPr>
        <p:txBody>
          <a:bodyPr vertOverflow="overflow" vert="horz" wrap="square" rtlCol="0" anchor="t" anchorCtr="0">
            <a:noAutofit/>
          </a:bodyPr>
          <a:lstStyle/>
          <a:p>
            <a:pPr algn="l"/>
            <a:r>
              <a:rPr lang="en-US" b="1">
                <a:solidFill>
                  <a:srgbClr val="00848A"/>
                </a:solidFill>
                <a:latin typeface="Aptos"/>
              </a:rPr>
              <a:t>2</a:t>
            </a:r>
          </a:p>
        </p:txBody>
      </p:sp>
      <p:sp>
        <p:nvSpPr>
          <p:cNvPr id="56" name="TextBox 55">
            <a:extLst>
              <a:ext uri="{FF2B5EF4-FFF2-40B4-BE49-F238E27FC236}">
                <a16:creationId xmlns:a16="http://schemas.microsoft.com/office/drawing/2014/main" id="{D2EBF7D4-D629-4FBA-BB63-1BB65E9C0581}"/>
              </a:ext>
            </a:extLst>
          </p:cNvPr>
          <p:cNvSpPr txBox="1"/>
          <p:nvPr/>
        </p:nvSpPr>
        <p:spPr>
          <a:xfrm>
            <a:off x="3683000" y="2768600"/>
            <a:ext cx="2006600" cy="533400"/>
          </a:xfrm>
          <a:prstGeom prst="rect">
            <a:avLst/>
          </a:prstGeom>
          <a:noFill/>
        </p:spPr>
        <p:txBody>
          <a:bodyPr vertOverflow="overflow" vert="horz" wrap="square" rtlCol="0" anchor="t" anchorCtr="0">
            <a:noAutofit/>
          </a:bodyPr>
          <a:lstStyle/>
          <a:p>
            <a:pPr algn="l"/>
            <a:r>
              <a:rPr lang="en-US" sz="1600" b="1">
                <a:solidFill>
                  <a:srgbClr val="172033"/>
                </a:solidFill>
                <a:latin typeface="Aptos"/>
              </a:rPr>
              <a:t>Generate candidate</a:t>
            </a:r>
          </a:p>
        </p:txBody>
      </p:sp>
      <p:sp>
        <p:nvSpPr>
          <p:cNvPr id="57" name="TextBox 56">
            <a:extLst>
              <a:ext uri="{FF2B5EF4-FFF2-40B4-BE49-F238E27FC236}">
                <a16:creationId xmlns:a16="http://schemas.microsoft.com/office/drawing/2014/main" id="{83A277FB-ECA1-450D-A5C2-A7076B52503D}"/>
              </a:ext>
            </a:extLst>
          </p:cNvPr>
          <p:cNvSpPr txBox="1"/>
          <p:nvPr/>
        </p:nvSpPr>
        <p:spPr>
          <a:xfrm>
            <a:off x="3683000" y="3403600"/>
            <a:ext cx="2006600" cy="1066800"/>
          </a:xfrm>
          <a:prstGeom prst="rect">
            <a:avLst/>
          </a:prstGeom>
          <a:noFill/>
        </p:spPr>
        <p:txBody>
          <a:bodyPr vertOverflow="overflow" vert="horz" wrap="square" rtlCol="0" anchor="t" anchorCtr="0">
            <a:noAutofit/>
          </a:bodyPr>
          <a:lstStyle/>
          <a:p>
            <a:r>
              <a:rPr lang="en-US" sz="1450" dirty="0">
                <a:solidFill>
                  <a:srgbClr val="172033"/>
                </a:solidFill>
                <a:latin typeface="Aptos"/>
              </a:rPr>
              <a:t>Give the model one finding and focused context. Apply its candidate only in a copied workspace.</a:t>
            </a:r>
          </a:p>
        </p:txBody>
      </p:sp>
      <p:sp>
        <p:nvSpPr>
          <p:cNvPr id="58" name="TextBox 57">
            <a:extLst>
              <a:ext uri="{FF2B5EF4-FFF2-40B4-BE49-F238E27FC236}">
                <a16:creationId xmlns:a16="http://schemas.microsoft.com/office/drawing/2014/main" id="{B82081E1-E335-4089-B7D2-055A4D624FCD}"/>
              </a:ext>
            </a:extLst>
          </p:cNvPr>
          <p:cNvSpPr txBox="1"/>
          <p:nvPr/>
        </p:nvSpPr>
        <p:spPr>
          <a:xfrm>
            <a:off x="5892800" y="2870200"/>
            <a:ext cx="330200" cy="431800"/>
          </a:xfrm>
          <a:prstGeom prst="rect">
            <a:avLst/>
          </a:prstGeom>
          <a:noFill/>
        </p:spPr>
        <p:txBody>
          <a:bodyPr vertOverflow="overflow" vert="horz" wrap="square" rtlCol="0" anchor="ctr" anchorCtr="0">
            <a:noAutofit/>
          </a:bodyPr>
          <a:lstStyle/>
          <a:p>
            <a:pPr algn="l"/>
            <a:r>
              <a:rPr lang="en-US" sz="2000" b="1">
                <a:solidFill>
                  <a:srgbClr val="00848A"/>
                </a:solidFill>
                <a:latin typeface="Aptos"/>
              </a:rPr>
              <a:t>→</a:t>
            </a:r>
          </a:p>
        </p:txBody>
      </p:sp>
      <p:sp>
        <p:nvSpPr>
          <p:cNvPr id="59" name="Rectangle 58">
            <a:extLst>
              <a:ext uri="{FF2B5EF4-FFF2-40B4-BE49-F238E27FC236}">
                <a16:creationId xmlns:a16="http://schemas.microsoft.com/office/drawing/2014/main" id="{C11E5F02-ED24-4C16-B2B9-D18B6D777416}"/>
              </a:ext>
            </a:extLst>
          </p:cNvPr>
          <p:cNvSpPr/>
          <p:nvPr/>
        </p:nvSpPr>
        <p:spPr>
          <a:xfrm>
            <a:off x="6223000" y="1955800"/>
            <a:ext cx="2413000" cy="2717800"/>
          </a:xfrm>
          <a:prstGeom prst="rect">
            <a:avLst/>
          </a:prstGeom>
          <a:solidFill>
            <a:srgbClr val="EEF3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0" name="Rectangle 59">
            <a:extLst>
              <a:ext uri="{FF2B5EF4-FFF2-40B4-BE49-F238E27FC236}">
                <a16:creationId xmlns:a16="http://schemas.microsoft.com/office/drawing/2014/main" id="{2D5BB6B3-6591-45D4-9E61-E1085626D184}"/>
              </a:ext>
            </a:extLst>
          </p:cNvPr>
          <p:cNvSpPr/>
          <p:nvPr/>
        </p:nvSpPr>
        <p:spPr>
          <a:xfrm>
            <a:off x="6223000" y="1955800"/>
            <a:ext cx="2413000" cy="101600"/>
          </a:xfrm>
          <a:prstGeom prst="rect">
            <a:avLst/>
          </a:prstGeom>
          <a:solidFill>
            <a:srgbClr val="0B7F8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1" name="TextBox 60">
            <a:extLst>
              <a:ext uri="{FF2B5EF4-FFF2-40B4-BE49-F238E27FC236}">
                <a16:creationId xmlns:a16="http://schemas.microsoft.com/office/drawing/2014/main" id="{E1223121-CC85-40AA-A087-E2B1B90362FE}"/>
              </a:ext>
            </a:extLst>
          </p:cNvPr>
          <p:cNvSpPr txBox="1"/>
          <p:nvPr/>
        </p:nvSpPr>
        <p:spPr>
          <a:xfrm>
            <a:off x="6426200" y="2235200"/>
            <a:ext cx="431800" cy="355600"/>
          </a:xfrm>
          <a:prstGeom prst="rect">
            <a:avLst/>
          </a:prstGeom>
          <a:noFill/>
        </p:spPr>
        <p:txBody>
          <a:bodyPr vertOverflow="overflow" vert="horz" wrap="square" rtlCol="0" anchor="t" anchorCtr="0">
            <a:noAutofit/>
          </a:bodyPr>
          <a:lstStyle/>
          <a:p>
            <a:pPr algn="l"/>
            <a:r>
              <a:rPr lang="en-US" b="1">
                <a:solidFill>
                  <a:srgbClr val="00848A"/>
                </a:solidFill>
                <a:latin typeface="Aptos"/>
              </a:rPr>
              <a:t>3</a:t>
            </a:r>
          </a:p>
        </p:txBody>
      </p:sp>
      <p:sp>
        <p:nvSpPr>
          <p:cNvPr id="62" name="TextBox 61">
            <a:extLst>
              <a:ext uri="{FF2B5EF4-FFF2-40B4-BE49-F238E27FC236}">
                <a16:creationId xmlns:a16="http://schemas.microsoft.com/office/drawing/2014/main" id="{05079D35-3BF2-45E5-9898-EA389A0CC23D}"/>
              </a:ext>
            </a:extLst>
          </p:cNvPr>
          <p:cNvSpPr txBox="1"/>
          <p:nvPr/>
        </p:nvSpPr>
        <p:spPr>
          <a:xfrm>
            <a:off x="6426200" y="2768600"/>
            <a:ext cx="2006600" cy="533400"/>
          </a:xfrm>
          <a:prstGeom prst="rect">
            <a:avLst/>
          </a:prstGeom>
          <a:noFill/>
        </p:spPr>
        <p:txBody>
          <a:bodyPr vertOverflow="overflow" vert="horz" wrap="square" rtlCol="0" anchor="t" anchorCtr="0">
            <a:noAutofit/>
          </a:bodyPr>
          <a:lstStyle/>
          <a:p>
            <a:r>
              <a:rPr lang="en-US" sz="1600" b="1">
                <a:solidFill>
                  <a:srgbClr val="172033"/>
                </a:solidFill>
                <a:latin typeface="Aptos"/>
              </a:rPr>
              <a:t>Validate independently</a:t>
            </a:r>
            <a:endParaRPr lang="en-US" sz="1600" b="1" dirty="0">
              <a:solidFill>
                <a:srgbClr val="172033"/>
              </a:solidFill>
              <a:latin typeface="Aptos"/>
            </a:endParaRPr>
          </a:p>
        </p:txBody>
      </p:sp>
      <p:sp>
        <p:nvSpPr>
          <p:cNvPr id="63" name="TextBox 62">
            <a:extLst>
              <a:ext uri="{FF2B5EF4-FFF2-40B4-BE49-F238E27FC236}">
                <a16:creationId xmlns:a16="http://schemas.microsoft.com/office/drawing/2014/main" id="{9C1F1F6F-29FD-4195-8A3E-1A7BE6A6D206}"/>
              </a:ext>
            </a:extLst>
          </p:cNvPr>
          <p:cNvSpPr txBox="1"/>
          <p:nvPr/>
        </p:nvSpPr>
        <p:spPr>
          <a:xfrm>
            <a:off x="6426200" y="3403600"/>
            <a:ext cx="2006600" cy="1066800"/>
          </a:xfrm>
          <a:prstGeom prst="rect">
            <a:avLst/>
          </a:prstGeom>
          <a:noFill/>
        </p:spPr>
        <p:txBody>
          <a:bodyPr vertOverflow="overflow" vert="horz" wrap="square" rtlCol="0" anchor="t" anchorCtr="0">
            <a:noAutofit/>
          </a:bodyPr>
          <a:lstStyle/>
          <a:p>
            <a:r>
              <a:rPr lang="en-US" sz="1450">
                <a:solidFill>
                  <a:srgbClr val="172033"/>
                </a:solidFill>
                <a:latin typeface="Aptos"/>
              </a:rPr>
              <a:t>Check syntax, rerun SAST, and execute targeted security and functional tests.</a:t>
            </a:r>
            <a:endParaRPr lang="en-US" sz="1450" dirty="0">
              <a:solidFill>
                <a:srgbClr val="172033"/>
              </a:solidFill>
              <a:latin typeface="Aptos"/>
            </a:endParaRPr>
          </a:p>
        </p:txBody>
      </p:sp>
      <p:sp>
        <p:nvSpPr>
          <p:cNvPr id="64" name="TextBox 63">
            <a:extLst>
              <a:ext uri="{FF2B5EF4-FFF2-40B4-BE49-F238E27FC236}">
                <a16:creationId xmlns:a16="http://schemas.microsoft.com/office/drawing/2014/main" id="{BC8A7BB9-E346-4B15-B7D6-323D6A916B3B}"/>
              </a:ext>
            </a:extLst>
          </p:cNvPr>
          <p:cNvSpPr txBox="1"/>
          <p:nvPr/>
        </p:nvSpPr>
        <p:spPr>
          <a:xfrm>
            <a:off x="8636000" y="2870200"/>
            <a:ext cx="330200" cy="431800"/>
          </a:xfrm>
          <a:prstGeom prst="rect">
            <a:avLst/>
          </a:prstGeom>
          <a:noFill/>
        </p:spPr>
        <p:txBody>
          <a:bodyPr vertOverflow="overflow" vert="horz" wrap="square" rtlCol="0" anchor="ctr" anchorCtr="0">
            <a:noAutofit/>
          </a:bodyPr>
          <a:lstStyle/>
          <a:p>
            <a:pPr algn="l"/>
            <a:r>
              <a:rPr lang="en-US" sz="2000" b="1">
                <a:solidFill>
                  <a:srgbClr val="00848A"/>
                </a:solidFill>
                <a:latin typeface="Aptos"/>
              </a:rPr>
              <a:t>→</a:t>
            </a:r>
          </a:p>
        </p:txBody>
      </p:sp>
      <p:sp>
        <p:nvSpPr>
          <p:cNvPr id="65" name="Rectangle 64">
            <a:extLst>
              <a:ext uri="{FF2B5EF4-FFF2-40B4-BE49-F238E27FC236}">
                <a16:creationId xmlns:a16="http://schemas.microsoft.com/office/drawing/2014/main" id="{3B96FAE9-4020-47E5-86ED-386DD4A47EF1}"/>
              </a:ext>
            </a:extLst>
          </p:cNvPr>
          <p:cNvSpPr/>
          <p:nvPr/>
        </p:nvSpPr>
        <p:spPr>
          <a:xfrm>
            <a:off x="8966200" y="1955800"/>
            <a:ext cx="2413000" cy="2717800"/>
          </a:xfrm>
          <a:prstGeom prst="rect">
            <a:avLst/>
          </a:prstGeom>
          <a:solidFill>
            <a:srgbClr val="E9F5F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6" name="Rectangle 65">
            <a:extLst>
              <a:ext uri="{FF2B5EF4-FFF2-40B4-BE49-F238E27FC236}">
                <a16:creationId xmlns:a16="http://schemas.microsoft.com/office/drawing/2014/main" id="{081B9663-E2FC-46C1-8175-46512A47AB66}"/>
              </a:ext>
            </a:extLst>
          </p:cNvPr>
          <p:cNvSpPr/>
          <p:nvPr/>
        </p:nvSpPr>
        <p:spPr>
          <a:xfrm>
            <a:off x="8966200" y="1955800"/>
            <a:ext cx="2413000" cy="101600"/>
          </a:xfrm>
          <a:prstGeom prst="rect">
            <a:avLst/>
          </a:prstGeom>
          <a:solidFill>
            <a:srgbClr val="0B7F8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7" name="TextBox 66">
            <a:extLst>
              <a:ext uri="{FF2B5EF4-FFF2-40B4-BE49-F238E27FC236}">
                <a16:creationId xmlns:a16="http://schemas.microsoft.com/office/drawing/2014/main" id="{DF633B45-FC40-458E-80DA-68D96049E634}"/>
              </a:ext>
            </a:extLst>
          </p:cNvPr>
          <p:cNvSpPr txBox="1"/>
          <p:nvPr/>
        </p:nvSpPr>
        <p:spPr>
          <a:xfrm>
            <a:off x="9169400" y="2235200"/>
            <a:ext cx="431800" cy="355600"/>
          </a:xfrm>
          <a:prstGeom prst="rect">
            <a:avLst/>
          </a:prstGeom>
          <a:noFill/>
        </p:spPr>
        <p:txBody>
          <a:bodyPr vertOverflow="overflow" vert="horz" wrap="square" rtlCol="0" anchor="t" anchorCtr="0">
            <a:noAutofit/>
          </a:bodyPr>
          <a:lstStyle/>
          <a:p>
            <a:pPr algn="l"/>
            <a:r>
              <a:rPr lang="en-US" b="1">
                <a:solidFill>
                  <a:srgbClr val="00848A"/>
                </a:solidFill>
                <a:latin typeface="Aptos"/>
              </a:rPr>
              <a:t>4</a:t>
            </a:r>
          </a:p>
        </p:txBody>
      </p:sp>
      <p:sp>
        <p:nvSpPr>
          <p:cNvPr id="68" name="TextBox 67">
            <a:extLst>
              <a:ext uri="{FF2B5EF4-FFF2-40B4-BE49-F238E27FC236}">
                <a16:creationId xmlns:a16="http://schemas.microsoft.com/office/drawing/2014/main" id="{AB64A365-B0B6-43BF-B2C4-08C38C009AC2}"/>
              </a:ext>
            </a:extLst>
          </p:cNvPr>
          <p:cNvSpPr txBox="1"/>
          <p:nvPr/>
        </p:nvSpPr>
        <p:spPr>
          <a:xfrm>
            <a:off x="9169400" y="2768600"/>
            <a:ext cx="2006600" cy="533400"/>
          </a:xfrm>
          <a:prstGeom prst="rect">
            <a:avLst/>
          </a:prstGeom>
          <a:noFill/>
        </p:spPr>
        <p:txBody>
          <a:bodyPr vertOverflow="overflow" vert="horz" wrap="square" rtlCol="0" anchor="t" anchorCtr="0">
            <a:noAutofit/>
          </a:bodyPr>
          <a:lstStyle/>
          <a:p>
            <a:r>
              <a:rPr lang="en-US" sz="1600" b="1">
                <a:solidFill>
                  <a:srgbClr val="172033"/>
                </a:solidFill>
                <a:latin typeface="Aptos"/>
              </a:rPr>
              <a:t>Route the evidence</a:t>
            </a:r>
            <a:endParaRPr lang="en-US" sz="1600" b="1" dirty="0">
              <a:solidFill>
                <a:srgbClr val="172033"/>
              </a:solidFill>
              <a:latin typeface="Aptos"/>
            </a:endParaRPr>
          </a:p>
        </p:txBody>
      </p:sp>
      <p:sp>
        <p:nvSpPr>
          <p:cNvPr id="69" name="TextBox 68">
            <a:extLst>
              <a:ext uri="{FF2B5EF4-FFF2-40B4-BE49-F238E27FC236}">
                <a16:creationId xmlns:a16="http://schemas.microsoft.com/office/drawing/2014/main" id="{729460C3-0D93-41CC-A29B-26F41CF4D25D}"/>
              </a:ext>
            </a:extLst>
          </p:cNvPr>
          <p:cNvSpPr txBox="1"/>
          <p:nvPr/>
        </p:nvSpPr>
        <p:spPr>
          <a:xfrm>
            <a:off x="9169400" y="3403600"/>
            <a:ext cx="2006600" cy="1066800"/>
          </a:xfrm>
          <a:prstGeom prst="rect">
            <a:avLst/>
          </a:prstGeom>
          <a:noFill/>
        </p:spPr>
        <p:txBody>
          <a:bodyPr vertOverflow="overflow" vert="horz" wrap="square" rtlCol="0" anchor="t" anchorCtr="0">
            <a:noAutofit/>
          </a:bodyPr>
          <a:lstStyle/>
          <a:p>
            <a:r>
              <a:rPr lang="en-US" sz="1450">
                <a:solidFill>
                  <a:srgbClr val="172033"/>
                </a:solidFill>
                <a:latin typeface="Aptos"/>
              </a:rPr>
              <a:t>Reject the candidate, mark it ready for review, or require human adjudication.</a:t>
            </a:r>
            <a:endParaRPr lang="en-US" sz="1450" dirty="0">
              <a:solidFill>
                <a:srgbClr val="172033"/>
              </a:solidFill>
              <a:latin typeface="Aptos"/>
            </a:endParaRPr>
          </a:p>
        </p:txBody>
      </p:sp>
      <p:sp>
        <p:nvSpPr>
          <p:cNvPr id="70" name="Rectangle 69">
            <a:extLst>
              <a:ext uri="{FF2B5EF4-FFF2-40B4-BE49-F238E27FC236}">
                <a16:creationId xmlns:a16="http://schemas.microsoft.com/office/drawing/2014/main" id="{206AF735-211B-498B-9002-8ADB09915524}"/>
              </a:ext>
            </a:extLst>
          </p:cNvPr>
          <p:cNvSpPr/>
          <p:nvPr/>
        </p:nvSpPr>
        <p:spPr>
          <a:xfrm>
            <a:off x="736600" y="4953000"/>
            <a:ext cx="10718800" cy="914400"/>
          </a:xfrm>
          <a:prstGeom prst="rect">
            <a:avLst/>
          </a:prstGeom>
          <a:solidFill>
            <a:srgbClr val="E9F5F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1" name="TextBox 70">
            <a:extLst>
              <a:ext uri="{FF2B5EF4-FFF2-40B4-BE49-F238E27FC236}">
                <a16:creationId xmlns:a16="http://schemas.microsoft.com/office/drawing/2014/main" id="{4EDB1161-BFDD-4669-8ABC-25DDE407127F}"/>
              </a:ext>
            </a:extLst>
          </p:cNvPr>
          <p:cNvSpPr txBox="1"/>
          <p:nvPr/>
        </p:nvSpPr>
        <p:spPr>
          <a:xfrm>
            <a:off x="990600" y="5092700"/>
            <a:ext cx="4699000" cy="304800"/>
          </a:xfrm>
          <a:prstGeom prst="rect">
            <a:avLst/>
          </a:prstGeom>
          <a:noFill/>
        </p:spPr>
        <p:txBody>
          <a:bodyPr vertOverflow="overflow" vert="horz" wrap="square" rtlCol="0" anchor="t" anchorCtr="0">
            <a:noAutofit/>
          </a:bodyPr>
          <a:lstStyle/>
          <a:p>
            <a:pPr algn="l"/>
            <a:r>
              <a:rPr lang="en-US" sz="1600" b="1">
                <a:solidFill>
                  <a:srgbClr val="172033"/>
                </a:solidFill>
                <a:latin typeface="Aptos"/>
              </a:rPr>
              <a:t>The model does not approve its own repair.</a:t>
            </a:r>
          </a:p>
        </p:txBody>
      </p:sp>
      <p:sp>
        <p:nvSpPr>
          <p:cNvPr id="72" name="TextBox 71">
            <a:extLst>
              <a:ext uri="{FF2B5EF4-FFF2-40B4-BE49-F238E27FC236}">
                <a16:creationId xmlns:a16="http://schemas.microsoft.com/office/drawing/2014/main" id="{A803C51A-A34B-43D5-BF5E-DD03DC9B5C3A}"/>
              </a:ext>
            </a:extLst>
          </p:cNvPr>
          <p:cNvSpPr txBox="1"/>
          <p:nvPr/>
        </p:nvSpPr>
        <p:spPr>
          <a:xfrm>
            <a:off x="6070600" y="5054600"/>
            <a:ext cx="5029200" cy="635000"/>
          </a:xfrm>
          <a:prstGeom prst="rect">
            <a:avLst/>
          </a:prstGeom>
          <a:noFill/>
        </p:spPr>
        <p:txBody>
          <a:bodyPr vertOverflow="overflow" vert="horz" wrap="square" rtlCol="0" anchor="t" anchorCtr="0">
            <a:noAutofit/>
          </a:bodyPr>
          <a:lstStyle/>
          <a:p>
            <a:r>
              <a:rPr lang="en-US" sz="1400">
                <a:solidFill>
                  <a:srgbClr val="172033"/>
                </a:solidFill>
                <a:latin typeface="Aptos"/>
              </a:rPr>
              <a:t>Failed checks or new scanner findings trigger rejection. A persistent target finding with passing security and functional checks requires human adjudication.</a:t>
            </a:r>
            <a:endParaRPr lang="en-US" sz="1400" dirty="0">
              <a:solidFill>
                <a:srgbClr val="172033"/>
              </a:solidFill>
              <a:latin typeface="Aptos"/>
            </a:endParaRPr>
          </a:p>
        </p:txBody>
      </p:sp>
      <p:sp>
        <p:nvSpPr>
          <p:cNvPr id="73" name="Rectangle 72">
            <a:extLst>
              <a:ext uri="{FF2B5EF4-FFF2-40B4-BE49-F238E27FC236}">
                <a16:creationId xmlns:a16="http://schemas.microsoft.com/office/drawing/2014/main" id="{88B3DB1B-DB02-4AB0-BB6E-292ED16A53CF}"/>
              </a:ext>
            </a:extLst>
          </p:cNvPr>
          <p:cNvSpPr/>
          <p:nvPr/>
        </p:nvSpPr>
        <p:spPr>
          <a:xfrm>
            <a:off x="736600" y="6350000"/>
            <a:ext cx="10718800" cy="12700"/>
          </a:xfrm>
          <a:prstGeom prst="rect">
            <a:avLst/>
          </a:prstGeom>
          <a:solidFill>
            <a:srgbClr val="D7DE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4" name="TextBox 73">
            <a:extLst>
              <a:ext uri="{FF2B5EF4-FFF2-40B4-BE49-F238E27FC236}">
                <a16:creationId xmlns:a16="http://schemas.microsoft.com/office/drawing/2014/main" id="{603FEECA-6B1F-49AB-861D-0E89E1D3F6D8}"/>
              </a:ext>
            </a:extLst>
          </p:cNvPr>
          <p:cNvSpPr txBox="1"/>
          <p:nvPr/>
        </p:nvSpPr>
        <p:spPr>
          <a:xfrm>
            <a:off x="736600" y="6451600"/>
            <a:ext cx="10718800" cy="203200"/>
          </a:xfrm>
          <a:prstGeom prst="rect">
            <a:avLst/>
          </a:prstGeom>
          <a:noFill/>
        </p:spPr>
        <p:txBody>
          <a:bodyPr vertOverflow="overflow" vert="horz" wrap="square" rtlCol="0" anchor="ctr" anchorCtr="0">
            <a:noAutofit/>
          </a:bodyPr>
          <a:lstStyle/>
          <a:p>
            <a:pPr algn="l"/>
            <a:r>
              <a:rPr lang="en-US" sz="900">
                <a:solidFill>
                  <a:srgbClr val="556070"/>
                </a:solidFill>
                <a:latin typeface="Aptos"/>
              </a:rPr>
              <a:t>Baseline and candidate use the same route-specific attack and control suites</a:t>
            </a:r>
          </a:p>
        </p:txBody>
      </p:sp>
    </p:spTree>
    <p:extLst>
      <p:ext uri="{BB962C8B-B14F-4D97-AF65-F5344CB8AC3E}">
        <p14:creationId xmlns:p14="http://schemas.microsoft.com/office/powerpoint/2010/main" val="710363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5C8E8DB9-5D77-4CE0-A065-CA098CD3B1A1}"/>
              </a:ext>
            </a:extLst>
          </p:cNvPr>
          <p:cNvSpPr/>
          <p:nvPr/>
        </p:nvSpPr>
        <p:spPr>
          <a:xfrm>
            <a:off x="0" y="0"/>
            <a:ext cx="12192000" cy="6858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7" name="Rectangle 56">
            <a:extLst>
              <a:ext uri="{FF2B5EF4-FFF2-40B4-BE49-F238E27FC236}">
                <a16:creationId xmlns:a16="http://schemas.microsoft.com/office/drawing/2014/main" id="{17DEFBFC-E462-4AE1-93C9-A6C28F4A19C8}"/>
              </a:ext>
            </a:extLst>
          </p:cNvPr>
          <p:cNvSpPr/>
          <p:nvPr/>
        </p:nvSpPr>
        <p:spPr>
          <a:xfrm>
            <a:off x="736600" y="3530600"/>
            <a:ext cx="5207000" cy="1955800"/>
          </a:xfrm>
          <a:prstGeom prst="rect">
            <a:avLst/>
          </a:prstGeom>
          <a:solidFill>
            <a:srgbClr val="F3F7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Rectangle 31">
            <a:extLst>
              <a:ext uri="{FF2B5EF4-FFF2-40B4-BE49-F238E27FC236}">
                <a16:creationId xmlns:a16="http://schemas.microsoft.com/office/drawing/2014/main" id="{DCF0C9A2-87B0-4F39-BC6E-F68C6AE5FFA0}"/>
              </a:ext>
            </a:extLst>
          </p:cNvPr>
          <p:cNvSpPr/>
          <p:nvPr/>
        </p:nvSpPr>
        <p:spPr>
          <a:xfrm>
            <a:off x="0" y="0"/>
            <a:ext cx="12192000" cy="101600"/>
          </a:xfrm>
          <a:prstGeom prst="rect">
            <a:avLst/>
          </a:prstGeom>
          <a:solidFill>
            <a:srgbClr val="0B7F8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TextBox 32">
            <a:extLst>
              <a:ext uri="{FF2B5EF4-FFF2-40B4-BE49-F238E27FC236}">
                <a16:creationId xmlns:a16="http://schemas.microsoft.com/office/drawing/2014/main" id="{A4823DBF-8D70-4D1F-A9D0-4CC11F203DD3}"/>
              </a:ext>
            </a:extLst>
          </p:cNvPr>
          <p:cNvSpPr txBox="1"/>
          <p:nvPr/>
        </p:nvSpPr>
        <p:spPr>
          <a:xfrm>
            <a:off x="736600" y="533400"/>
            <a:ext cx="10414000" cy="660400"/>
          </a:xfrm>
          <a:prstGeom prst="rect">
            <a:avLst/>
          </a:prstGeom>
          <a:noFill/>
        </p:spPr>
        <p:txBody>
          <a:bodyPr vertOverflow="overflow" vert="horz" wrap="square" rtlCol="0" anchor="ctr" anchorCtr="0">
            <a:noAutofit/>
          </a:bodyPr>
          <a:lstStyle/>
          <a:p>
            <a:pPr algn="l"/>
            <a:r>
              <a:rPr lang="en-US" sz="3000" b="1">
                <a:solidFill>
                  <a:srgbClr val="172033"/>
                </a:solidFill>
                <a:latin typeface="Aptos"/>
              </a:rPr>
              <a:t>Verified progress — September 13, 2026</a:t>
            </a:r>
          </a:p>
        </p:txBody>
      </p:sp>
      <p:sp>
        <p:nvSpPr>
          <p:cNvPr id="34" name="Rectangle 33">
            <a:extLst>
              <a:ext uri="{FF2B5EF4-FFF2-40B4-BE49-F238E27FC236}">
                <a16:creationId xmlns:a16="http://schemas.microsoft.com/office/drawing/2014/main" id="{72EBC40C-C7E4-4C84-AF2E-D34714D6C513}"/>
              </a:ext>
            </a:extLst>
          </p:cNvPr>
          <p:cNvSpPr/>
          <p:nvPr/>
        </p:nvSpPr>
        <p:spPr>
          <a:xfrm>
            <a:off x="736600" y="1371600"/>
            <a:ext cx="10718800" cy="19050"/>
          </a:xfrm>
          <a:prstGeom prst="rect">
            <a:avLst/>
          </a:prstGeom>
          <a:solidFill>
            <a:srgbClr val="D7DE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TextBox 34">
            <a:extLst>
              <a:ext uri="{FF2B5EF4-FFF2-40B4-BE49-F238E27FC236}">
                <a16:creationId xmlns:a16="http://schemas.microsoft.com/office/drawing/2014/main" id="{7988D6D9-1AF3-4949-84FC-6A3E3723ABBD}"/>
              </a:ext>
            </a:extLst>
          </p:cNvPr>
          <p:cNvSpPr txBox="1"/>
          <p:nvPr/>
        </p:nvSpPr>
        <p:spPr>
          <a:xfrm>
            <a:off x="11125200" y="584200"/>
            <a:ext cx="330200" cy="355600"/>
          </a:xfrm>
          <a:prstGeom prst="rect">
            <a:avLst/>
          </a:prstGeom>
          <a:noFill/>
        </p:spPr>
        <p:txBody>
          <a:bodyPr vertOverflow="overflow" vert="horz" wrap="square" rtlCol="0" anchor="ctr" anchorCtr="0">
            <a:noAutofit/>
          </a:bodyPr>
          <a:lstStyle/>
          <a:p>
            <a:pPr algn="l"/>
            <a:r>
              <a:rPr lang="en-US" sz="1200" b="1">
                <a:solidFill>
                  <a:srgbClr val="556070"/>
                </a:solidFill>
                <a:latin typeface="Aptos"/>
              </a:rPr>
              <a:t>5</a:t>
            </a:r>
          </a:p>
        </p:txBody>
      </p:sp>
      <p:sp>
        <p:nvSpPr>
          <p:cNvPr id="36" name="Rectangle 35">
            <a:extLst>
              <a:ext uri="{FF2B5EF4-FFF2-40B4-BE49-F238E27FC236}">
                <a16:creationId xmlns:a16="http://schemas.microsoft.com/office/drawing/2014/main" id="{BF8CE23C-8B2F-43C8-A5CB-ECABD038A75A}"/>
              </a:ext>
            </a:extLst>
          </p:cNvPr>
          <p:cNvSpPr/>
          <p:nvPr/>
        </p:nvSpPr>
        <p:spPr>
          <a:xfrm>
            <a:off x="736600" y="1828800"/>
            <a:ext cx="2413000" cy="1422400"/>
          </a:xfrm>
          <a:prstGeom prst="rect">
            <a:avLst/>
          </a:prstGeom>
          <a:solidFill>
            <a:srgbClr val="EAF0F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TextBox 36">
            <a:extLst>
              <a:ext uri="{FF2B5EF4-FFF2-40B4-BE49-F238E27FC236}">
                <a16:creationId xmlns:a16="http://schemas.microsoft.com/office/drawing/2014/main" id="{44C1D3AA-256C-43DE-95A6-58D33530D12E}"/>
              </a:ext>
            </a:extLst>
          </p:cNvPr>
          <p:cNvSpPr txBox="1"/>
          <p:nvPr/>
        </p:nvSpPr>
        <p:spPr>
          <a:xfrm>
            <a:off x="990600" y="2082800"/>
            <a:ext cx="1905000" cy="431800"/>
          </a:xfrm>
          <a:prstGeom prst="rect">
            <a:avLst/>
          </a:prstGeom>
          <a:noFill/>
        </p:spPr>
        <p:txBody>
          <a:bodyPr vertOverflow="overflow" vert="horz" wrap="square" rtlCol="0" anchor="t" anchorCtr="0">
            <a:noAutofit/>
          </a:bodyPr>
          <a:lstStyle/>
          <a:p>
            <a:pPr algn="l"/>
            <a:r>
              <a:rPr lang="en-US" sz="2400" b="1">
                <a:solidFill>
                  <a:srgbClr val="00848A"/>
                </a:solidFill>
                <a:latin typeface="Aptos"/>
              </a:rPr>
              <a:t>15</a:t>
            </a:r>
          </a:p>
        </p:txBody>
      </p:sp>
      <p:sp>
        <p:nvSpPr>
          <p:cNvPr id="38" name="TextBox 37">
            <a:extLst>
              <a:ext uri="{FF2B5EF4-FFF2-40B4-BE49-F238E27FC236}">
                <a16:creationId xmlns:a16="http://schemas.microsoft.com/office/drawing/2014/main" id="{8B3F02E4-B3AC-42BB-A829-3EF3AFCA34DB}"/>
              </a:ext>
            </a:extLst>
          </p:cNvPr>
          <p:cNvSpPr txBox="1"/>
          <p:nvPr/>
        </p:nvSpPr>
        <p:spPr>
          <a:xfrm>
            <a:off x="990600" y="2667000"/>
            <a:ext cx="1905000" cy="431800"/>
          </a:xfrm>
          <a:prstGeom prst="rect">
            <a:avLst/>
          </a:prstGeom>
          <a:noFill/>
        </p:spPr>
        <p:txBody>
          <a:bodyPr vertOverflow="overflow" vert="horz" wrap="square" rtlCol="0" anchor="t" anchorCtr="0">
            <a:noAutofit/>
          </a:bodyPr>
          <a:lstStyle/>
          <a:p>
            <a:pPr algn="l"/>
            <a:r>
              <a:rPr lang="en-US" sz="1200" b="1">
                <a:solidFill>
                  <a:srgbClr val="172033"/>
                </a:solidFill>
                <a:latin typeface="Aptos"/>
              </a:rPr>
              <a:t>Initial attempts</a:t>
            </a:r>
            <a:endParaRPr lang="en-US" sz="1200" b="1" dirty="0">
              <a:solidFill>
                <a:srgbClr val="172033"/>
              </a:solidFill>
              <a:latin typeface="Aptos"/>
            </a:endParaRPr>
          </a:p>
        </p:txBody>
      </p:sp>
      <p:sp>
        <p:nvSpPr>
          <p:cNvPr id="39" name="Rectangle 38">
            <a:extLst>
              <a:ext uri="{FF2B5EF4-FFF2-40B4-BE49-F238E27FC236}">
                <a16:creationId xmlns:a16="http://schemas.microsoft.com/office/drawing/2014/main" id="{7D3ACF2C-F730-4555-8405-07CFAFB113D9}"/>
              </a:ext>
            </a:extLst>
          </p:cNvPr>
          <p:cNvSpPr/>
          <p:nvPr/>
        </p:nvSpPr>
        <p:spPr>
          <a:xfrm>
            <a:off x="3479800" y="1828800"/>
            <a:ext cx="2413000" cy="1422400"/>
          </a:xfrm>
          <a:prstGeom prst="rect">
            <a:avLst/>
          </a:prstGeom>
          <a:solidFill>
            <a:srgbClr val="EAF0F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TextBox 39">
            <a:extLst>
              <a:ext uri="{FF2B5EF4-FFF2-40B4-BE49-F238E27FC236}">
                <a16:creationId xmlns:a16="http://schemas.microsoft.com/office/drawing/2014/main" id="{3FC5373F-AEC0-4AEC-9703-6E352911F516}"/>
              </a:ext>
            </a:extLst>
          </p:cNvPr>
          <p:cNvSpPr txBox="1"/>
          <p:nvPr/>
        </p:nvSpPr>
        <p:spPr>
          <a:xfrm>
            <a:off x="3733800" y="2082800"/>
            <a:ext cx="1905000" cy="431800"/>
          </a:xfrm>
          <a:prstGeom prst="rect">
            <a:avLst/>
          </a:prstGeom>
          <a:noFill/>
        </p:spPr>
        <p:txBody>
          <a:bodyPr vertOverflow="overflow" vert="horz" wrap="square" rtlCol="0" anchor="t" anchorCtr="0">
            <a:noAutofit/>
          </a:bodyPr>
          <a:lstStyle/>
          <a:p>
            <a:pPr algn="l"/>
            <a:r>
              <a:rPr lang="en-US" sz="2400" b="1">
                <a:solidFill>
                  <a:srgbClr val="00848A"/>
                </a:solidFill>
                <a:latin typeface="Aptos"/>
              </a:rPr>
              <a:t>5</a:t>
            </a:r>
          </a:p>
        </p:txBody>
      </p:sp>
      <p:sp>
        <p:nvSpPr>
          <p:cNvPr id="41" name="TextBox 40">
            <a:extLst>
              <a:ext uri="{FF2B5EF4-FFF2-40B4-BE49-F238E27FC236}">
                <a16:creationId xmlns:a16="http://schemas.microsoft.com/office/drawing/2014/main" id="{66B7538E-3533-4C2C-96D8-4EA0737CB8A5}"/>
              </a:ext>
            </a:extLst>
          </p:cNvPr>
          <p:cNvSpPr txBox="1"/>
          <p:nvPr/>
        </p:nvSpPr>
        <p:spPr>
          <a:xfrm>
            <a:off x="3733800" y="2667000"/>
            <a:ext cx="1905000" cy="431800"/>
          </a:xfrm>
          <a:prstGeom prst="rect">
            <a:avLst/>
          </a:prstGeom>
          <a:noFill/>
        </p:spPr>
        <p:txBody>
          <a:bodyPr vertOverflow="overflow" vert="horz" wrap="square" rtlCol="0" anchor="t" anchorCtr="0">
            <a:noAutofit/>
          </a:bodyPr>
          <a:lstStyle/>
          <a:p>
            <a:pPr algn="l"/>
            <a:r>
              <a:rPr lang="en-US" sz="1200" b="1">
                <a:solidFill>
                  <a:srgbClr val="172033"/>
                </a:solidFill>
                <a:latin typeface="Aptos"/>
              </a:rPr>
              <a:t>Target SAST findings resolved</a:t>
            </a:r>
            <a:endParaRPr lang="en-US" sz="1200" b="1" dirty="0">
              <a:solidFill>
                <a:srgbClr val="172033"/>
              </a:solidFill>
              <a:latin typeface="Aptos"/>
            </a:endParaRPr>
          </a:p>
        </p:txBody>
      </p:sp>
      <p:sp>
        <p:nvSpPr>
          <p:cNvPr id="42" name="Rectangle 41">
            <a:extLst>
              <a:ext uri="{FF2B5EF4-FFF2-40B4-BE49-F238E27FC236}">
                <a16:creationId xmlns:a16="http://schemas.microsoft.com/office/drawing/2014/main" id="{CE8885FA-9C05-4391-A7F6-448C32EF2F05}"/>
              </a:ext>
            </a:extLst>
          </p:cNvPr>
          <p:cNvSpPr/>
          <p:nvPr/>
        </p:nvSpPr>
        <p:spPr>
          <a:xfrm>
            <a:off x="6223000" y="1828800"/>
            <a:ext cx="2413000" cy="1422400"/>
          </a:xfrm>
          <a:prstGeom prst="rect">
            <a:avLst/>
          </a:prstGeom>
          <a:solidFill>
            <a:srgbClr val="E7F2F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3" name="TextBox 42">
            <a:extLst>
              <a:ext uri="{FF2B5EF4-FFF2-40B4-BE49-F238E27FC236}">
                <a16:creationId xmlns:a16="http://schemas.microsoft.com/office/drawing/2014/main" id="{61CA0E03-18A8-420A-A4ED-0147D14FB8A5}"/>
              </a:ext>
            </a:extLst>
          </p:cNvPr>
          <p:cNvSpPr txBox="1"/>
          <p:nvPr/>
        </p:nvSpPr>
        <p:spPr>
          <a:xfrm>
            <a:off x="6477000" y="2082800"/>
            <a:ext cx="1905000" cy="431800"/>
          </a:xfrm>
          <a:prstGeom prst="rect">
            <a:avLst/>
          </a:prstGeom>
          <a:noFill/>
        </p:spPr>
        <p:txBody>
          <a:bodyPr vertOverflow="overflow" vert="horz" wrap="square" rtlCol="0" anchor="t" anchorCtr="0">
            <a:noAutofit/>
          </a:bodyPr>
          <a:lstStyle/>
          <a:p>
            <a:pPr algn="l"/>
            <a:r>
              <a:rPr lang="en-US" sz="2400" b="1">
                <a:solidFill>
                  <a:srgbClr val="00848A"/>
                </a:solidFill>
                <a:latin typeface="Aptos"/>
              </a:rPr>
              <a:t>10</a:t>
            </a:r>
          </a:p>
        </p:txBody>
      </p:sp>
      <p:sp>
        <p:nvSpPr>
          <p:cNvPr id="44" name="TextBox 43">
            <a:extLst>
              <a:ext uri="{FF2B5EF4-FFF2-40B4-BE49-F238E27FC236}">
                <a16:creationId xmlns:a16="http://schemas.microsoft.com/office/drawing/2014/main" id="{F5CFC826-DC17-4FF6-91B9-30A41E0B6550}"/>
              </a:ext>
            </a:extLst>
          </p:cNvPr>
          <p:cNvSpPr txBox="1"/>
          <p:nvPr/>
        </p:nvSpPr>
        <p:spPr>
          <a:xfrm>
            <a:off x="6477000" y="2667000"/>
            <a:ext cx="1905000" cy="431800"/>
          </a:xfrm>
          <a:prstGeom prst="rect">
            <a:avLst/>
          </a:prstGeom>
          <a:noFill/>
        </p:spPr>
        <p:txBody>
          <a:bodyPr vertOverflow="overflow" vert="horz" wrap="square" rtlCol="0" anchor="t" anchorCtr="0">
            <a:noAutofit/>
          </a:bodyPr>
          <a:lstStyle/>
          <a:p>
            <a:pPr algn="l"/>
            <a:r>
              <a:rPr lang="en-US" sz="1200" b="1">
                <a:solidFill>
                  <a:srgbClr val="172033"/>
                </a:solidFill>
                <a:latin typeface="Aptos"/>
              </a:rPr>
              <a:t>SAST/runtime conflicts reviewed</a:t>
            </a:r>
            <a:endParaRPr lang="en-US" sz="1200" b="1" dirty="0">
              <a:solidFill>
                <a:srgbClr val="172033"/>
              </a:solidFill>
              <a:latin typeface="Aptos"/>
            </a:endParaRPr>
          </a:p>
        </p:txBody>
      </p:sp>
      <p:sp>
        <p:nvSpPr>
          <p:cNvPr id="45" name="Rectangle 44">
            <a:extLst>
              <a:ext uri="{FF2B5EF4-FFF2-40B4-BE49-F238E27FC236}">
                <a16:creationId xmlns:a16="http://schemas.microsoft.com/office/drawing/2014/main" id="{7FC98D51-A78C-4AB9-934A-4D4001C74077}"/>
              </a:ext>
            </a:extLst>
          </p:cNvPr>
          <p:cNvSpPr/>
          <p:nvPr/>
        </p:nvSpPr>
        <p:spPr>
          <a:xfrm>
            <a:off x="8966200" y="1828800"/>
            <a:ext cx="2413000" cy="1422400"/>
          </a:xfrm>
          <a:prstGeom prst="rect">
            <a:avLst/>
          </a:prstGeom>
          <a:solidFill>
            <a:srgbClr val="E7F2F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6" name="TextBox 45">
            <a:extLst>
              <a:ext uri="{FF2B5EF4-FFF2-40B4-BE49-F238E27FC236}">
                <a16:creationId xmlns:a16="http://schemas.microsoft.com/office/drawing/2014/main" id="{384EDAB7-4C1D-4CCE-A943-3C0E50D18C4B}"/>
              </a:ext>
            </a:extLst>
          </p:cNvPr>
          <p:cNvSpPr txBox="1"/>
          <p:nvPr/>
        </p:nvSpPr>
        <p:spPr>
          <a:xfrm>
            <a:off x="9220200" y="2082800"/>
            <a:ext cx="1905000" cy="431800"/>
          </a:xfrm>
          <a:prstGeom prst="rect">
            <a:avLst/>
          </a:prstGeom>
          <a:noFill/>
        </p:spPr>
        <p:txBody>
          <a:bodyPr vertOverflow="overflow" vert="horz" wrap="square" rtlCol="0" anchor="t" anchorCtr="0">
            <a:noAutofit/>
          </a:bodyPr>
          <a:lstStyle/>
          <a:p>
            <a:pPr algn="l"/>
            <a:r>
              <a:rPr lang="en-US" sz="2400" b="1">
                <a:solidFill>
                  <a:srgbClr val="00848A"/>
                </a:solidFill>
                <a:latin typeface="Aptos"/>
              </a:rPr>
              <a:t>7 / 3</a:t>
            </a:r>
            <a:endParaRPr lang="en-US" sz="2400" b="1" dirty="0">
              <a:solidFill>
                <a:srgbClr val="00848A"/>
              </a:solidFill>
              <a:latin typeface="Aptos"/>
            </a:endParaRPr>
          </a:p>
        </p:txBody>
      </p:sp>
      <p:sp>
        <p:nvSpPr>
          <p:cNvPr id="47" name="TextBox 46">
            <a:extLst>
              <a:ext uri="{FF2B5EF4-FFF2-40B4-BE49-F238E27FC236}">
                <a16:creationId xmlns:a16="http://schemas.microsoft.com/office/drawing/2014/main" id="{D471D0AD-F2F7-4A3C-8AA6-F3CBF71FE4E1}"/>
              </a:ext>
            </a:extLst>
          </p:cNvPr>
          <p:cNvSpPr txBox="1"/>
          <p:nvPr/>
        </p:nvSpPr>
        <p:spPr>
          <a:xfrm>
            <a:off x="9220200" y="2667000"/>
            <a:ext cx="1905000" cy="431800"/>
          </a:xfrm>
          <a:prstGeom prst="rect">
            <a:avLst/>
          </a:prstGeom>
          <a:noFill/>
        </p:spPr>
        <p:txBody>
          <a:bodyPr vertOverflow="overflow" vert="horz" wrap="square" rtlCol="0" anchor="t" anchorCtr="0">
            <a:noAutofit/>
          </a:bodyPr>
          <a:lstStyle/>
          <a:p>
            <a:pPr algn="l"/>
            <a:r>
              <a:rPr lang="en-US" sz="1200" b="1">
                <a:solidFill>
                  <a:srgbClr val="172033"/>
                </a:solidFill>
                <a:latin typeface="Aptos"/>
              </a:rPr>
              <a:t>Accept candidate / request more testing</a:t>
            </a:r>
            <a:endParaRPr lang="en-US" sz="1200" b="1" dirty="0">
              <a:solidFill>
                <a:srgbClr val="172033"/>
              </a:solidFill>
              <a:latin typeface="Aptos"/>
            </a:endParaRPr>
          </a:p>
        </p:txBody>
      </p:sp>
      <p:sp>
        <p:nvSpPr>
          <p:cNvPr id="50" name="Rectangle 49">
            <a:extLst>
              <a:ext uri="{FF2B5EF4-FFF2-40B4-BE49-F238E27FC236}">
                <a16:creationId xmlns:a16="http://schemas.microsoft.com/office/drawing/2014/main" id="{AE8675EA-84DF-4F97-98B1-699AB31B3FE4}"/>
              </a:ext>
            </a:extLst>
          </p:cNvPr>
          <p:cNvSpPr/>
          <p:nvPr/>
        </p:nvSpPr>
        <p:spPr>
          <a:xfrm>
            <a:off x="6451600" y="3530600"/>
            <a:ext cx="5003800" cy="1955800"/>
          </a:xfrm>
          <a:prstGeom prst="rect">
            <a:avLst/>
          </a:prstGeom>
          <a:solidFill>
            <a:srgbClr val="EAF0F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3" name="Rectangle 52">
            <a:extLst>
              <a:ext uri="{FF2B5EF4-FFF2-40B4-BE49-F238E27FC236}">
                <a16:creationId xmlns:a16="http://schemas.microsoft.com/office/drawing/2014/main" id="{A8D69A5B-8F57-4600-B22B-E1817AEFA6C0}"/>
              </a:ext>
            </a:extLst>
          </p:cNvPr>
          <p:cNvSpPr/>
          <p:nvPr/>
        </p:nvSpPr>
        <p:spPr>
          <a:xfrm>
            <a:off x="736600" y="5715000"/>
            <a:ext cx="10718800" cy="457200"/>
          </a:xfrm>
          <a:prstGeom prst="rect">
            <a:avLst/>
          </a:prstGeom>
          <a:solidFill>
            <a:srgbClr val="FFF4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5" name="Rectangle 54">
            <a:extLst>
              <a:ext uri="{FF2B5EF4-FFF2-40B4-BE49-F238E27FC236}">
                <a16:creationId xmlns:a16="http://schemas.microsoft.com/office/drawing/2014/main" id="{9A6ECF76-43AA-4F1D-804D-35DF760FDD76}"/>
              </a:ext>
            </a:extLst>
          </p:cNvPr>
          <p:cNvSpPr/>
          <p:nvPr/>
        </p:nvSpPr>
        <p:spPr>
          <a:xfrm>
            <a:off x="736600" y="6350000"/>
            <a:ext cx="10718800" cy="12700"/>
          </a:xfrm>
          <a:prstGeom prst="rect">
            <a:avLst/>
          </a:prstGeom>
          <a:solidFill>
            <a:srgbClr val="D7DE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8" name="TextBox 47">
            <a:extLst>
              <a:ext uri="{FF2B5EF4-FFF2-40B4-BE49-F238E27FC236}">
                <a16:creationId xmlns:a16="http://schemas.microsoft.com/office/drawing/2014/main" id="{3E824282-521C-4315-ACAE-9DD6DCFC788D}"/>
              </a:ext>
            </a:extLst>
          </p:cNvPr>
          <p:cNvSpPr txBox="1"/>
          <p:nvPr/>
        </p:nvSpPr>
        <p:spPr>
          <a:xfrm>
            <a:off x="990600" y="3733800"/>
            <a:ext cx="4445000" cy="304800"/>
          </a:xfrm>
          <a:prstGeom prst="rect">
            <a:avLst/>
          </a:prstGeom>
          <a:noFill/>
        </p:spPr>
        <p:txBody>
          <a:bodyPr vertOverflow="overflow" vert="horz" wrap="square" rtlCol="0" anchor="t" anchorCtr="0">
            <a:noAutofit/>
          </a:bodyPr>
          <a:lstStyle/>
          <a:p>
            <a:pPr algn="l"/>
            <a:r>
              <a:rPr lang="en-US" sz="1400" b="1">
                <a:solidFill>
                  <a:srgbClr val="00848A"/>
                </a:solidFill>
                <a:latin typeface="Aptos"/>
              </a:rPr>
              <a:t>What the evidence shows</a:t>
            </a:r>
            <a:endParaRPr lang="en-US" sz="1400" b="1" dirty="0">
              <a:solidFill>
                <a:srgbClr val="00848A"/>
              </a:solidFill>
              <a:latin typeface="Aptos"/>
            </a:endParaRPr>
          </a:p>
        </p:txBody>
      </p:sp>
      <p:sp>
        <p:nvSpPr>
          <p:cNvPr id="49" name="TextBox 48">
            <a:extLst>
              <a:ext uri="{FF2B5EF4-FFF2-40B4-BE49-F238E27FC236}">
                <a16:creationId xmlns:a16="http://schemas.microsoft.com/office/drawing/2014/main" id="{0E03A647-392B-42CE-945A-34C0EBBC42BD}"/>
              </a:ext>
            </a:extLst>
          </p:cNvPr>
          <p:cNvSpPr txBox="1"/>
          <p:nvPr/>
        </p:nvSpPr>
        <p:spPr>
          <a:xfrm>
            <a:off x="990600" y="4140200"/>
            <a:ext cx="4572000" cy="1168400"/>
          </a:xfrm>
          <a:prstGeom prst="rect">
            <a:avLst/>
          </a:prstGeom>
          <a:noFill/>
        </p:spPr>
        <p:txBody>
          <a:bodyPr vertOverflow="overflow" vert="horz" wrap="square" rtlCol="0" anchor="t" anchorCtr="0">
            <a:noAutofit/>
          </a:bodyPr>
          <a:lstStyle/>
          <a:p>
            <a:r>
              <a:rPr lang="en-US" sz="1500">
                <a:solidFill>
                  <a:srgbClr val="172033"/>
                </a:solidFill>
                <a:latin typeface="Aptos"/>
              </a:rPr>
              <a:t>• 15/15 attempts passed the configured security and functional suites
• 5/15 resolved the target SAST finding
• 10/15 retained the finding; every conflict received review</a:t>
            </a:r>
            <a:endParaRPr lang="en-US" sz="1500" dirty="0">
              <a:solidFill>
                <a:srgbClr val="172033"/>
              </a:solidFill>
              <a:latin typeface="Aptos"/>
            </a:endParaRPr>
          </a:p>
        </p:txBody>
      </p:sp>
      <p:sp>
        <p:nvSpPr>
          <p:cNvPr id="51" name="TextBox 50">
            <a:extLst>
              <a:ext uri="{FF2B5EF4-FFF2-40B4-BE49-F238E27FC236}">
                <a16:creationId xmlns:a16="http://schemas.microsoft.com/office/drawing/2014/main" id="{18167045-BB7F-42BE-BDD7-C335AF5122D3}"/>
              </a:ext>
            </a:extLst>
          </p:cNvPr>
          <p:cNvSpPr txBox="1"/>
          <p:nvPr/>
        </p:nvSpPr>
        <p:spPr>
          <a:xfrm>
            <a:off x="6731000" y="3733800"/>
            <a:ext cx="4318000" cy="304800"/>
          </a:xfrm>
          <a:prstGeom prst="rect">
            <a:avLst/>
          </a:prstGeom>
          <a:noFill/>
        </p:spPr>
        <p:txBody>
          <a:bodyPr vertOverflow="overflow" vert="horz" wrap="square" rtlCol="0" anchor="t" anchorCtr="0">
            <a:noAutofit/>
          </a:bodyPr>
          <a:lstStyle/>
          <a:p>
            <a:pPr algn="l"/>
            <a:r>
              <a:rPr lang="en-US" sz="1400" b="1">
                <a:solidFill>
                  <a:srgbClr val="00848A"/>
                </a:solidFill>
                <a:latin typeface="Aptos"/>
              </a:rPr>
              <a:t>Verification context</a:t>
            </a:r>
          </a:p>
        </p:txBody>
      </p:sp>
      <p:sp>
        <p:nvSpPr>
          <p:cNvPr id="52" name="TextBox 51">
            <a:extLst>
              <a:ext uri="{FF2B5EF4-FFF2-40B4-BE49-F238E27FC236}">
                <a16:creationId xmlns:a16="http://schemas.microsoft.com/office/drawing/2014/main" id="{2C04E4F2-C381-439D-8C60-6B79D107808B}"/>
              </a:ext>
            </a:extLst>
          </p:cNvPr>
          <p:cNvSpPr txBox="1"/>
          <p:nvPr/>
        </p:nvSpPr>
        <p:spPr>
          <a:xfrm>
            <a:off x="6731000" y="4140200"/>
            <a:ext cx="4394200" cy="1168400"/>
          </a:xfrm>
          <a:prstGeom prst="rect">
            <a:avLst/>
          </a:prstGeom>
          <a:noFill/>
        </p:spPr>
        <p:txBody>
          <a:bodyPr vertOverflow="overflow" vert="horz" wrap="square" rtlCol="0" anchor="t" anchorCtr="0">
            <a:noAutofit/>
          </a:bodyPr>
          <a:lstStyle/>
          <a:p>
            <a:r>
              <a:rPr lang="en-US" sz="1400" dirty="0"/>
              <a:t>89 automated repository checks passed — implementation and saved-evidence integrity; no new model calls or full experiment replay.</a:t>
            </a:r>
            <a:endParaRPr lang="en-US" sz="1400" dirty="0">
              <a:solidFill>
                <a:srgbClr val="172033"/>
              </a:solidFill>
              <a:latin typeface="Aptos"/>
            </a:endParaRPr>
          </a:p>
        </p:txBody>
      </p:sp>
      <p:sp>
        <p:nvSpPr>
          <p:cNvPr id="54" name="TextBox 53">
            <a:extLst>
              <a:ext uri="{FF2B5EF4-FFF2-40B4-BE49-F238E27FC236}">
                <a16:creationId xmlns:a16="http://schemas.microsoft.com/office/drawing/2014/main" id="{26FC4674-4E76-4840-8FAA-83067AA46FE0}"/>
              </a:ext>
            </a:extLst>
          </p:cNvPr>
          <p:cNvSpPr txBox="1"/>
          <p:nvPr/>
        </p:nvSpPr>
        <p:spPr>
          <a:xfrm>
            <a:off x="990600" y="5816600"/>
            <a:ext cx="10210800" cy="279400"/>
          </a:xfrm>
          <a:prstGeom prst="rect">
            <a:avLst/>
          </a:prstGeom>
          <a:noFill/>
        </p:spPr>
        <p:txBody>
          <a:bodyPr vertOverflow="overflow" vert="horz" wrap="square" rtlCol="0" anchor="t" anchorCtr="0">
            <a:noAutofit/>
          </a:bodyPr>
          <a:lstStyle/>
          <a:p>
            <a:r>
              <a:rPr lang="en-US" sz="1100">
                <a:solidFill>
                  <a:srgbClr val="172033"/>
                </a:solidFill>
                <a:latin typeface="Aptos"/>
              </a:rPr>
              <a:t>Limits: one controlled application per CWE · 11 distinct candidate sources · targeted tests only · 0 observed primary SAST false successes</a:t>
            </a:r>
            <a:endParaRPr lang="en-US" sz="1100" dirty="0">
              <a:solidFill>
                <a:srgbClr val="172033"/>
              </a:solidFill>
              <a:latin typeface="Aptos"/>
            </a:endParaRPr>
          </a:p>
        </p:txBody>
      </p:sp>
      <p:sp>
        <p:nvSpPr>
          <p:cNvPr id="56" name="TextBox 55">
            <a:extLst>
              <a:ext uri="{FF2B5EF4-FFF2-40B4-BE49-F238E27FC236}">
                <a16:creationId xmlns:a16="http://schemas.microsoft.com/office/drawing/2014/main" id="{A0E25935-F2CF-4738-9034-57743D15A3CC}"/>
              </a:ext>
            </a:extLst>
          </p:cNvPr>
          <p:cNvSpPr txBox="1"/>
          <p:nvPr/>
        </p:nvSpPr>
        <p:spPr>
          <a:xfrm>
            <a:off x="736600" y="6451600"/>
            <a:ext cx="10718800" cy="203200"/>
          </a:xfrm>
          <a:prstGeom prst="rect">
            <a:avLst/>
          </a:prstGeom>
          <a:noFill/>
        </p:spPr>
        <p:txBody>
          <a:bodyPr vertOverflow="overflow" vert="horz" wrap="square" rtlCol="0" anchor="t" anchorCtr="0">
            <a:noAutofit/>
          </a:bodyPr>
          <a:lstStyle/>
          <a:p>
            <a:pPr algn="l"/>
            <a:r>
              <a:rPr lang="en-US" sz="800">
                <a:solidFill>
                  <a:srgbClr val="556070"/>
                </a:solidFill>
                <a:latin typeface="Aptos"/>
              </a:rPr>
              <a:t>Saved primary-v1 evidence verified September 13, 2026; historical applications were not rerun.</a:t>
            </a:r>
            <a:endParaRPr lang="en-US" sz="800" dirty="0">
              <a:solidFill>
                <a:srgbClr val="556070"/>
              </a:solidFill>
              <a:latin typeface="Aptos"/>
            </a:endParaRPr>
          </a:p>
        </p:txBody>
      </p:sp>
    </p:spTree>
    <p:extLst>
      <p:ext uri="{BB962C8B-B14F-4D97-AF65-F5344CB8AC3E}">
        <p14:creationId xmlns:p14="http://schemas.microsoft.com/office/powerpoint/2010/main" val="732687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635536F9-6DD5-41BB-B7F8-E53C9C80F779}"/>
              </a:ext>
            </a:extLst>
          </p:cNvPr>
          <p:cNvSpPr/>
          <p:nvPr/>
        </p:nvSpPr>
        <p:spPr>
          <a:xfrm>
            <a:off x="0" y="0"/>
            <a:ext cx="12192000" cy="6858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Rectangle 32">
            <a:extLst>
              <a:ext uri="{FF2B5EF4-FFF2-40B4-BE49-F238E27FC236}">
                <a16:creationId xmlns:a16="http://schemas.microsoft.com/office/drawing/2014/main" id="{0EEC165F-81C8-4B05-A373-559DDDA4976D}"/>
              </a:ext>
            </a:extLst>
          </p:cNvPr>
          <p:cNvSpPr/>
          <p:nvPr/>
        </p:nvSpPr>
        <p:spPr>
          <a:xfrm>
            <a:off x="0" y="0"/>
            <a:ext cx="12192000" cy="101600"/>
          </a:xfrm>
          <a:prstGeom prst="rect">
            <a:avLst/>
          </a:prstGeom>
          <a:solidFill>
            <a:srgbClr val="0B7F8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TextBox 33">
            <a:extLst>
              <a:ext uri="{FF2B5EF4-FFF2-40B4-BE49-F238E27FC236}">
                <a16:creationId xmlns:a16="http://schemas.microsoft.com/office/drawing/2014/main" id="{C9353D1F-B2E8-4C24-9F20-3D8535C477D7}"/>
              </a:ext>
            </a:extLst>
          </p:cNvPr>
          <p:cNvSpPr txBox="1"/>
          <p:nvPr/>
        </p:nvSpPr>
        <p:spPr>
          <a:xfrm>
            <a:off x="736600" y="533400"/>
            <a:ext cx="10414000" cy="660400"/>
          </a:xfrm>
          <a:prstGeom prst="rect">
            <a:avLst/>
          </a:prstGeom>
          <a:noFill/>
        </p:spPr>
        <p:txBody>
          <a:bodyPr vertOverflow="overflow" vert="horz" wrap="square" rtlCol="0" anchor="ctr" anchorCtr="0">
            <a:noAutofit/>
          </a:bodyPr>
          <a:lstStyle/>
          <a:p>
            <a:r>
              <a:rPr lang="en-US" sz="2800" b="1" dirty="0"/>
              <a:t>Passing predefined tests can still leave an evidence gap</a:t>
            </a:r>
            <a:endParaRPr lang="en-US" sz="2800" dirty="0"/>
          </a:p>
        </p:txBody>
      </p:sp>
      <p:sp>
        <p:nvSpPr>
          <p:cNvPr id="35" name="Rectangle 34">
            <a:extLst>
              <a:ext uri="{FF2B5EF4-FFF2-40B4-BE49-F238E27FC236}">
                <a16:creationId xmlns:a16="http://schemas.microsoft.com/office/drawing/2014/main" id="{7411BFBC-5247-4695-AFBE-E883FF8DEB9E}"/>
              </a:ext>
            </a:extLst>
          </p:cNvPr>
          <p:cNvSpPr/>
          <p:nvPr/>
        </p:nvSpPr>
        <p:spPr>
          <a:xfrm>
            <a:off x="736600" y="1371600"/>
            <a:ext cx="10718800" cy="19050"/>
          </a:xfrm>
          <a:prstGeom prst="rect">
            <a:avLst/>
          </a:prstGeom>
          <a:solidFill>
            <a:srgbClr val="D7DE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TextBox 35">
            <a:extLst>
              <a:ext uri="{FF2B5EF4-FFF2-40B4-BE49-F238E27FC236}">
                <a16:creationId xmlns:a16="http://schemas.microsoft.com/office/drawing/2014/main" id="{74C901E8-CF3A-4975-9900-9DDAB9CCBE5C}"/>
              </a:ext>
            </a:extLst>
          </p:cNvPr>
          <p:cNvSpPr txBox="1"/>
          <p:nvPr/>
        </p:nvSpPr>
        <p:spPr>
          <a:xfrm>
            <a:off x="11125200" y="584200"/>
            <a:ext cx="330200" cy="355600"/>
          </a:xfrm>
          <a:prstGeom prst="rect">
            <a:avLst/>
          </a:prstGeom>
          <a:noFill/>
        </p:spPr>
        <p:txBody>
          <a:bodyPr vertOverflow="overflow" vert="horz" wrap="square" rtlCol="0" anchor="ctr" anchorCtr="0">
            <a:noAutofit/>
          </a:bodyPr>
          <a:lstStyle/>
          <a:p>
            <a:pPr algn="l"/>
            <a:r>
              <a:rPr lang="en-US" sz="1200" b="1">
                <a:solidFill>
                  <a:srgbClr val="556070"/>
                </a:solidFill>
                <a:latin typeface="Aptos"/>
              </a:rPr>
              <a:t>6</a:t>
            </a:r>
          </a:p>
        </p:txBody>
      </p:sp>
      <p:sp>
        <p:nvSpPr>
          <p:cNvPr id="37" name="TextBox 36">
            <a:extLst>
              <a:ext uri="{FF2B5EF4-FFF2-40B4-BE49-F238E27FC236}">
                <a16:creationId xmlns:a16="http://schemas.microsoft.com/office/drawing/2014/main" id="{C8D91668-6E0D-4A3E-8063-AE9D6428653C}"/>
              </a:ext>
            </a:extLst>
          </p:cNvPr>
          <p:cNvSpPr txBox="1"/>
          <p:nvPr/>
        </p:nvSpPr>
        <p:spPr>
          <a:xfrm>
            <a:off x="736600" y="1752600"/>
            <a:ext cx="4927600" cy="355600"/>
          </a:xfrm>
          <a:prstGeom prst="rect">
            <a:avLst/>
          </a:prstGeom>
          <a:noFill/>
        </p:spPr>
        <p:txBody>
          <a:bodyPr vertOverflow="overflow" vert="horz" wrap="square" rtlCol="0" anchor="ctr" anchorCtr="0">
            <a:noAutofit/>
          </a:bodyPr>
          <a:lstStyle/>
          <a:p>
            <a:pPr algn="l"/>
            <a:r>
              <a:rPr lang="en-US" sz="1700" b="1">
                <a:solidFill>
                  <a:srgbClr val="2E8B68"/>
                </a:solidFill>
                <a:latin typeface="Aptos"/>
              </a:rPr>
              <a:t>SQLi attempt 01</a:t>
            </a:r>
          </a:p>
        </p:txBody>
      </p:sp>
      <p:sp>
        <p:nvSpPr>
          <p:cNvPr id="38" name="Rectangle 37">
            <a:extLst>
              <a:ext uri="{FF2B5EF4-FFF2-40B4-BE49-F238E27FC236}">
                <a16:creationId xmlns:a16="http://schemas.microsoft.com/office/drawing/2014/main" id="{A0697A4B-D282-4DE3-A9EA-29B58A7BD6BB}"/>
              </a:ext>
            </a:extLst>
          </p:cNvPr>
          <p:cNvSpPr/>
          <p:nvPr/>
        </p:nvSpPr>
        <p:spPr>
          <a:xfrm>
            <a:off x="736600" y="2184400"/>
            <a:ext cx="4978400" cy="3098800"/>
          </a:xfrm>
          <a:prstGeom prst="rect">
            <a:avLst/>
          </a:prstGeom>
          <a:solidFill>
            <a:srgbClr val="EAF5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9" name="TextBox 38">
            <a:extLst>
              <a:ext uri="{FF2B5EF4-FFF2-40B4-BE49-F238E27FC236}">
                <a16:creationId xmlns:a16="http://schemas.microsoft.com/office/drawing/2014/main" id="{06F05A0D-91F7-459C-8E7C-D192FA5C24CC}"/>
              </a:ext>
            </a:extLst>
          </p:cNvPr>
          <p:cNvSpPr txBox="1"/>
          <p:nvPr/>
        </p:nvSpPr>
        <p:spPr>
          <a:xfrm>
            <a:off x="990600" y="2387600"/>
            <a:ext cx="2159000" cy="254000"/>
          </a:xfrm>
          <a:prstGeom prst="rect">
            <a:avLst/>
          </a:prstGeom>
          <a:noFill/>
        </p:spPr>
        <p:txBody>
          <a:bodyPr vertOverflow="overflow" vert="horz" wrap="square" rtlCol="0" anchor="ctr" anchorCtr="0">
            <a:noAutofit/>
          </a:bodyPr>
          <a:lstStyle/>
          <a:p>
            <a:pPr algn="l"/>
            <a:r>
              <a:rPr lang="en-US" sz="1200" b="1">
                <a:solidFill>
                  <a:srgbClr val="2E8B68"/>
                </a:solidFill>
                <a:latin typeface="Aptos"/>
              </a:rPr>
              <a:t>Candidate patch</a:t>
            </a:r>
          </a:p>
        </p:txBody>
      </p:sp>
      <p:sp>
        <p:nvSpPr>
          <p:cNvPr id="40" name="TextBox 39">
            <a:extLst>
              <a:ext uri="{FF2B5EF4-FFF2-40B4-BE49-F238E27FC236}">
                <a16:creationId xmlns:a16="http://schemas.microsoft.com/office/drawing/2014/main" id="{AD28069D-292F-4D20-8864-C2B3756D24A3}"/>
              </a:ext>
            </a:extLst>
          </p:cNvPr>
          <p:cNvSpPr txBox="1"/>
          <p:nvPr/>
        </p:nvSpPr>
        <p:spPr>
          <a:xfrm>
            <a:off x="990600" y="2717800"/>
            <a:ext cx="4318000" cy="584200"/>
          </a:xfrm>
          <a:prstGeom prst="rect">
            <a:avLst/>
          </a:prstGeom>
          <a:noFill/>
        </p:spPr>
        <p:txBody>
          <a:bodyPr vertOverflow="overflow" vert="horz" wrap="square" rtlCol="0" anchor="ctr" anchorCtr="0">
            <a:noAutofit/>
          </a:bodyPr>
          <a:lstStyle/>
          <a:p>
            <a:pPr algn="l"/>
            <a:r>
              <a:rPr lang="en-US" b="1">
                <a:solidFill>
                  <a:srgbClr val="172033"/>
                </a:solidFill>
                <a:latin typeface="Aptos"/>
              </a:rPr>
              <a:t>Parameterized query replaces SQL string construction.</a:t>
            </a:r>
          </a:p>
        </p:txBody>
      </p:sp>
      <p:sp>
        <p:nvSpPr>
          <p:cNvPr id="41" name="TextBox 40">
            <a:extLst>
              <a:ext uri="{FF2B5EF4-FFF2-40B4-BE49-F238E27FC236}">
                <a16:creationId xmlns:a16="http://schemas.microsoft.com/office/drawing/2014/main" id="{F4F6AE9E-2C7D-436D-86CC-3330489D1AF9}"/>
              </a:ext>
            </a:extLst>
          </p:cNvPr>
          <p:cNvSpPr txBox="1"/>
          <p:nvPr/>
        </p:nvSpPr>
        <p:spPr>
          <a:xfrm>
            <a:off x="990600" y="3530600"/>
            <a:ext cx="2159000" cy="279400"/>
          </a:xfrm>
          <a:prstGeom prst="rect">
            <a:avLst/>
          </a:prstGeom>
          <a:noFill/>
        </p:spPr>
        <p:txBody>
          <a:bodyPr vertOverflow="overflow" vert="horz" wrap="square" rtlCol="0" anchor="ctr" anchorCtr="0">
            <a:noAutofit/>
          </a:bodyPr>
          <a:lstStyle/>
          <a:p>
            <a:pPr algn="l"/>
            <a:r>
              <a:rPr lang="en-US" sz="1500">
                <a:solidFill>
                  <a:srgbClr val="172033"/>
                </a:solidFill>
                <a:latin typeface="Aptos"/>
              </a:rPr>
              <a:t>Target SAST resolved</a:t>
            </a:r>
          </a:p>
        </p:txBody>
      </p:sp>
      <p:sp>
        <p:nvSpPr>
          <p:cNvPr id="42" name="TextBox 41">
            <a:extLst>
              <a:ext uri="{FF2B5EF4-FFF2-40B4-BE49-F238E27FC236}">
                <a16:creationId xmlns:a16="http://schemas.microsoft.com/office/drawing/2014/main" id="{0F46F0D8-265A-4113-BBFF-8E9AB53AFCAC}"/>
              </a:ext>
            </a:extLst>
          </p:cNvPr>
          <p:cNvSpPr txBox="1"/>
          <p:nvPr/>
        </p:nvSpPr>
        <p:spPr>
          <a:xfrm>
            <a:off x="990600" y="3937000"/>
            <a:ext cx="1905000" cy="279400"/>
          </a:xfrm>
          <a:prstGeom prst="rect">
            <a:avLst/>
          </a:prstGeom>
          <a:noFill/>
        </p:spPr>
        <p:txBody>
          <a:bodyPr vertOverflow="overflow" vert="horz" wrap="square" rtlCol="0" anchor="ctr" anchorCtr="0">
            <a:noAutofit/>
          </a:bodyPr>
          <a:lstStyle/>
          <a:p>
            <a:pPr algn="l"/>
            <a:r>
              <a:rPr lang="en-US" sz="1600" b="1">
                <a:solidFill>
                  <a:srgbClr val="172033"/>
                </a:solidFill>
                <a:latin typeface="Aptos"/>
              </a:rPr>
              <a:t>Security  2 / 2</a:t>
            </a:r>
          </a:p>
        </p:txBody>
      </p:sp>
      <p:sp>
        <p:nvSpPr>
          <p:cNvPr id="43" name="TextBox 42">
            <a:extLst>
              <a:ext uri="{FF2B5EF4-FFF2-40B4-BE49-F238E27FC236}">
                <a16:creationId xmlns:a16="http://schemas.microsoft.com/office/drawing/2014/main" id="{9EACF60D-7BB2-4742-98DD-5DB21B4258AA}"/>
              </a:ext>
            </a:extLst>
          </p:cNvPr>
          <p:cNvSpPr txBox="1"/>
          <p:nvPr/>
        </p:nvSpPr>
        <p:spPr>
          <a:xfrm>
            <a:off x="3124200" y="3937000"/>
            <a:ext cx="2159000" cy="279400"/>
          </a:xfrm>
          <a:prstGeom prst="rect">
            <a:avLst/>
          </a:prstGeom>
          <a:noFill/>
        </p:spPr>
        <p:txBody>
          <a:bodyPr vertOverflow="overflow" vert="horz" wrap="square" rtlCol="0" anchor="ctr" anchorCtr="0">
            <a:noAutofit/>
          </a:bodyPr>
          <a:lstStyle/>
          <a:p>
            <a:pPr algn="l"/>
            <a:r>
              <a:rPr lang="en-US" sz="1600" b="1">
                <a:solidFill>
                  <a:srgbClr val="172033"/>
                </a:solidFill>
                <a:latin typeface="Aptos"/>
              </a:rPr>
              <a:t>Functional  3 / 3</a:t>
            </a:r>
          </a:p>
        </p:txBody>
      </p:sp>
      <p:sp>
        <p:nvSpPr>
          <p:cNvPr id="44" name="Rectangle 43">
            <a:extLst>
              <a:ext uri="{FF2B5EF4-FFF2-40B4-BE49-F238E27FC236}">
                <a16:creationId xmlns:a16="http://schemas.microsoft.com/office/drawing/2014/main" id="{2B7FC5F9-0093-441A-B3F0-5978CFC6F5A5}"/>
              </a:ext>
            </a:extLst>
          </p:cNvPr>
          <p:cNvSpPr/>
          <p:nvPr/>
        </p:nvSpPr>
        <p:spPr>
          <a:xfrm>
            <a:off x="990600" y="4470400"/>
            <a:ext cx="3302000" cy="406400"/>
          </a:xfrm>
          <a:prstGeom prst="rect">
            <a:avLst/>
          </a:prstGeom>
          <a:solidFill>
            <a:srgbClr val="2E8B6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TextBox 44">
            <a:extLst>
              <a:ext uri="{FF2B5EF4-FFF2-40B4-BE49-F238E27FC236}">
                <a16:creationId xmlns:a16="http://schemas.microsoft.com/office/drawing/2014/main" id="{E94E2E7E-35D5-466D-A2F1-F3AEFE87A9FA}"/>
              </a:ext>
            </a:extLst>
          </p:cNvPr>
          <p:cNvSpPr txBox="1"/>
          <p:nvPr/>
        </p:nvSpPr>
        <p:spPr>
          <a:xfrm>
            <a:off x="990600" y="4508500"/>
            <a:ext cx="3302000" cy="330200"/>
          </a:xfrm>
          <a:prstGeom prst="rect">
            <a:avLst/>
          </a:prstGeom>
          <a:noFill/>
        </p:spPr>
        <p:txBody>
          <a:bodyPr vertOverflow="overflow" vert="horz" wrap="square" rtlCol="0" anchor="ctr" anchorCtr="0">
            <a:noAutofit/>
          </a:bodyPr>
          <a:lstStyle/>
          <a:p>
            <a:pPr algn="l"/>
            <a:r>
              <a:rPr lang="en-US" sz="1200" b="1">
                <a:solidFill>
                  <a:srgbClr val="FFFFFF"/>
                </a:solidFill>
                <a:latin typeface="Aptos"/>
              </a:rPr>
              <a:t>READY FOR HUMAN REVIEW</a:t>
            </a:r>
          </a:p>
        </p:txBody>
      </p:sp>
      <p:sp>
        <p:nvSpPr>
          <p:cNvPr id="46" name="TextBox 45">
            <a:extLst>
              <a:ext uri="{FF2B5EF4-FFF2-40B4-BE49-F238E27FC236}">
                <a16:creationId xmlns:a16="http://schemas.microsoft.com/office/drawing/2014/main" id="{66128B9E-305D-43B6-8218-77E2001BF656}"/>
              </a:ext>
            </a:extLst>
          </p:cNvPr>
          <p:cNvSpPr txBox="1"/>
          <p:nvPr/>
        </p:nvSpPr>
        <p:spPr>
          <a:xfrm>
            <a:off x="990600" y="4953000"/>
            <a:ext cx="3302000" cy="228600"/>
          </a:xfrm>
          <a:prstGeom prst="rect">
            <a:avLst/>
          </a:prstGeom>
          <a:noFill/>
        </p:spPr>
        <p:txBody>
          <a:bodyPr vertOverflow="overflow" vert="horz" wrap="square" rtlCol="0" anchor="ctr" anchorCtr="0">
            <a:noAutofit/>
          </a:bodyPr>
          <a:lstStyle/>
          <a:p>
            <a:pPr algn="l"/>
            <a:r>
              <a:rPr lang="en-US" sz="1200">
                <a:solidFill>
                  <a:srgbClr val="556070"/>
                </a:solidFill>
                <a:latin typeface="Aptos"/>
              </a:rPr>
              <a:t>Readiness is not approval.</a:t>
            </a:r>
          </a:p>
        </p:txBody>
      </p:sp>
      <p:sp>
        <p:nvSpPr>
          <p:cNvPr id="47" name="TextBox 46">
            <a:extLst>
              <a:ext uri="{FF2B5EF4-FFF2-40B4-BE49-F238E27FC236}">
                <a16:creationId xmlns:a16="http://schemas.microsoft.com/office/drawing/2014/main" id="{0373E34A-54DB-499B-BF82-1D03613AA3D5}"/>
              </a:ext>
            </a:extLst>
          </p:cNvPr>
          <p:cNvSpPr txBox="1"/>
          <p:nvPr/>
        </p:nvSpPr>
        <p:spPr>
          <a:xfrm>
            <a:off x="6477000" y="1752600"/>
            <a:ext cx="4978400" cy="355600"/>
          </a:xfrm>
          <a:prstGeom prst="rect">
            <a:avLst/>
          </a:prstGeom>
          <a:noFill/>
        </p:spPr>
        <p:txBody>
          <a:bodyPr vertOverflow="overflow" vert="horz" wrap="square" rtlCol="0" anchor="ctr" anchorCtr="0">
            <a:noAutofit/>
          </a:bodyPr>
          <a:lstStyle/>
          <a:p>
            <a:pPr algn="l"/>
            <a:r>
              <a:rPr lang="en-US" sz="1700" b="1">
                <a:solidFill>
                  <a:srgbClr val="A96B00"/>
                </a:solidFill>
                <a:latin typeface="Aptos"/>
              </a:rPr>
              <a:t>XSS attempt 04</a:t>
            </a:r>
          </a:p>
        </p:txBody>
      </p:sp>
      <p:sp>
        <p:nvSpPr>
          <p:cNvPr id="48" name="Rectangle 47">
            <a:extLst>
              <a:ext uri="{FF2B5EF4-FFF2-40B4-BE49-F238E27FC236}">
                <a16:creationId xmlns:a16="http://schemas.microsoft.com/office/drawing/2014/main" id="{488CC035-8A44-49F6-BDF2-43868851B112}"/>
              </a:ext>
            </a:extLst>
          </p:cNvPr>
          <p:cNvSpPr/>
          <p:nvPr/>
        </p:nvSpPr>
        <p:spPr>
          <a:xfrm>
            <a:off x="6477000" y="2184400"/>
            <a:ext cx="4978400" cy="3098800"/>
          </a:xfrm>
          <a:prstGeom prst="rect">
            <a:avLst/>
          </a:prstGeom>
          <a:solidFill>
            <a:srgbClr val="FFF4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9" name="TextBox 48">
            <a:extLst>
              <a:ext uri="{FF2B5EF4-FFF2-40B4-BE49-F238E27FC236}">
                <a16:creationId xmlns:a16="http://schemas.microsoft.com/office/drawing/2014/main" id="{58D8F9CC-575B-4A43-B014-2A08A360B35F}"/>
              </a:ext>
            </a:extLst>
          </p:cNvPr>
          <p:cNvSpPr txBox="1"/>
          <p:nvPr/>
        </p:nvSpPr>
        <p:spPr>
          <a:xfrm>
            <a:off x="6731000" y="2387600"/>
            <a:ext cx="2159000" cy="254000"/>
          </a:xfrm>
          <a:prstGeom prst="rect">
            <a:avLst/>
          </a:prstGeom>
          <a:noFill/>
        </p:spPr>
        <p:txBody>
          <a:bodyPr vertOverflow="overflow" vert="horz" wrap="square" rtlCol="0" anchor="ctr" anchorCtr="0">
            <a:noAutofit/>
          </a:bodyPr>
          <a:lstStyle/>
          <a:p>
            <a:pPr algn="l"/>
            <a:r>
              <a:rPr lang="en-US" sz="1200" b="1">
                <a:solidFill>
                  <a:srgbClr val="A96B00"/>
                </a:solidFill>
                <a:latin typeface="Aptos"/>
              </a:rPr>
              <a:t>Decision evidence</a:t>
            </a:r>
          </a:p>
        </p:txBody>
      </p:sp>
      <p:sp>
        <p:nvSpPr>
          <p:cNvPr id="51" name="TextBox 50">
            <a:extLst>
              <a:ext uri="{FF2B5EF4-FFF2-40B4-BE49-F238E27FC236}">
                <a16:creationId xmlns:a16="http://schemas.microsoft.com/office/drawing/2014/main" id="{539C054F-91FF-47A5-B212-C96FBBD22390}"/>
              </a:ext>
            </a:extLst>
          </p:cNvPr>
          <p:cNvSpPr txBox="1"/>
          <p:nvPr/>
        </p:nvSpPr>
        <p:spPr>
          <a:xfrm>
            <a:off x="6731000" y="2717800"/>
            <a:ext cx="4318000" cy="584200"/>
          </a:xfrm>
          <a:prstGeom prst="rect">
            <a:avLst/>
          </a:prstGeom>
          <a:noFill/>
        </p:spPr>
        <p:txBody>
          <a:bodyPr vertOverflow="overflow" vert="horz" wrap="square" rtlCol="0" anchor="ctr" anchorCtr="0">
            <a:noAutofit/>
          </a:bodyPr>
          <a:lstStyle/>
          <a:p>
            <a:pPr algn="l"/>
            <a:r>
              <a:rPr lang="en-US" b="1">
                <a:solidFill>
                  <a:srgbClr val="172033"/>
                </a:solidFill>
                <a:latin typeface="Aptos"/>
              </a:rPr>
              <a:t>Persistent SAST target, but fixed checks pass.</a:t>
            </a:r>
          </a:p>
        </p:txBody>
      </p:sp>
      <p:sp>
        <p:nvSpPr>
          <p:cNvPr id="52" name="TextBox 51">
            <a:extLst>
              <a:ext uri="{FF2B5EF4-FFF2-40B4-BE49-F238E27FC236}">
                <a16:creationId xmlns:a16="http://schemas.microsoft.com/office/drawing/2014/main" id="{C13D0F9F-9500-431F-BC73-92948F4E9F36}"/>
              </a:ext>
            </a:extLst>
          </p:cNvPr>
          <p:cNvSpPr txBox="1"/>
          <p:nvPr/>
        </p:nvSpPr>
        <p:spPr>
          <a:xfrm>
            <a:off x="6731000" y="3530600"/>
            <a:ext cx="1905000" cy="279400"/>
          </a:xfrm>
          <a:prstGeom prst="rect">
            <a:avLst/>
          </a:prstGeom>
          <a:noFill/>
        </p:spPr>
        <p:txBody>
          <a:bodyPr vertOverflow="overflow" vert="horz" wrap="square" rtlCol="0" anchor="ctr" anchorCtr="0">
            <a:noAutofit/>
          </a:bodyPr>
          <a:lstStyle/>
          <a:p>
            <a:pPr algn="l"/>
            <a:r>
              <a:rPr lang="en-US" sz="1600" b="1">
                <a:solidFill>
                  <a:srgbClr val="172033"/>
                </a:solidFill>
                <a:latin typeface="Aptos"/>
              </a:rPr>
              <a:t>Security  4 / 4</a:t>
            </a:r>
          </a:p>
        </p:txBody>
      </p:sp>
      <p:sp>
        <p:nvSpPr>
          <p:cNvPr id="53" name="TextBox 52">
            <a:extLst>
              <a:ext uri="{FF2B5EF4-FFF2-40B4-BE49-F238E27FC236}">
                <a16:creationId xmlns:a16="http://schemas.microsoft.com/office/drawing/2014/main" id="{0731C6AA-E3B9-4E16-AFD4-4935EAC1E235}"/>
              </a:ext>
            </a:extLst>
          </p:cNvPr>
          <p:cNvSpPr txBox="1"/>
          <p:nvPr/>
        </p:nvSpPr>
        <p:spPr>
          <a:xfrm>
            <a:off x="8864600" y="3530600"/>
            <a:ext cx="2159000" cy="279400"/>
          </a:xfrm>
          <a:prstGeom prst="rect">
            <a:avLst/>
          </a:prstGeom>
          <a:noFill/>
        </p:spPr>
        <p:txBody>
          <a:bodyPr vertOverflow="overflow" vert="horz" wrap="square" rtlCol="0" anchor="ctr" anchorCtr="0">
            <a:noAutofit/>
          </a:bodyPr>
          <a:lstStyle/>
          <a:p>
            <a:pPr algn="l"/>
            <a:r>
              <a:rPr lang="en-US" sz="1600" b="1">
                <a:solidFill>
                  <a:srgbClr val="172033"/>
                </a:solidFill>
                <a:latin typeface="Aptos"/>
              </a:rPr>
              <a:t>Functional  6 / 6</a:t>
            </a:r>
          </a:p>
        </p:txBody>
      </p:sp>
      <p:sp>
        <p:nvSpPr>
          <p:cNvPr id="54" name="Rectangle 53">
            <a:extLst>
              <a:ext uri="{FF2B5EF4-FFF2-40B4-BE49-F238E27FC236}">
                <a16:creationId xmlns:a16="http://schemas.microsoft.com/office/drawing/2014/main" id="{EA6650B8-700B-4FD6-ABA7-326510AC1D0C}"/>
              </a:ext>
            </a:extLst>
          </p:cNvPr>
          <p:cNvSpPr/>
          <p:nvPr/>
        </p:nvSpPr>
        <p:spPr>
          <a:xfrm>
            <a:off x="6731000" y="4064000"/>
            <a:ext cx="3175000" cy="406400"/>
          </a:xfrm>
          <a:prstGeom prst="rect">
            <a:avLst/>
          </a:prstGeom>
          <a:solidFill>
            <a:srgbClr val="E2A8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5" name="TextBox 54">
            <a:extLst>
              <a:ext uri="{FF2B5EF4-FFF2-40B4-BE49-F238E27FC236}">
                <a16:creationId xmlns:a16="http://schemas.microsoft.com/office/drawing/2014/main" id="{7E2A6DB8-3533-4FD6-8472-502C59DA1091}"/>
              </a:ext>
            </a:extLst>
          </p:cNvPr>
          <p:cNvSpPr txBox="1"/>
          <p:nvPr/>
        </p:nvSpPr>
        <p:spPr>
          <a:xfrm>
            <a:off x="6731000" y="4102100"/>
            <a:ext cx="3175000" cy="330200"/>
          </a:xfrm>
          <a:prstGeom prst="rect">
            <a:avLst/>
          </a:prstGeom>
          <a:noFill/>
        </p:spPr>
        <p:txBody>
          <a:bodyPr vertOverflow="overflow" vert="horz" wrap="square" rtlCol="0" anchor="ctr" anchorCtr="0">
            <a:noAutofit/>
          </a:bodyPr>
          <a:lstStyle/>
          <a:p>
            <a:r>
              <a:rPr lang="en-US" sz="1100" b="1" dirty="0"/>
              <a:t>Automated: Needs human adjudication</a:t>
            </a:r>
            <a:br>
              <a:rPr lang="en-US" sz="1100" b="1" dirty="0"/>
            </a:br>
            <a:r>
              <a:rPr lang="en-US" sz="1100" b="1" dirty="0"/>
              <a:t>Human verdict: Request additional testing</a:t>
            </a:r>
            <a:endParaRPr lang="en-US" sz="1100" b="1" dirty="0">
              <a:solidFill>
                <a:srgbClr val="172033"/>
              </a:solidFill>
              <a:latin typeface="Aptos"/>
            </a:endParaRPr>
          </a:p>
        </p:txBody>
      </p:sp>
      <p:sp>
        <p:nvSpPr>
          <p:cNvPr id="56" name="TextBox 55">
            <a:extLst>
              <a:ext uri="{FF2B5EF4-FFF2-40B4-BE49-F238E27FC236}">
                <a16:creationId xmlns:a16="http://schemas.microsoft.com/office/drawing/2014/main" id="{3CB78627-03CD-4FCF-B644-49DFAFAFAB42}"/>
              </a:ext>
            </a:extLst>
          </p:cNvPr>
          <p:cNvSpPr txBox="1"/>
          <p:nvPr/>
        </p:nvSpPr>
        <p:spPr>
          <a:xfrm>
            <a:off x="6731000" y="4572000"/>
            <a:ext cx="4343400" cy="609600"/>
          </a:xfrm>
          <a:prstGeom prst="rect">
            <a:avLst/>
          </a:prstGeom>
          <a:noFill/>
        </p:spPr>
        <p:txBody>
          <a:bodyPr vertOverflow="overflow" vert="horz" wrap="square" rtlCol="0" anchor="ctr" anchorCtr="0">
            <a:noAutofit/>
          </a:bodyPr>
          <a:lstStyle/>
          <a:p>
            <a:r>
              <a:rPr lang="en-US" sz="1200" b="1" dirty="0"/>
              <a:t>Code-review gap:</a:t>
            </a:r>
            <a:r>
              <a:rPr lang="en-US" sz="1200" dirty="0"/>
              <a:t> omitted-name behavior was untested and changed. The same untested conversion appears in accepted XSS 01–02.</a:t>
            </a:r>
            <a:endParaRPr lang="en-US" sz="1200" dirty="0">
              <a:solidFill>
                <a:srgbClr val="172033"/>
              </a:solidFill>
              <a:latin typeface="Aptos"/>
            </a:endParaRPr>
          </a:p>
        </p:txBody>
      </p:sp>
      <p:sp>
        <p:nvSpPr>
          <p:cNvPr id="57" name="Rectangle 56">
            <a:extLst>
              <a:ext uri="{FF2B5EF4-FFF2-40B4-BE49-F238E27FC236}">
                <a16:creationId xmlns:a16="http://schemas.microsoft.com/office/drawing/2014/main" id="{613B5375-69EB-4B8B-BBEF-41E2A70E0B66}"/>
              </a:ext>
            </a:extLst>
          </p:cNvPr>
          <p:cNvSpPr/>
          <p:nvPr/>
        </p:nvSpPr>
        <p:spPr>
          <a:xfrm>
            <a:off x="736600" y="5638800"/>
            <a:ext cx="10718800" cy="533400"/>
          </a:xfrm>
          <a:prstGeom prst="rect">
            <a:avLst/>
          </a:prstGeom>
          <a:solidFill>
            <a:srgbClr val="E9F5F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8" name="TextBox 57">
            <a:extLst>
              <a:ext uri="{FF2B5EF4-FFF2-40B4-BE49-F238E27FC236}">
                <a16:creationId xmlns:a16="http://schemas.microsoft.com/office/drawing/2014/main" id="{01ECA076-A7D5-434F-9077-62E3BB0DC2A6}"/>
              </a:ext>
            </a:extLst>
          </p:cNvPr>
          <p:cNvSpPr txBox="1"/>
          <p:nvPr/>
        </p:nvSpPr>
        <p:spPr>
          <a:xfrm>
            <a:off x="990600" y="5874979"/>
            <a:ext cx="10261600" cy="330200"/>
          </a:xfrm>
          <a:prstGeom prst="rect">
            <a:avLst/>
          </a:prstGeom>
          <a:noFill/>
        </p:spPr>
        <p:txBody>
          <a:bodyPr vertOverflow="overflow" vert="horz" wrap="square" rtlCol="0" anchor="ctr" anchorCtr="0">
            <a:noAutofit/>
          </a:bodyPr>
          <a:lstStyle/>
          <a:p>
            <a:r>
              <a:rPr lang="en-US" sz="1600" b="1" dirty="0">
                <a:solidFill>
                  <a:srgbClr val="172033"/>
                </a:solidFill>
                <a:latin typeface="Aptos"/>
              </a:rPr>
              <a:t>Key point: </a:t>
            </a:r>
            <a:r>
              <a:rPr lang="en-US" sz="1600" b="1" dirty="0"/>
              <a:t>A passing result is only as strong as the test coverage behind it.</a:t>
            </a:r>
            <a:endParaRPr lang="en-US" sz="1600" dirty="0"/>
          </a:p>
          <a:p>
            <a:pPr algn="l"/>
            <a:r>
              <a:rPr lang="en-US" sz="1600" b="1" dirty="0">
                <a:solidFill>
                  <a:srgbClr val="172033"/>
                </a:solidFill>
                <a:latin typeface="Aptos"/>
              </a:rPr>
              <a:t>.</a:t>
            </a:r>
          </a:p>
        </p:txBody>
      </p:sp>
      <p:sp>
        <p:nvSpPr>
          <p:cNvPr id="59" name="Rectangle 58">
            <a:extLst>
              <a:ext uri="{FF2B5EF4-FFF2-40B4-BE49-F238E27FC236}">
                <a16:creationId xmlns:a16="http://schemas.microsoft.com/office/drawing/2014/main" id="{BC2DE3F0-BF3A-4252-B078-4781A7118C09}"/>
              </a:ext>
            </a:extLst>
          </p:cNvPr>
          <p:cNvSpPr/>
          <p:nvPr/>
        </p:nvSpPr>
        <p:spPr>
          <a:xfrm>
            <a:off x="736600" y="6350000"/>
            <a:ext cx="10718800" cy="12700"/>
          </a:xfrm>
          <a:prstGeom prst="rect">
            <a:avLst/>
          </a:prstGeom>
          <a:solidFill>
            <a:srgbClr val="D7DE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0" name="TextBox 59">
            <a:extLst>
              <a:ext uri="{FF2B5EF4-FFF2-40B4-BE49-F238E27FC236}">
                <a16:creationId xmlns:a16="http://schemas.microsoft.com/office/drawing/2014/main" id="{FE4A15C4-C05A-4E6F-9CD3-74CF458DD3D0}"/>
              </a:ext>
            </a:extLst>
          </p:cNvPr>
          <p:cNvSpPr txBox="1"/>
          <p:nvPr/>
        </p:nvSpPr>
        <p:spPr>
          <a:xfrm>
            <a:off x="736600" y="6451600"/>
            <a:ext cx="10718800" cy="203200"/>
          </a:xfrm>
          <a:prstGeom prst="rect">
            <a:avLst/>
          </a:prstGeom>
          <a:noFill/>
        </p:spPr>
        <p:txBody>
          <a:bodyPr vertOverflow="overflow" vert="horz" wrap="square" rtlCol="0" anchor="ctr" anchorCtr="0">
            <a:noAutofit/>
          </a:bodyPr>
          <a:lstStyle/>
          <a:p>
            <a:pPr algn="l"/>
            <a:r>
              <a:rPr lang="en-US" sz="900">
                <a:solidFill>
                  <a:srgbClr val="556070"/>
                </a:solidFill>
                <a:latin typeface="Aptos"/>
              </a:rPr>
              <a:t>Saved primary-v1 evidence verified September 13, 2026; walkthrough is not a new scan or attack</a:t>
            </a:r>
          </a:p>
        </p:txBody>
      </p:sp>
    </p:spTree>
    <p:extLst>
      <p:ext uri="{BB962C8B-B14F-4D97-AF65-F5344CB8AC3E}">
        <p14:creationId xmlns:p14="http://schemas.microsoft.com/office/powerpoint/2010/main" val="1922468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9FA9EEA5-AB38-4987-B2E8-5296CF043187}"/>
              </a:ext>
            </a:extLst>
          </p:cNvPr>
          <p:cNvSpPr/>
          <p:nvPr/>
        </p:nvSpPr>
        <p:spPr>
          <a:xfrm>
            <a:off x="0" y="0"/>
            <a:ext cx="12192000" cy="6858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Rectangle 31">
            <a:extLst>
              <a:ext uri="{FF2B5EF4-FFF2-40B4-BE49-F238E27FC236}">
                <a16:creationId xmlns:a16="http://schemas.microsoft.com/office/drawing/2014/main" id="{EFCA1CE2-F1FA-4A7E-A1C4-EB0004F40DBF}"/>
              </a:ext>
            </a:extLst>
          </p:cNvPr>
          <p:cNvSpPr/>
          <p:nvPr/>
        </p:nvSpPr>
        <p:spPr>
          <a:xfrm>
            <a:off x="0" y="0"/>
            <a:ext cx="12192000" cy="101600"/>
          </a:xfrm>
          <a:prstGeom prst="rect">
            <a:avLst/>
          </a:prstGeom>
          <a:solidFill>
            <a:srgbClr val="0B7F8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TextBox 32">
            <a:extLst>
              <a:ext uri="{FF2B5EF4-FFF2-40B4-BE49-F238E27FC236}">
                <a16:creationId xmlns:a16="http://schemas.microsoft.com/office/drawing/2014/main" id="{CDB29899-3B41-4A41-860E-74C522E2D40B}"/>
              </a:ext>
            </a:extLst>
          </p:cNvPr>
          <p:cNvSpPr txBox="1"/>
          <p:nvPr/>
        </p:nvSpPr>
        <p:spPr>
          <a:xfrm>
            <a:off x="736600" y="533400"/>
            <a:ext cx="10414000" cy="660400"/>
          </a:xfrm>
          <a:prstGeom prst="rect">
            <a:avLst/>
          </a:prstGeom>
          <a:noFill/>
        </p:spPr>
        <p:txBody>
          <a:bodyPr vertOverflow="overflow" vert="horz" wrap="square" rtlCol="0" anchor="ctr" anchorCtr="0">
            <a:noAutofit/>
          </a:bodyPr>
          <a:lstStyle/>
          <a:p>
            <a:pPr algn="l"/>
            <a:r>
              <a:rPr lang="en-US" sz="3000" b="1">
                <a:solidFill>
                  <a:srgbClr val="172033"/>
                </a:solidFill>
                <a:latin typeface="Aptos"/>
              </a:rPr>
              <a:t>Next phase and feedback</a:t>
            </a:r>
          </a:p>
        </p:txBody>
      </p:sp>
      <p:sp>
        <p:nvSpPr>
          <p:cNvPr id="34" name="Rectangle 33">
            <a:extLst>
              <a:ext uri="{FF2B5EF4-FFF2-40B4-BE49-F238E27FC236}">
                <a16:creationId xmlns:a16="http://schemas.microsoft.com/office/drawing/2014/main" id="{1730A073-6E50-44C1-AACE-DA2A8D9994B1}"/>
              </a:ext>
            </a:extLst>
          </p:cNvPr>
          <p:cNvSpPr/>
          <p:nvPr/>
        </p:nvSpPr>
        <p:spPr>
          <a:xfrm>
            <a:off x="736600" y="1371600"/>
            <a:ext cx="10718800" cy="19050"/>
          </a:xfrm>
          <a:prstGeom prst="rect">
            <a:avLst/>
          </a:prstGeom>
          <a:solidFill>
            <a:srgbClr val="D7DE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TextBox 34">
            <a:extLst>
              <a:ext uri="{FF2B5EF4-FFF2-40B4-BE49-F238E27FC236}">
                <a16:creationId xmlns:a16="http://schemas.microsoft.com/office/drawing/2014/main" id="{B8DEEF0C-8904-4051-95DA-5467E0C3C38C}"/>
              </a:ext>
            </a:extLst>
          </p:cNvPr>
          <p:cNvSpPr txBox="1"/>
          <p:nvPr/>
        </p:nvSpPr>
        <p:spPr>
          <a:xfrm>
            <a:off x="11125200" y="584200"/>
            <a:ext cx="330200" cy="355600"/>
          </a:xfrm>
          <a:prstGeom prst="rect">
            <a:avLst/>
          </a:prstGeom>
          <a:noFill/>
        </p:spPr>
        <p:txBody>
          <a:bodyPr vertOverflow="overflow" vert="horz" wrap="square" rtlCol="0" anchor="ctr" anchorCtr="0">
            <a:noAutofit/>
          </a:bodyPr>
          <a:lstStyle/>
          <a:p>
            <a:pPr algn="l"/>
            <a:r>
              <a:rPr lang="en-US" sz="1200" b="1">
                <a:solidFill>
                  <a:srgbClr val="556070"/>
                </a:solidFill>
                <a:latin typeface="Aptos"/>
              </a:rPr>
              <a:t>7</a:t>
            </a:r>
          </a:p>
        </p:txBody>
      </p:sp>
      <p:sp>
        <p:nvSpPr>
          <p:cNvPr id="36" name="TextBox 35">
            <a:extLst>
              <a:ext uri="{FF2B5EF4-FFF2-40B4-BE49-F238E27FC236}">
                <a16:creationId xmlns:a16="http://schemas.microsoft.com/office/drawing/2014/main" id="{AF1C29C8-6BFA-4F4C-9F06-0F836DB75F84}"/>
              </a:ext>
            </a:extLst>
          </p:cNvPr>
          <p:cNvSpPr txBox="1"/>
          <p:nvPr/>
        </p:nvSpPr>
        <p:spPr>
          <a:xfrm>
            <a:off x="736600" y="1752600"/>
            <a:ext cx="4572000" cy="330200"/>
          </a:xfrm>
          <a:prstGeom prst="rect">
            <a:avLst/>
          </a:prstGeom>
          <a:noFill/>
        </p:spPr>
        <p:txBody>
          <a:bodyPr vertOverflow="overflow" vert="horz" wrap="square" rtlCol="0" anchor="ctr" anchorCtr="0">
            <a:noAutofit/>
          </a:bodyPr>
          <a:lstStyle/>
          <a:p>
            <a:pPr algn="l"/>
            <a:r>
              <a:rPr lang="en-US" sz="1500" b="1">
                <a:solidFill>
                  <a:srgbClr val="0B7F86"/>
                </a:solidFill>
                <a:latin typeface="Aptos"/>
              </a:rPr>
              <a:t>Next phase</a:t>
            </a:r>
          </a:p>
        </p:txBody>
      </p:sp>
      <p:sp>
        <p:nvSpPr>
          <p:cNvPr id="37" name="TextBox 36">
            <a:extLst>
              <a:ext uri="{FF2B5EF4-FFF2-40B4-BE49-F238E27FC236}">
                <a16:creationId xmlns:a16="http://schemas.microsoft.com/office/drawing/2014/main" id="{592F7914-3E2D-4C35-9A89-F62C090D8EE3}"/>
              </a:ext>
            </a:extLst>
          </p:cNvPr>
          <p:cNvSpPr txBox="1"/>
          <p:nvPr/>
        </p:nvSpPr>
        <p:spPr>
          <a:xfrm>
            <a:off x="736600" y="2159000"/>
            <a:ext cx="5715000" cy="2768600"/>
          </a:xfrm>
          <a:prstGeom prst="rect">
            <a:avLst/>
          </a:prstGeom>
          <a:noFill/>
        </p:spPr>
        <p:txBody>
          <a:bodyPr vertOverflow="overflow" vert="horz" wrap="square" rtlCol="0" anchor="ctr" anchorCtr="0">
            <a:noAutofit/>
          </a:bodyPr>
          <a:lstStyle/>
          <a:p>
            <a:pPr marL="285750" lvl="0" indent="-285750">
              <a:buFont typeface="Arial" panose="020B0604020202020204" pitchFamily="34" charset="0"/>
              <a:buChar char="•"/>
            </a:pPr>
            <a:r>
              <a:rPr lang="en-US" dirty="0"/>
              <a:t>Predefine and run supplemental tests for XSS 04–05 and traversal 01</a:t>
            </a:r>
          </a:p>
          <a:p>
            <a:pPr marL="285750" lvl="0" indent="-285750">
              <a:buFont typeface="Arial" panose="020B0604020202020204" pitchFamily="34" charset="0"/>
              <a:buChar char="•"/>
            </a:pPr>
            <a:r>
              <a:rPr lang="en-US" dirty="0"/>
              <a:t>Apply the same missing-input tests to accepted XSS 01–02</a:t>
            </a:r>
          </a:p>
          <a:p>
            <a:pPr marL="285750" lvl="0" indent="-285750">
              <a:buFont typeface="Arial" panose="020B0604020202020204" pitchFamily="34" charset="0"/>
              <a:buChar char="•"/>
            </a:pPr>
            <a:r>
              <a:rPr lang="en-US" dirty="0"/>
              <a:t>Add separately labeled bad-patch controls and failure-handling tests</a:t>
            </a:r>
          </a:p>
          <a:p>
            <a:pPr marL="285750" lvl="0" indent="-285750">
              <a:buFont typeface="Arial" panose="020B0604020202020204" pitchFamily="34" charset="0"/>
              <a:buChar char="•"/>
            </a:pPr>
            <a:r>
              <a:rPr lang="en-US" dirty="0"/>
              <a:t>Store every new outcome separately; leave primary-v1 unchanged</a:t>
            </a:r>
          </a:p>
          <a:p>
            <a:pPr marL="285750" lvl="0" indent="-285750">
              <a:buFont typeface="Arial" panose="020B0604020202020204" pitchFamily="34" charset="0"/>
              <a:buChar char="•"/>
            </a:pPr>
            <a:r>
              <a:rPr lang="en-US" dirty="0"/>
              <a:t>Retain the three-CWE scope</a:t>
            </a:r>
          </a:p>
        </p:txBody>
      </p:sp>
      <p:sp>
        <p:nvSpPr>
          <p:cNvPr id="38" name="Rectangle 37">
            <a:extLst>
              <a:ext uri="{FF2B5EF4-FFF2-40B4-BE49-F238E27FC236}">
                <a16:creationId xmlns:a16="http://schemas.microsoft.com/office/drawing/2014/main" id="{444C8ED9-A314-471C-83DD-260F76161A31}"/>
              </a:ext>
            </a:extLst>
          </p:cNvPr>
          <p:cNvSpPr/>
          <p:nvPr/>
        </p:nvSpPr>
        <p:spPr>
          <a:xfrm>
            <a:off x="6858000" y="1752600"/>
            <a:ext cx="4597400" cy="2921000"/>
          </a:xfrm>
          <a:prstGeom prst="rect">
            <a:avLst/>
          </a:prstGeom>
          <a:solidFill>
            <a:srgbClr val="EEF3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9" name="TextBox 38">
            <a:extLst>
              <a:ext uri="{FF2B5EF4-FFF2-40B4-BE49-F238E27FC236}">
                <a16:creationId xmlns:a16="http://schemas.microsoft.com/office/drawing/2014/main" id="{30C62397-8E7C-4166-89A8-39DFD38E31DC}"/>
              </a:ext>
            </a:extLst>
          </p:cNvPr>
          <p:cNvSpPr txBox="1"/>
          <p:nvPr/>
        </p:nvSpPr>
        <p:spPr>
          <a:xfrm>
            <a:off x="7112000" y="1955800"/>
            <a:ext cx="4064000" cy="304800"/>
          </a:xfrm>
          <a:prstGeom prst="rect">
            <a:avLst/>
          </a:prstGeom>
          <a:noFill/>
        </p:spPr>
        <p:txBody>
          <a:bodyPr vertOverflow="overflow" vert="horz" wrap="square" rtlCol="0" anchor="ctr" anchorCtr="0">
            <a:noAutofit/>
          </a:bodyPr>
          <a:lstStyle/>
          <a:p>
            <a:pPr algn="l"/>
            <a:r>
              <a:rPr lang="en-US" sz="1500" b="1">
                <a:solidFill>
                  <a:srgbClr val="0B7F86"/>
                </a:solidFill>
                <a:latin typeface="Aptos"/>
              </a:rPr>
              <a:t>Feedback questions</a:t>
            </a:r>
          </a:p>
        </p:txBody>
      </p:sp>
      <p:sp>
        <p:nvSpPr>
          <p:cNvPr id="40" name="TextBox 39">
            <a:extLst>
              <a:ext uri="{FF2B5EF4-FFF2-40B4-BE49-F238E27FC236}">
                <a16:creationId xmlns:a16="http://schemas.microsoft.com/office/drawing/2014/main" id="{1662FEF5-6795-40BE-9BCE-2EA84743A8FF}"/>
              </a:ext>
            </a:extLst>
          </p:cNvPr>
          <p:cNvSpPr txBox="1"/>
          <p:nvPr/>
        </p:nvSpPr>
        <p:spPr>
          <a:xfrm>
            <a:off x="7112000" y="2438400"/>
            <a:ext cx="3987800" cy="863600"/>
          </a:xfrm>
          <a:prstGeom prst="rect">
            <a:avLst/>
          </a:prstGeom>
          <a:noFill/>
        </p:spPr>
        <p:txBody>
          <a:bodyPr vertOverflow="overflow" vert="horz" wrap="square" rtlCol="0" anchor="ctr" anchorCtr="0">
            <a:noAutofit/>
          </a:bodyPr>
          <a:lstStyle/>
          <a:p>
            <a:r>
              <a:rPr lang="en-US" b="1" dirty="0">
                <a:solidFill>
                  <a:srgbClr val="172033"/>
                </a:solidFill>
                <a:latin typeface="Aptos"/>
              </a:rPr>
              <a:t>1. </a:t>
            </a:r>
            <a:r>
              <a:rPr lang="en-US" b="1" dirty="0"/>
              <a:t>Which supplemental tests best address the missing-input and path-boundary gaps?</a:t>
            </a:r>
            <a:endParaRPr lang="en-US" b="1" dirty="0">
              <a:solidFill>
                <a:srgbClr val="172033"/>
              </a:solidFill>
              <a:latin typeface="Aptos"/>
            </a:endParaRPr>
          </a:p>
        </p:txBody>
      </p:sp>
      <p:sp>
        <p:nvSpPr>
          <p:cNvPr id="41" name="Rectangle 40">
            <a:extLst>
              <a:ext uri="{FF2B5EF4-FFF2-40B4-BE49-F238E27FC236}">
                <a16:creationId xmlns:a16="http://schemas.microsoft.com/office/drawing/2014/main" id="{0C13B77E-0443-46C6-860C-DB7C0FC8C4F8}"/>
              </a:ext>
            </a:extLst>
          </p:cNvPr>
          <p:cNvSpPr/>
          <p:nvPr/>
        </p:nvSpPr>
        <p:spPr>
          <a:xfrm>
            <a:off x="7112000" y="3429000"/>
            <a:ext cx="3987800" cy="12700"/>
          </a:xfrm>
          <a:prstGeom prst="rect">
            <a:avLst/>
          </a:prstGeom>
          <a:solidFill>
            <a:srgbClr val="D7DE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2" name="TextBox 41">
            <a:extLst>
              <a:ext uri="{FF2B5EF4-FFF2-40B4-BE49-F238E27FC236}">
                <a16:creationId xmlns:a16="http://schemas.microsoft.com/office/drawing/2014/main" id="{03AC5A34-6AFA-44E2-85C0-8CF619DA0ED8}"/>
              </a:ext>
            </a:extLst>
          </p:cNvPr>
          <p:cNvSpPr txBox="1"/>
          <p:nvPr/>
        </p:nvSpPr>
        <p:spPr>
          <a:xfrm>
            <a:off x="7112000" y="3632200"/>
            <a:ext cx="3987800" cy="914400"/>
          </a:xfrm>
          <a:prstGeom prst="rect">
            <a:avLst/>
          </a:prstGeom>
          <a:noFill/>
        </p:spPr>
        <p:txBody>
          <a:bodyPr vertOverflow="overflow" vert="horz" wrap="square" rtlCol="0" anchor="ctr" anchorCtr="0">
            <a:noAutofit/>
          </a:bodyPr>
          <a:lstStyle/>
          <a:p>
            <a:r>
              <a:rPr lang="en-US" b="1" dirty="0">
                <a:solidFill>
                  <a:srgbClr val="172033"/>
                </a:solidFill>
                <a:latin typeface="Aptos"/>
              </a:rPr>
              <a:t>2. </a:t>
            </a:r>
            <a:r>
              <a:rPr lang="en-US" b="1" dirty="0"/>
              <a:t>Would a second reviewer add more useful evidence than another vulnerability class?</a:t>
            </a:r>
            <a:endParaRPr lang="en-US" b="1" dirty="0">
              <a:solidFill>
                <a:srgbClr val="172033"/>
              </a:solidFill>
              <a:latin typeface="Aptos"/>
            </a:endParaRPr>
          </a:p>
        </p:txBody>
      </p:sp>
      <p:sp>
        <p:nvSpPr>
          <p:cNvPr id="43" name="Rectangle 42">
            <a:extLst>
              <a:ext uri="{FF2B5EF4-FFF2-40B4-BE49-F238E27FC236}">
                <a16:creationId xmlns:a16="http://schemas.microsoft.com/office/drawing/2014/main" id="{4313ACF5-8D37-4889-9960-ADE5424B0DEE}"/>
              </a:ext>
            </a:extLst>
          </p:cNvPr>
          <p:cNvSpPr/>
          <p:nvPr/>
        </p:nvSpPr>
        <p:spPr>
          <a:xfrm>
            <a:off x="736600" y="5207000"/>
            <a:ext cx="10718800" cy="812800"/>
          </a:xfrm>
          <a:prstGeom prst="rect">
            <a:avLst/>
          </a:prstGeom>
          <a:solidFill>
            <a:srgbClr val="E9F5F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4" name="TextBox 43">
            <a:extLst>
              <a:ext uri="{FF2B5EF4-FFF2-40B4-BE49-F238E27FC236}">
                <a16:creationId xmlns:a16="http://schemas.microsoft.com/office/drawing/2014/main" id="{1969B116-2016-4898-AC1B-BEBF2E248FBD}"/>
              </a:ext>
            </a:extLst>
          </p:cNvPr>
          <p:cNvSpPr txBox="1"/>
          <p:nvPr/>
        </p:nvSpPr>
        <p:spPr>
          <a:xfrm>
            <a:off x="965200" y="5321300"/>
            <a:ext cx="10261600" cy="533400"/>
          </a:xfrm>
          <a:prstGeom prst="rect">
            <a:avLst/>
          </a:prstGeom>
          <a:noFill/>
        </p:spPr>
        <p:txBody>
          <a:bodyPr vertOverflow="overflow" vert="horz" wrap="square" rtlCol="0" anchor="ctr" anchorCtr="0">
            <a:noAutofit/>
          </a:bodyPr>
          <a:lstStyle/>
          <a:p>
            <a:r>
              <a:rPr lang="en-US" sz="1600" b="1" dirty="0"/>
              <a:t>Primary trials and conflict reviews are complete. Next: test the identified gaps without changing primary-v1.</a:t>
            </a:r>
            <a:endParaRPr lang="en-US" sz="1600" dirty="0"/>
          </a:p>
        </p:txBody>
      </p:sp>
      <p:sp>
        <p:nvSpPr>
          <p:cNvPr id="45" name="Rectangle 44">
            <a:extLst>
              <a:ext uri="{FF2B5EF4-FFF2-40B4-BE49-F238E27FC236}">
                <a16:creationId xmlns:a16="http://schemas.microsoft.com/office/drawing/2014/main" id="{7B61D17A-E706-43C1-A45E-38246F7A12F8}"/>
              </a:ext>
            </a:extLst>
          </p:cNvPr>
          <p:cNvSpPr/>
          <p:nvPr/>
        </p:nvSpPr>
        <p:spPr>
          <a:xfrm>
            <a:off x="736600" y="6350000"/>
            <a:ext cx="10718800" cy="12700"/>
          </a:xfrm>
          <a:prstGeom prst="rect">
            <a:avLst/>
          </a:prstGeom>
          <a:solidFill>
            <a:srgbClr val="D7DE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6" name="TextBox 45">
            <a:extLst>
              <a:ext uri="{FF2B5EF4-FFF2-40B4-BE49-F238E27FC236}">
                <a16:creationId xmlns:a16="http://schemas.microsoft.com/office/drawing/2014/main" id="{86666913-15A8-4880-A3D5-A3312314511C}"/>
              </a:ext>
            </a:extLst>
          </p:cNvPr>
          <p:cNvSpPr txBox="1"/>
          <p:nvPr/>
        </p:nvSpPr>
        <p:spPr>
          <a:xfrm>
            <a:off x="736600" y="6451600"/>
            <a:ext cx="10718800" cy="203200"/>
          </a:xfrm>
          <a:prstGeom prst="rect">
            <a:avLst/>
          </a:prstGeom>
          <a:noFill/>
        </p:spPr>
        <p:txBody>
          <a:bodyPr vertOverflow="overflow" vert="horz" wrap="square" rtlCol="0" anchor="ctr" anchorCtr="0">
            <a:noAutofit/>
          </a:bodyPr>
          <a:lstStyle/>
          <a:p>
            <a:r>
              <a:rPr lang="en-US" sz="900" b="1" dirty="0"/>
              <a:t>AI disclosure:</a:t>
            </a:r>
            <a:r>
              <a:rPr lang="en-US" sz="900" dirty="0"/>
              <a:t> ChatGPT/Codex assisted development, analysis, and presentation preparation; Tony verified the evidence and made the final review decisions.</a:t>
            </a:r>
            <a:endParaRPr lang="en-US" sz="900" dirty="0">
              <a:solidFill>
                <a:srgbClr val="556070"/>
              </a:solidFill>
              <a:latin typeface="Aptos"/>
            </a:endParaRPr>
          </a:p>
        </p:txBody>
      </p:sp>
    </p:spTree>
    <p:extLst>
      <p:ext uri="{BB962C8B-B14F-4D97-AF65-F5344CB8AC3E}">
        <p14:creationId xmlns:p14="http://schemas.microsoft.com/office/powerpoint/2010/main" val="1502614593"/>
      </p:ext>
    </p:extLst>
  </p:cSld>
  <p:clrMapOvr>
    <a:masterClrMapping/>
  </p:clrMapOvr>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fcaeb239-e0ad-43c4-9739-4084ddd7c62f_wac_v2" id="{21E82CDE-DB0F-446A-AB1C-C548E4C4E61C}" vid="{FC4C4127-EA88-45F9-9442-09B36E6C91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119ABF-F807-4280-A678-E214E72A52E4}">
  <we:reference id="wa200010215" version="2.0.0.0" store="en-US" storeType="OMEX"/>
  <we:alternateReferences>
    <we:reference id="WA200010215" version="2.0.0.0" store="" storeType="OMEX"/>
  </we:alternateReferences>
  <we:properties>
    <we:property name="bps.codex_control.document_id" value="&quot;b1d32555-15a9-44f6-acdd-ee07311ee40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DE0AE46-2EED-447A-8B24-DFD65B70D448}">
  <ds:schemaRefs>
    <ds:schemaRef ds:uri="http://schemas.microsoft.com/sharepoint/v3/contenttype/forms"/>
  </ds:schemaRefs>
</ds:datastoreItem>
</file>

<file path=customXml/itemProps2.xml><?xml version="1.0" encoding="utf-8"?>
<ds:datastoreItem xmlns:ds="http://schemas.openxmlformats.org/officeDocument/2006/customXml" ds:itemID="{EEA42C18-4C38-43BB-8CE3-C963EDA9CBB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C3B381C-6232-408C-B65A-8475398E4C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{7ECE110F-3113-4917-9BDC-9C5B594A5A4C}0f45c1b8-b519-4737-8f12-a18148944ef7-TFfcaeb239-e0ad-43c4-9739-4084ddd7c62fe496f549_win32</Template>
  <TotalTime>343</TotalTime>
  <Words>1863</Words>
  <Application>Microsoft Office PowerPoint</Application>
  <PresentationFormat>Widescreen</PresentationFormat>
  <Paragraphs>123</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Bahnschrift SemiLight</vt:lpstr>
      <vt:lpstr>Blockwork elegance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Tony Tran</dc:creator>
  <cp:lastModifiedBy>Tony Tran</cp:lastModifiedBy>
  <cp:revision>12</cp:revision>
  <dcterms:created xsi:type="dcterms:W3CDTF">2026-09-12T20:38:56Z</dcterms:created>
  <dcterms:modified xsi:type="dcterms:W3CDTF">2026-09-13T21:01:14Z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