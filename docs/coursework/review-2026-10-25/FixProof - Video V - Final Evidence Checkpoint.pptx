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201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364B4C-33B9-49A2-B432-804A0D97B09B}" type="datetimeFigureOut">
              <a:rPr lang="en-US" smtClean="0"/>
              <a:t>10/26/2026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10771D-F7DF-4012-AF9B-BAAA5866C217}" type="slidenum">
              <a:rPr lang="en-US" smtClean="0"/>
              <a:t>‹#›</a:t>
            </a:fld>
            <a:endParaRPr lang="en-US"/>
          </a:p>
        </p:txBody>
      </p:sp>
    </p:spTree>
    <p:extLst>
      <p:ext uri="{BB962C8B-B14F-4D97-AF65-F5344CB8AC3E}">
        <p14:creationId xmlns:p14="http://schemas.microsoft.com/office/powerpoint/2010/main" val="435148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Hi everyone. This is FixProof Video V. Since Video IV, I validated the public
evidence site, rehearsed the package from a clean export, and organized the
final deliverables. This update consolidates results; it adds no experiment.</a:t>
            </a:r>
          </a:p>
        </p:txBody>
      </p:sp>
      <p:sp>
        <p:nvSpPr>
          <p:cNvPr id="4" name="Slide Number Placeholder 3"/>
          <p:cNvSpPr>
            <a:spLocks noGrp="1"/>
          </p:cNvSpPr>
          <p:nvPr>
            <p:ph type="sldNum" sz="quarter" idx="5"/>
          </p:nvPr>
        </p:nvSpPr>
        <p:spPr/>
        <p:txBody>
          <a:bodyPr/>
          <a:lstStyle/>
          <a:p>
            <a:fld id="{E410771D-F7DF-4012-AF9B-BAAA5866C217}" type="slidenum">
              <a:rPr lang="en-US" smtClean="0"/>
              <a:t>1</a:t>
            </a:fld>
            <a:endParaRPr lang="en-US"/>
          </a:p>
        </p:txBody>
      </p:sp>
    </p:spTree>
    <p:extLst>
      <p:ext uri="{BB962C8B-B14F-4D97-AF65-F5344CB8AC3E}">
        <p14:creationId xmlns:p14="http://schemas.microsoft.com/office/powerpoint/2010/main" val="5456235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Video I defined the problem and pilot. Video II completed the frozen
15-candidate primary study. Video III added 140 supplemental observations and
the evidence viewer. Video IV resolved PATH-S06 in WSL2. Today I connect those
results to reproducibility and the final report.</a:t>
            </a:r>
          </a:p>
        </p:txBody>
      </p:sp>
      <p:sp>
        <p:nvSpPr>
          <p:cNvPr id="4" name="Slide Number Placeholder 3"/>
          <p:cNvSpPr>
            <a:spLocks noGrp="1"/>
          </p:cNvSpPr>
          <p:nvPr>
            <p:ph type="sldNum" sz="quarter" idx="5"/>
          </p:nvPr>
        </p:nvSpPr>
        <p:spPr/>
        <p:txBody>
          <a:bodyPr/>
          <a:lstStyle/>
          <a:p>
            <a:fld id="{E410771D-F7DF-4012-AF9B-BAAA5866C217}" type="slidenum">
              <a:rPr lang="en-US" smtClean="0"/>
              <a:t>2</a:t>
            </a:fld>
            <a:endParaRPr lang="en-US"/>
          </a:p>
        </p:txBody>
      </p:sp>
    </p:spTree>
    <p:extLst>
      <p:ext uri="{BB962C8B-B14F-4D97-AF65-F5344CB8AC3E}">
        <p14:creationId xmlns:p14="http://schemas.microsoft.com/office/powerpoint/2010/main" val="1941846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FixProof's Python code coordinates stages; it does not declare a patch secure.
The model proposes code from a finding and focused context. Python applies it
in a copied workspace and invokes syntax, Semgrep, security, and functional
validators. Policy routes the evidence to reject, ready for review, or human
adjudication. A person records the final rationale. Nothing is automatically
approved or deployed.</a:t>
            </a:r>
          </a:p>
        </p:txBody>
      </p:sp>
      <p:sp>
        <p:nvSpPr>
          <p:cNvPr id="4" name="Slide Number Placeholder 3"/>
          <p:cNvSpPr>
            <a:spLocks noGrp="1"/>
          </p:cNvSpPr>
          <p:nvPr>
            <p:ph type="sldNum" sz="quarter" idx="5"/>
          </p:nvPr>
        </p:nvSpPr>
        <p:spPr/>
        <p:txBody>
          <a:bodyPr/>
          <a:lstStyle/>
          <a:p>
            <a:fld id="{E410771D-F7DF-4012-AF9B-BAAA5866C217}" type="slidenum">
              <a:rPr lang="en-US" smtClean="0"/>
              <a:t>3</a:t>
            </a:fld>
            <a:endParaRPr lang="en-US"/>
          </a:p>
        </p:txBody>
      </p:sp>
    </p:spTree>
    <p:extLst>
      <p:ext uri="{BB962C8B-B14F-4D97-AF65-F5344CB8AC3E}">
        <p14:creationId xmlns:p14="http://schemas.microsoft.com/office/powerpoint/2010/main" val="327432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results stay in three layers. Primary-v1 has 15 candidates and 100
observations: five target SAST findings resolved, all candidates passed their
complete primary suites, and 10 produced SAST/runtime disagreement.
Supplemental-v1 has 140 observations: 120 passed, 15 failed, and five were
inconclusive. PATH-S06 adds five conclusive failures. These are different
protocols, not one combined rate.</a:t>
            </a:r>
          </a:p>
        </p:txBody>
      </p:sp>
      <p:sp>
        <p:nvSpPr>
          <p:cNvPr id="4" name="Slide Number Placeholder 3"/>
          <p:cNvSpPr>
            <a:spLocks noGrp="1"/>
          </p:cNvSpPr>
          <p:nvPr>
            <p:ph type="sldNum" sz="quarter" idx="5"/>
          </p:nvPr>
        </p:nvSpPr>
        <p:spPr/>
        <p:txBody>
          <a:bodyPr/>
          <a:lstStyle/>
          <a:p>
            <a:fld id="{E410771D-F7DF-4012-AF9B-BAAA5866C217}" type="slidenum">
              <a:rPr lang="en-US" smtClean="0"/>
              <a:t>4</a:t>
            </a:fld>
            <a:endParaRPr lang="en-US"/>
          </a:p>
        </p:txBody>
      </p:sp>
    </p:spTree>
    <p:extLst>
      <p:ext uri="{BB962C8B-B14F-4D97-AF65-F5344CB8AC3E}">
        <p14:creationId xmlns:p14="http://schemas.microsoft.com/office/powerpoint/2010/main" val="1312246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Different evidence channels changed the interpretation. Registered XSS attacks
were blocked, but four candidates changed the frozen missing-name behavior and
were rejected for parity. SQLi attacks were blocked, while SQL-R01 remains a
recorded repeated-parameter robustness failure. Direct traversal was rejected,
but all five candidates disclosed the marker through a symbolic link. One pass
did not erase another channel's failure.</a:t>
            </a:r>
          </a:p>
        </p:txBody>
      </p:sp>
      <p:sp>
        <p:nvSpPr>
          <p:cNvPr id="4" name="Slide Number Placeholder 3"/>
          <p:cNvSpPr>
            <a:spLocks noGrp="1"/>
          </p:cNvSpPr>
          <p:nvPr>
            <p:ph type="sldNum" sz="quarter" idx="5"/>
          </p:nvPr>
        </p:nvSpPr>
        <p:spPr/>
        <p:txBody>
          <a:bodyPr/>
          <a:lstStyle/>
          <a:p>
            <a:fld id="{E410771D-F7DF-4012-AF9B-BAAA5866C217}" type="slidenum">
              <a:rPr lang="en-US" smtClean="0"/>
              <a:t>5</a:t>
            </a:fld>
            <a:endParaRPr lang="en-US"/>
          </a:p>
        </p:txBody>
      </p:sp>
    </p:spTree>
    <p:extLst>
      <p:ext uri="{BB962C8B-B14F-4D97-AF65-F5344CB8AC3E}">
        <p14:creationId xmlns:p14="http://schemas.microsoft.com/office/powerpoint/2010/main" val="3067958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From a clean Git export, all 131 tests passed, evidence bindings verified, and
controlled demo decisions matched the saved records. The public site presents
15 candidates, 245 case rows, and 29 separately labeled human records. It is a
read-only viewer, not a live test runner.</a:t>
            </a:r>
          </a:p>
        </p:txBody>
      </p:sp>
      <p:sp>
        <p:nvSpPr>
          <p:cNvPr id="4" name="Slide Number Placeholder 3"/>
          <p:cNvSpPr>
            <a:spLocks noGrp="1"/>
          </p:cNvSpPr>
          <p:nvPr>
            <p:ph type="sldNum" sz="quarter" idx="5"/>
          </p:nvPr>
        </p:nvSpPr>
        <p:spPr/>
        <p:txBody>
          <a:bodyPr/>
          <a:lstStyle/>
          <a:p>
            <a:fld id="{E410771D-F7DF-4012-AF9B-BAAA5866C217}" type="slidenum">
              <a:rPr lang="en-US" smtClean="0"/>
              <a:t>6</a:t>
            </a:fld>
            <a:endParaRPr lang="en-US"/>
          </a:p>
        </p:txBody>
      </p:sp>
    </p:spTree>
    <p:extLst>
      <p:ext uri="{BB962C8B-B14F-4D97-AF65-F5344CB8AC3E}">
        <p14:creationId xmlns:p14="http://schemas.microsoft.com/office/powerpoint/2010/main" val="655428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exposed disagreements, regressions, and later qualifications in three
controlled Express fixtures—not production repair reliability. Video IV
feedback split: one reviewer favored a second fixture, and another favored an
independent rerun. I retained the requested audit trail, recorded a second
fixture as future work, and do not call my clean rehearsal independent. Next
are the final report, manifest and checksums, and final presentation.
Is one candidate example enough to explain the separation between validators,
policy, and human judgment?
ChatGPT and Codex assisted development, testing, documentation, and drafting. I
validated the evidence and remain responsible for the claims.</a:t>
            </a:r>
          </a:p>
        </p:txBody>
      </p:sp>
      <p:sp>
        <p:nvSpPr>
          <p:cNvPr id="4" name="Slide Number Placeholder 3"/>
          <p:cNvSpPr>
            <a:spLocks noGrp="1"/>
          </p:cNvSpPr>
          <p:nvPr>
            <p:ph type="sldNum" sz="quarter" idx="5"/>
          </p:nvPr>
        </p:nvSpPr>
        <p:spPr/>
        <p:txBody>
          <a:bodyPr/>
          <a:lstStyle/>
          <a:p>
            <a:fld id="{E410771D-F7DF-4012-AF9B-BAAA5866C217}" type="slidenum">
              <a:rPr lang="en-US" smtClean="0"/>
              <a:t>7</a:t>
            </a:fld>
            <a:endParaRPr lang="en-US"/>
          </a:p>
        </p:txBody>
      </p:sp>
    </p:spTree>
    <p:extLst>
      <p:ext uri="{BB962C8B-B14F-4D97-AF65-F5344CB8AC3E}">
        <p14:creationId xmlns:p14="http://schemas.microsoft.com/office/powerpoint/2010/main" val="895358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EBE3A-74C0-C7F5-C229-5989BF55C9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DB0136-AD34-6B4F-2F14-BFB396103B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FCA9DF3-A6D3-C839-7698-3A8CEC040951}"/>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BEF59C13-F50C-3B03-021B-933ED6801D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61E13A-9ABD-360A-818C-39A840B87A74}"/>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3648024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EA10F-FFF2-A32A-6267-14E5DE3305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0E358A-B961-BFF2-5B05-AC7C468336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0CF60E-5D17-71F1-2A5D-86EBCA5634D5}"/>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545FC057-420D-7E18-65A1-893655E014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DB55F6-CE02-6E3F-83CF-60A876AAA1F1}"/>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575527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9306D-545F-8A8A-6C51-5374F396A7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1F2D96-31B2-1269-FA16-1AD36C5178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22FF8C-B5C2-6903-EAB0-0A8098CB4D46}"/>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7870F5A2-E289-294A-882F-6F8C046D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2FC9ED-674D-1D61-09BC-793D17FD7F36}"/>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2849194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BC62-C157-41AE-AD03-C3C2DB8436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B8F9E6-F5B4-70A2-49E4-6C3AF3D2A1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D56045-9E4F-6F79-1E2E-F78424458B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AC1519-12C0-F34A-DB61-BEAC34412ECC}"/>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6" name="Footer Placeholder 5">
            <a:extLst>
              <a:ext uri="{FF2B5EF4-FFF2-40B4-BE49-F238E27FC236}">
                <a16:creationId xmlns:a16="http://schemas.microsoft.com/office/drawing/2014/main" id="{3753C643-27B9-4215-C8F3-C090B4C584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830948-783A-7E7B-2A8F-9D70CF9EBBE1}"/>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656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EED7-AF76-44A0-4827-9A876AEF93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7B2CC51-881C-4626-6947-CC847D531A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D4D4D8-C17C-39C2-EB98-6148B4025A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87424B-E362-83A2-5503-E70D40D066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F312C8-8DE9-6B94-0F0A-8C755C03B5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DF529D-9A9D-176B-B528-62B6704926B8}"/>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8" name="Footer Placeholder 7">
            <a:extLst>
              <a:ext uri="{FF2B5EF4-FFF2-40B4-BE49-F238E27FC236}">
                <a16:creationId xmlns:a16="http://schemas.microsoft.com/office/drawing/2014/main" id="{BA1A56C0-007A-103B-E848-819CF6F29F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048FA9-9FCA-FF1D-5A82-86E18CF62087}"/>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1505680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77E2-A597-EFB8-5E50-7BF4F00D3C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015138-10FB-8E57-549C-845AB4A3C1CF}"/>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4" name="Footer Placeholder 3">
            <a:extLst>
              <a:ext uri="{FF2B5EF4-FFF2-40B4-BE49-F238E27FC236}">
                <a16:creationId xmlns:a16="http://schemas.microsoft.com/office/drawing/2014/main" id="{00731ABC-49E2-C556-739B-12C30EE137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E2EF01-C46A-D8A0-CD89-5ABA70DBBC56}"/>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132280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2FDC35-BAEB-7884-6C36-6464C63C1F09}"/>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3" name="Footer Placeholder 2">
            <a:extLst>
              <a:ext uri="{FF2B5EF4-FFF2-40B4-BE49-F238E27FC236}">
                <a16:creationId xmlns:a16="http://schemas.microsoft.com/office/drawing/2014/main" id="{A9770A8E-4DE0-BEB6-4A03-8F3C7C44DF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4C4D67-E0B2-C33F-07C7-51192C44706F}"/>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4011228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89157-CC5B-E1B2-2DFF-05F09E6F57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B13131-52B5-11F9-C4A5-7A8899354D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B4ECDE-3E62-C40F-1862-C3E975DD56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CD46DA-58C1-7C58-6F96-F57857A1DEF5}"/>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6" name="Footer Placeholder 5">
            <a:extLst>
              <a:ext uri="{FF2B5EF4-FFF2-40B4-BE49-F238E27FC236}">
                <a16:creationId xmlns:a16="http://schemas.microsoft.com/office/drawing/2014/main" id="{932E9795-7904-B13A-B42B-982A5CB37A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8A386E-BDE8-5EB0-F19F-359E2DA9C991}"/>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3859511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BAC42-6105-BCE5-243A-FA91F058E0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5B287A-173B-20DF-2CD7-7957E8448E0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D026BF-C97B-D8FC-012C-EE8277199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D5E518-C724-37DA-2F88-F1AC9EBED64F}"/>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6" name="Footer Placeholder 5">
            <a:extLst>
              <a:ext uri="{FF2B5EF4-FFF2-40B4-BE49-F238E27FC236}">
                <a16:creationId xmlns:a16="http://schemas.microsoft.com/office/drawing/2014/main" id="{9719003D-2674-4B00-8840-43413B44C1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428446-64E1-4FC6-8620-D91CEAFD2A32}"/>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259044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C94C-F4FA-4ED7-E0BC-43C28D17F5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C002845-D048-1279-1EAC-C0F9134898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5A3CD-42FA-18CE-7D11-767C754320EA}"/>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198DB0DB-9505-668B-035C-8494AACE8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70B004-C00D-4B71-D32A-200DADB32C0A}"/>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783402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619008-76A1-BE82-AD44-2B46FA5370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9C4C487-12ED-F8C5-E06E-80735F591F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379D5-0426-F5FC-D9D7-363B50AA2E1D}"/>
              </a:ext>
            </a:extLst>
          </p:cNvPr>
          <p:cNvSpPr>
            <a:spLocks noGrp="1"/>
          </p:cNvSpPr>
          <p:nvPr>
            <p:ph type="dt" sz="half" idx="10"/>
          </p:nvPr>
        </p:nvSpPr>
        <p:spPr/>
        <p:txBody>
          <a:body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8187FCB9-670E-F957-7D9C-20ACD11C1F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4B740-609E-6C94-978A-82416E7AE49F}"/>
              </a:ext>
            </a:extLst>
          </p:cNvPr>
          <p:cNvSpPr>
            <a:spLocks noGrp="1"/>
          </p:cNvSpPr>
          <p:nvPr>
            <p:ph type="sldNum" sz="quarter" idx="12"/>
          </p:nvPr>
        </p:nvSpPr>
        <p:spPr/>
        <p:txBody>
          <a:bodyPr/>
          <a:lstStyle/>
          <a:p>
            <a:fld id="{8C34E1F9-BFB2-47D3-BC8B-67B8C7F4FD80}" type="slidenum">
              <a:rPr lang="en-US" smtClean="0"/>
              <a:t>‹#›</a:t>
            </a:fld>
            <a:endParaRPr lang="en-US"/>
          </a:p>
        </p:txBody>
      </p:sp>
    </p:spTree>
    <p:extLst>
      <p:ext uri="{BB962C8B-B14F-4D97-AF65-F5344CB8AC3E}">
        <p14:creationId xmlns:p14="http://schemas.microsoft.com/office/powerpoint/2010/main" val="2305696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71DEFD-7B0A-BC36-3E40-E3BF5E87F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998330-BF8B-6428-E901-48C51A3DF3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940988-462B-F676-4EFB-A8E610BE20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60D58E-3E2B-44B0-91AF-436A738F3104}" type="datetimeFigureOut">
              <a:rPr lang="en-US" smtClean="0"/>
              <a:t>10/26/2026</a:t>
            </a:fld>
            <a:endParaRPr lang="en-US"/>
          </a:p>
        </p:txBody>
      </p:sp>
      <p:sp>
        <p:nvSpPr>
          <p:cNvPr id="5" name="Footer Placeholder 4">
            <a:extLst>
              <a:ext uri="{FF2B5EF4-FFF2-40B4-BE49-F238E27FC236}">
                <a16:creationId xmlns:a16="http://schemas.microsoft.com/office/drawing/2014/main" id="{234D3A32-6709-AC2C-63C6-1542138DDB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07A494-D644-EA11-65AB-A696037954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34E1F9-BFB2-47D3-BC8B-67B8C7F4FD80}" type="slidenum">
              <a:rPr lang="en-US" smtClean="0"/>
              <a:t>‹#›</a:t>
            </a:fld>
            <a:endParaRPr lang="en-US"/>
          </a:p>
        </p:txBody>
      </p:sp>
    </p:spTree>
    <p:extLst>
      <p:ext uri="{BB962C8B-B14F-4D97-AF65-F5344CB8AC3E}">
        <p14:creationId xmlns:p14="http://schemas.microsoft.com/office/powerpoint/2010/main" val="251300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646"/>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626C591-B2EA-5E5A-49B1-6B7BD4F3A4C8}"/>
              </a:ext>
            </a:extLst>
          </p:cNvPr>
          <p:cNvSpPr/>
          <p:nvPr/>
        </p:nvSpPr>
        <p:spPr>
          <a:xfrm>
            <a:off x="736600" y="635000"/>
            <a:ext cx="1905000" cy="381000"/>
          </a:xfrm>
          <a:prstGeom prst="roundRect">
            <a:avLst/>
          </a:prstGeom>
          <a:solidFill>
            <a:srgbClr val="E0963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68B68B-4483-6845-F257-E838D198D988}"/>
              </a:ext>
            </a:extLst>
          </p:cNvPr>
          <p:cNvSpPr txBox="1"/>
          <p:nvPr/>
        </p:nvSpPr>
        <p:spPr>
          <a:xfrm>
            <a:off x="736600" y="698500"/>
            <a:ext cx="1905000" cy="276999"/>
          </a:xfrm>
          <a:prstGeom prst="rect">
            <a:avLst/>
          </a:prstGeom>
          <a:noFill/>
        </p:spPr>
        <p:txBody>
          <a:bodyPr vert="horz" wrap="square" lIns="0" tIns="0" rIns="0" bIns="0" rtlCol="0" anchor="ctr">
            <a:noAutofit/>
          </a:bodyPr>
          <a:lstStyle/>
          <a:p>
            <a:pPr algn="ctr"/>
            <a:r>
              <a:rPr lang="en-US" sz="1200" b="1">
                <a:solidFill>
                  <a:srgbClr val="102646"/>
                </a:solidFill>
                <a:latin typeface="Aptos" panose="020B0004020202020204" pitchFamily="34" charset="0"/>
              </a:rPr>
              <a:t>POST VIDEO V</a:t>
            </a:r>
          </a:p>
        </p:txBody>
      </p:sp>
      <p:sp>
        <p:nvSpPr>
          <p:cNvPr id="4" name="TextBox 3">
            <a:extLst>
              <a:ext uri="{FF2B5EF4-FFF2-40B4-BE49-F238E27FC236}">
                <a16:creationId xmlns:a16="http://schemas.microsoft.com/office/drawing/2014/main" id="{E1080A0C-B265-6FD4-118A-AB4F8C14BABA}"/>
              </a:ext>
            </a:extLst>
          </p:cNvPr>
          <p:cNvSpPr txBox="1"/>
          <p:nvPr/>
        </p:nvSpPr>
        <p:spPr>
          <a:xfrm>
            <a:off x="736600" y="1397000"/>
            <a:ext cx="4191000" cy="276999"/>
          </a:xfrm>
          <a:prstGeom prst="rect">
            <a:avLst/>
          </a:prstGeom>
          <a:noFill/>
        </p:spPr>
        <p:txBody>
          <a:bodyPr vert="horz" wrap="square" lIns="0" tIns="0" rIns="0" bIns="0" rtlCol="0" anchor="t">
            <a:noAutofit/>
          </a:bodyPr>
          <a:lstStyle/>
          <a:p>
            <a:r>
              <a:rPr lang="en-US" sz="3900" b="1">
                <a:solidFill>
                  <a:srgbClr val="FFFFFF"/>
                </a:solidFill>
                <a:latin typeface="Aptos" panose="020B0004020202020204" pitchFamily="34" charset="0"/>
              </a:rPr>
              <a:t>FIXPROOF</a:t>
            </a:r>
          </a:p>
        </p:txBody>
      </p:sp>
      <p:sp>
        <p:nvSpPr>
          <p:cNvPr id="5" name="TextBox 4">
            <a:extLst>
              <a:ext uri="{FF2B5EF4-FFF2-40B4-BE49-F238E27FC236}">
                <a16:creationId xmlns:a16="http://schemas.microsoft.com/office/drawing/2014/main" id="{4BF4830C-A9F7-1F50-4D0B-F8CF05837770}"/>
              </a:ext>
            </a:extLst>
          </p:cNvPr>
          <p:cNvSpPr txBox="1"/>
          <p:nvPr/>
        </p:nvSpPr>
        <p:spPr>
          <a:xfrm>
            <a:off x="736600" y="2209800"/>
            <a:ext cx="10414000" cy="276999"/>
          </a:xfrm>
          <a:prstGeom prst="rect">
            <a:avLst/>
          </a:prstGeom>
          <a:noFill/>
        </p:spPr>
        <p:txBody>
          <a:bodyPr vert="horz" wrap="square" lIns="0" tIns="0" rIns="0" bIns="0" rtlCol="0" anchor="t">
            <a:noAutofit/>
          </a:bodyPr>
          <a:lstStyle/>
          <a:p>
            <a:r>
              <a:rPr lang="en-US" sz="3100" b="1">
                <a:solidFill>
                  <a:srgbClr val="FFFFFF"/>
                </a:solidFill>
                <a:latin typeface="Aptos" panose="020B0004020202020204" pitchFamily="34" charset="0"/>
              </a:rPr>
              <a:t>From AI-proposed patch to reviewable evidence</a:t>
            </a:r>
          </a:p>
        </p:txBody>
      </p:sp>
      <p:sp>
        <p:nvSpPr>
          <p:cNvPr id="6" name="TextBox 5">
            <a:extLst>
              <a:ext uri="{FF2B5EF4-FFF2-40B4-BE49-F238E27FC236}">
                <a16:creationId xmlns:a16="http://schemas.microsoft.com/office/drawing/2014/main" id="{8F606592-97BD-0379-9E31-1B34BA2C6065}"/>
              </a:ext>
            </a:extLst>
          </p:cNvPr>
          <p:cNvSpPr txBox="1"/>
          <p:nvPr/>
        </p:nvSpPr>
        <p:spPr>
          <a:xfrm>
            <a:off x="736600" y="3454400"/>
            <a:ext cx="9652000" cy="276999"/>
          </a:xfrm>
          <a:prstGeom prst="rect">
            <a:avLst/>
          </a:prstGeom>
          <a:noFill/>
        </p:spPr>
        <p:txBody>
          <a:bodyPr vert="horz" wrap="square" lIns="0" tIns="0" rIns="0" bIns="0" rtlCol="0" anchor="t">
            <a:noAutofit/>
          </a:bodyPr>
          <a:lstStyle/>
          <a:p>
            <a:r>
              <a:rPr lang="en-US" sz="1700">
                <a:solidFill>
                  <a:srgbClr val="BED2EB"/>
                </a:solidFill>
                <a:latin typeface="Aptos" panose="020B0004020202020204" pitchFamily="34" charset="0"/>
              </a:rPr>
              <a:t>Final evidence and reproducibility checkpoint</a:t>
            </a:r>
          </a:p>
        </p:txBody>
      </p:sp>
      <p:sp>
        <p:nvSpPr>
          <p:cNvPr id="7" name="Rectangle: Rounded Corners 6">
            <a:extLst>
              <a:ext uri="{FF2B5EF4-FFF2-40B4-BE49-F238E27FC236}">
                <a16:creationId xmlns:a16="http://schemas.microsoft.com/office/drawing/2014/main" id="{DE70FE5E-BE16-AD9D-FAB5-B11857ED9F25}"/>
              </a:ext>
            </a:extLst>
          </p:cNvPr>
          <p:cNvSpPr/>
          <p:nvPr/>
        </p:nvSpPr>
        <p:spPr>
          <a:xfrm>
            <a:off x="736600" y="4445000"/>
            <a:ext cx="2159000" cy="381000"/>
          </a:xfrm>
          <a:prstGeom prst="roundRect">
            <a:avLst/>
          </a:prstGeom>
          <a:solidFill>
            <a:srgbClr val="496FA8"/>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A25FE87-4428-1EA3-C7BD-956C4A298EDA}"/>
              </a:ext>
            </a:extLst>
          </p:cNvPr>
          <p:cNvSpPr txBox="1"/>
          <p:nvPr/>
        </p:nvSpPr>
        <p:spPr>
          <a:xfrm>
            <a:off x="736600" y="4508500"/>
            <a:ext cx="21590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15 CANDIDATES</a:t>
            </a:r>
          </a:p>
        </p:txBody>
      </p:sp>
      <p:sp>
        <p:nvSpPr>
          <p:cNvPr id="9" name="Rectangle: Rounded Corners 8">
            <a:extLst>
              <a:ext uri="{FF2B5EF4-FFF2-40B4-BE49-F238E27FC236}">
                <a16:creationId xmlns:a16="http://schemas.microsoft.com/office/drawing/2014/main" id="{82EBEE78-9C77-67F5-B27B-060078724586}"/>
              </a:ext>
            </a:extLst>
          </p:cNvPr>
          <p:cNvSpPr/>
          <p:nvPr/>
        </p:nvSpPr>
        <p:spPr>
          <a:xfrm>
            <a:off x="3098800" y="4445000"/>
            <a:ext cx="2159000" cy="381000"/>
          </a:xfrm>
          <a:prstGeom prst="roundRect">
            <a:avLst/>
          </a:prstGeom>
          <a:solidFill>
            <a:srgbClr val="755D9B"/>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ED3DEBB-BBFF-DBC4-DC52-9EA5EC809730}"/>
              </a:ext>
            </a:extLst>
          </p:cNvPr>
          <p:cNvSpPr txBox="1"/>
          <p:nvPr/>
        </p:nvSpPr>
        <p:spPr>
          <a:xfrm>
            <a:off x="3098800" y="4508500"/>
            <a:ext cx="21590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245 CASE ROWS</a:t>
            </a:r>
          </a:p>
        </p:txBody>
      </p:sp>
      <p:sp>
        <p:nvSpPr>
          <p:cNvPr id="11" name="Rectangle: Rounded Corners 10">
            <a:extLst>
              <a:ext uri="{FF2B5EF4-FFF2-40B4-BE49-F238E27FC236}">
                <a16:creationId xmlns:a16="http://schemas.microsoft.com/office/drawing/2014/main" id="{3C8CAC2B-1C07-C3CC-535D-5764EBC4443F}"/>
              </a:ext>
            </a:extLst>
          </p:cNvPr>
          <p:cNvSpPr/>
          <p:nvPr/>
        </p:nvSpPr>
        <p:spPr>
          <a:xfrm>
            <a:off x="5461000" y="4445000"/>
            <a:ext cx="2413000" cy="381000"/>
          </a:xfrm>
          <a:prstGeom prst="roundRect">
            <a:avLst/>
          </a:prstGeom>
          <a:solidFill>
            <a:srgbClr val="3D8974"/>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A8A74D1-A4A1-388E-F54C-5B012BA0AA06}"/>
              </a:ext>
            </a:extLst>
          </p:cNvPr>
          <p:cNvSpPr txBox="1"/>
          <p:nvPr/>
        </p:nvSpPr>
        <p:spPr>
          <a:xfrm>
            <a:off x="5461000" y="4508500"/>
            <a:ext cx="24130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131 TESTS PASSED</a:t>
            </a:r>
          </a:p>
        </p:txBody>
      </p:sp>
      <p:sp>
        <p:nvSpPr>
          <p:cNvPr id="13" name="TextBox 12">
            <a:extLst>
              <a:ext uri="{FF2B5EF4-FFF2-40B4-BE49-F238E27FC236}">
                <a16:creationId xmlns:a16="http://schemas.microsoft.com/office/drawing/2014/main" id="{52836FBD-F278-BCEC-8628-615261D350BF}"/>
              </a:ext>
            </a:extLst>
          </p:cNvPr>
          <p:cNvSpPr txBox="1"/>
          <p:nvPr/>
        </p:nvSpPr>
        <p:spPr>
          <a:xfrm>
            <a:off x="736600" y="6248400"/>
            <a:ext cx="8890000" cy="276999"/>
          </a:xfrm>
          <a:prstGeom prst="rect">
            <a:avLst/>
          </a:prstGeom>
          <a:noFill/>
        </p:spPr>
        <p:txBody>
          <a:bodyPr vert="horz" wrap="square" lIns="0" tIns="0" rIns="0" bIns="0" rtlCol="0" anchor="t">
            <a:noAutofit/>
          </a:bodyPr>
          <a:lstStyle/>
          <a:p>
            <a:r>
              <a:rPr lang="en-US" sz="1100">
                <a:solidFill>
                  <a:srgbClr val="B4CAE6"/>
                </a:solidFill>
                <a:latin typeface="Aptos" panose="020B0004020202020204" pitchFamily="34" charset="0"/>
              </a:rPr>
              <a:t>Tony Tran | CS6727 Cyber Security Practicum | October 2026</a:t>
            </a:r>
          </a:p>
        </p:txBody>
      </p:sp>
      <p:sp>
        <p:nvSpPr>
          <p:cNvPr id="14" name="TextBox 13">
            <a:extLst>
              <a:ext uri="{FF2B5EF4-FFF2-40B4-BE49-F238E27FC236}">
                <a16:creationId xmlns:a16="http://schemas.microsoft.com/office/drawing/2014/main" id="{7EBF5677-F222-C973-563B-72E9B8159829}"/>
              </a:ext>
            </a:extLst>
          </p:cNvPr>
          <p:cNvSpPr txBox="1"/>
          <p:nvPr/>
        </p:nvSpPr>
        <p:spPr>
          <a:xfrm>
            <a:off x="11239500" y="6248400"/>
            <a:ext cx="342900" cy="276999"/>
          </a:xfrm>
          <a:prstGeom prst="rect">
            <a:avLst/>
          </a:prstGeom>
          <a:noFill/>
        </p:spPr>
        <p:txBody>
          <a:bodyPr vert="horz" wrap="square" lIns="0" tIns="0" rIns="0" bIns="0" rtlCol="0" anchor="t">
            <a:noAutofit/>
          </a:bodyPr>
          <a:lstStyle/>
          <a:p>
            <a:pPr algn="r"/>
            <a:r>
              <a:rPr lang="en-US" sz="1100">
                <a:solidFill>
                  <a:srgbClr val="B4CAE6"/>
                </a:solidFill>
                <a:latin typeface="Aptos" panose="020B0004020202020204" pitchFamily="34" charset="0"/>
              </a:rPr>
              <a:t>1</a:t>
            </a:r>
          </a:p>
        </p:txBody>
      </p:sp>
    </p:spTree>
    <p:extLst>
      <p:ext uri="{BB962C8B-B14F-4D97-AF65-F5344CB8AC3E}">
        <p14:creationId xmlns:p14="http://schemas.microsoft.com/office/powerpoint/2010/main" val="290474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FA6110-5C39-0032-4958-C23319E2F9CA}"/>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1. CHRONOLOGICAL RESEARCH PATH</a:t>
            </a:r>
          </a:p>
        </p:txBody>
      </p:sp>
      <p:sp>
        <p:nvSpPr>
          <p:cNvPr id="3" name="TextBox 2">
            <a:extLst>
              <a:ext uri="{FF2B5EF4-FFF2-40B4-BE49-F238E27FC236}">
                <a16:creationId xmlns:a16="http://schemas.microsoft.com/office/drawing/2014/main" id="{2F9282B3-3093-0BEA-4741-3ADF6B1BFB65}"/>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How the project progressed</a:t>
            </a:r>
          </a:p>
        </p:txBody>
      </p:sp>
      <p:cxnSp>
        <p:nvCxnSpPr>
          <p:cNvPr id="4" name="Straight Connector 3">
            <a:extLst>
              <a:ext uri="{FF2B5EF4-FFF2-40B4-BE49-F238E27FC236}">
                <a16:creationId xmlns:a16="http://schemas.microsoft.com/office/drawing/2014/main" id="{C8939C0B-E3BD-5E7F-FB85-6C0D062551FA}"/>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A28393A-53BB-3912-8EB8-6444A2D1CC95}"/>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E8703B73-5A40-A4D8-0866-AA9FF88820D7}"/>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2</a:t>
            </a:r>
          </a:p>
        </p:txBody>
      </p:sp>
      <p:sp>
        <p:nvSpPr>
          <p:cNvPr id="7" name="Rectangle: Rounded Corners 6">
            <a:extLst>
              <a:ext uri="{FF2B5EF4-FFF2-40B4-BE49-F238E27FC236}">
                <a16:creationId xmlns:a16="http://schemas.microsoft.com/office/drawing/2014/main" id="{0CB9E965-69F5-378A-EDDA-48D410A80749}"/>
              </a:ext>
            </a:extLst>
          </p:cNvPr>
          <p:cNvSpPr/>
          <p:nvPr/>
        </p:nvSpPr>
        <p:spPr>
          <a:xfrm>
            <a:off x="609600" y="1955800"/>
            <a:ext cx="1930400" cy="2844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A04F7C3-ADB5-C945-8F8B-0F70C5D63225}"/>
              </a:ext>
            </a:extLst>
          </p:cNvPr>
          <p:cNvSpPr/>
          <p:nvPr/>
        </p:nvSpPr>
        <p:spPr>
          <a:xfrm>
            <a:off x="1270000" y="1600200"/>
            <a:ext cx="609600" cy="609600"/>
          </a:xfrm>
          <a:prstGeom prst="ellipse">
            <a:avLst/>
          </a:prstGeom>
          <a:solidFill>
            <a:srgbClr val="496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4C81A9F-91FC-110A-9CBA-6816EFD09601}"/>
              </a:ext>
            </a:extLst>
          </p:cNvPr>
          <p:cNvSpPr txBox="1"/>
          <p:nvPr/>
        </p:nvSpPr>
        <p:spPr>
          <a:xfrm>
            <a:off x="1422400" y="1778000"/>
            <a:ext cx="304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I</a:t>
            </a:r>
          </a:p>
        </p:txBody>
      </p:sp>
      <p:sp>
        <p:nvSpPr>
          <p:cNvPr id="10" name="TextBox 9">
            <a:extLst>
              <a:ext uri="{FF2B5EF4-FFF2-40B4-BE49-F238E27FC236}">
                <a16:creationId xmlns:a16="http://schemas.microsoft.com/office/drawing/2014/main" id="{F8466152-986F-640C-751F-73087C8A18C6}"/>
              </a:ext>
            </a:extLst>
          </p:cNvPr>
          <p:cNvSpPr txBox="1"/>
          <p:nvPr/>
        </p:nvSpPr>
        <p:spPr>
          <a:xfrm>
            <a:off x="787400" y="2336800"/>
            <a:ext cx="15748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Problem + pilot</a:t>
            </a:r>
          </a:p>
        </p:txBody>
      </p:sp>
      <p:sp>
        <p:nvSpPr>
          <p:cNvPr id="11" name="TextBox 10">
            <a:extLst>
              <a:ext uri="{FF2B5EF4-FFF2-40B4-BE49-F238E27FC236}">
                <a16:creationId xmlns:a16="http://schemas.microsoft.com/office/drawing/2014/main" id="{06EAE32D-A79C-8B7C-9A02-E6427EB7112C}"/>
              </a:ext>
            </a:extLst>
          </p:cNvPr>
          <p:cNvSpPr txBox="1"/>
          <p:nvPr/>
        </p:nvSpPr>
        <p:spPr>
          <a:xfrm>
            <a:off x="787400" y="2984500"/>
            <a:ext cx="1574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Research question
Three CWEs
Initial pipeline</a:t>
            </a:r>
          </a:p>
        </p:txBody>
      </p:sp>
      <p:sp>
        <p:nvSpPr>
          <p:cNvPr id="12" name="Rectangle: Rounded Corners 11">
            <a:extLst>
              <a:ext uri="{FF2B5EF4-FFF2-40B4-BE49-F238E27FC236}">
                <a16:creationId xmlns:a16="http://schemas.microsoft.com/office/drawing/2014/main" id="{79D76777-C965-E77D-AC5D-7CA4F4622A25}"/>
              </a:ext>
            </a:extLst>
          </p:cNvPr>
          <p:cNvSpPr/>
          <p:nvPr/>
        </p:nvSpPr>
        <p:spPr>
          <a:xfrm>
            <a:off x="2870200" y="1955800"/>
            <a:ext cx="1930400" cy="2844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7126FB-1C42-4976-6290-0019AEB7A368}"/>
              </a:ext>
            </a:extLst>
          </p:cNvPr>
          <p:cNvSpPr/>
          <p:nvPr/>
        </p:nvSpPr>
        <p:spPr>
          <a:xfrm>
            <a:off x="3530600" y="1600200"/>
            <a:ext cx="609600" cy="609600"/>
          </a:xfrm>
          <a:prstGeom prst="ellipse">
            <a:avLst/>
          </a:prstGeom>
          <a:solidFill>
            <a:srgbClr val="496FA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2FA6FD5-D9F9-C703-E9BD-F7AC1A1F7649}"/>
              </a:ext>
            </a:extLst>
          </p:cNvPr>
          <p:cNvSpPr txBox="1"/>
          <p:nvPr/>
        </p:nvSpPr>
        <p:spPr>
          <a:xfrm>
            <a:off x="3683000" y="1778000"/>
            <a:ext cx="304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II</a:t>
            </a:r>
          </a:p>
        </p:txBody>
      </p:sp>
      <p:sp>
        <p:nvSpPr>
          <p:cNvPr id="15" name="TextBox 14">
            <a:extLst>
              <a:ext uri="{FF2B5EF4-FFF2-40B4-BE49-F238E27FC236}">
                <a16:creationId xmlns:a16="http://schemas.microsoft.com/office/drawing/2014/main" id="{9481BC28-9D2D-FC43-4D80-EAB96A842B28}"/>
              </a:ext>
            </a:extLst>
          </p:cNvPr>
          <p:cNvSpPr txBox="1"/>
          <p:nvPr/>
        </p:nvSpPr>
        <p:spPr>
          <a:xfrm>
            <a:off x="3048000" y="2336800"/>
            <a:ext cx="15748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Primary-v1</a:t>
            </a:r>
          </a:p>
        </p:txBody>
      </p:sp>
      <p:sp>
        <p:nvSpPr>
          <p:cNvPr id="16" name="TextBox 15">
            <a:extLst>
              <a:ext uri="{FF2B5EF4-FFF2-40B4-BE49-F238E27FC236}">
                <a16:creationId xmlns:a16="http://schemas.microsoft.com/office/drawing/2014/main" id="{5A3E750A-49BC-282E-54FE-25B028FD1605}"/>
              </a:ext>
            </a:extLst>
          </p:cNvPr>
          <p:cNvSpPr txBox="1"/>
          <p:nvPr/>
        </p:nvSpPr>
        <p:spPr>
          <a:xfrm>
            <a:off x="3048000" y="2984500"/>
            <a:ext cx="1574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15 candidates
100 observations
10 conflicts</a:t>
            </a:r>
          </a:p>
        </p:txBody>
      </p:sp>
      <p:sp>
        <p:nvSpPr>
          <p:cNvPr id="17" name="Rectangle: Rounded Corners 16">
            <a:extLst>
              <a:ext uri="{FF2B5EF4-FFF2-40B4-BE49-F238E27FC236}">
                <a16:creationId xmlns:a16="http://schemas.microsoft.com/office/drawing/2014/main" id="{4D15C50B-D33D-2883-E916-2F36E9773E28}"/>
              </a:ext>
            </a:extLst>
          </p:cNvPr>
          <p:cNvSpPr/>
          <p:nvPr/>
        </p:nvSpPr>
        <p:spPr>
          <a:xfrm>
            <a:off x="5130800" y="1955800"/>
            <a:ext cx="1930400" cy="2844800"/>
          </a:xfrm>
          <a:prstGeom prst="roundRect">
            <a:avLst/>
          </a:prstGeom>
          <a:solidFill>
            <a:srgbClr val="FFF4E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E5130D4-2B87-A87C-D74A-20E6A7976514}"/>
              </a:ext>
            </a:extLst>
          </p:cNvPr>
          <p:cNvSpPr/>
          <p:nvPr/>
        </p:nvSpPr>
        <p:spPr>
          <a:xfrm>
            <a:off x="5791200" y="1600200"/>
            <a:ext cx="609600" cy="609600"/>
          </a:xfrm>
          <a:prstGeom prst="ellipse">
            <a:avLst/>
          </a:prstGeom>
          <a:solidFill>
            <a:srgbClr val="E096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943B227-CDA2-E46B-7434-EBB7921DACB7}"/>
              </a:ext>
            </a:extLst>
          </p:cNvPr>
          <p:cNvSpPr txBox="1"/>
          <p:nvPr/>
        </p:nvSpPr>
        <p:spPr>
          <a:xfrm>
            <a:off x="5943600" y="1778000"/>
            <a:ext cx="304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III</a:t>
            </a:r>
          </a:p>
        </p:txBody>
      </p:sp>
      <p:sp>
        <p:nvSpPr>
          <p:cNvPr id="20" name="TextBox 19">
            <a:extLst>
              <a:ext uri="{FF2B5EF4-FFF2-40B4-BE49-F238E27FC236}">
                <a16:creationId xmlns:a16="http://schemas.microsoft.com/office/drawing/2014/main" id="{CC651C83-F472-2B77-D40F-76F0809D5C98}"/>
              </a:ext>
            </a:extLst>
          </p:cNvPr>
          <p:cNvSpPr txBox="1"/>
          <p:nvPr/>
        </p:nvSpPr>
        <p:spPr>
          <a:xfrm>
            <a:off x="5308600" y="2336800"/>
            <a:ext cx="15748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Supplemental-v1</a:t>
            </a:r>
          </a:p>
        </p:txBody>
      </p:sp>
      <p:sp>
        <p:nvSpPr>
          <p:cNvPr id="21" name="TextBox 20">
            <a:extLst>
              <a:ext uri="{FF2B5EF4-FFF2-40B4-BE49-F238E27FC236}">
                <a16:creationId xmlns:a16="http://schemas.microsoft.com/office/drawing/2014/main" id="{ADD8E3BD-E7E5-BFA2-B46A-10FF9AD99E3E}"/>
              </a:ext>
            </a:extLst>
          </p:cNvPr>
          <p:cNvSpPr txBox="1"/>
          <p:nvPr/>
        </p:nvSpPr>
        <p:spPr>
          <a:xfrm>
            <a:off x="5308600" y="2984500"/>
            <a:ext cx="1574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140 observations
Later reviews
Public viewer</a:t>
            </a:r>
          </a:p>
        </p:txBody>
      </p:sp>
      <p:sp>
        <p:nvSpPr>
          <p:cNvPr id="22" name="Rectangle: Rounded Corners 21">
            <a:extLst>
              <a:ext uri="{FF2B5EF4-FFF2-40B4-BE49-F238E27FC236}">
                <a16:creationId xmlns:a16="http://schemas.microsoft.com/office/drawing/2014/main" id="{CD4A60D4-54E6-699D-E276-674C59503CCC}"/>
              </a:ext>
            </a:extLst>
          </p:cNvPr>
          <p:cNvSpPr/>
          <p:nvPr/>
        </p:nvSpPr>
        <p:spPr>
          <a:xfrm>
            <a:off x="7391400" y="1955800"/>
            <a:ext cx="1930400" cy="2844800"/>
          </a:xfrm>
          <a:prstGeom prst="roundRect">
            <a:avLst/>
          </a:prstGeom>
          <a:solidFill>
            <a:srgbClr val="F2EDFA"/>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EF5F72F-9479-FEB8-1287-31658D5E9979}"/>
              </a:ext>
            </a:extLst>
          </p:cNvPr>
          <p:cNvSpPr/>
          <p:nvPr/>
        </p:nvSpPr>
        <p:spPr>
          <a:xfrm>
            <a:off x="8051800" y="1600200"/>
            <a:ext cx="609600" cy="609600"/>
          </a:xfrm>
          <a:prstGeom prst="ellipse">
            <a:avLst/>
          </a:prstGeom>
          <a:solidFill>
            <a:srgbClr val="755D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26EAE70-CC1D-9E98-A260-7532CCF87CD4}"/>
              </a:ext>
            </a:extLst>
          </p:cNvPr>
          <p:cNvSpPr txBox="1"/>
          <p:nvPr/>
        </p:nvSpPr>
        <p:spPr>
          <a:xfrm>
            <a:off x="8204200" y="1778000"/>
            <a:ext cx="304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IV</a:t>
            </a:r>
          </a:p>
        </p:txBody>
      </p:sp>
      <p:sp>
        <p:nvSpPr>
          <p:cNvPr id="25" name="TextBox 24">
            <a:extLst>
              <a:ext uri="{FF2B5EF4-FFF2-40B4-BE49-F238E27FC236}">
                <a16:creationId xmlns:a16="http://schemas.microsoft.com/office/drawing/2014/main" id="{4BD61548-A409-46BE-A0AA-D422A3B4EEE9}"/>
              </a:ext>
            </a:extLst>
          </p:cNvPr>
          <p:cNvSpPr txBox="1"/>
          <p:nvPr/>
        </p:nvSpPr>
        <p:spPr>
          <a:xfrm>
            <a:off x="7569200" y="2336800"/>
            <a:ext cx="15748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PATH-S06</a:t>
            </a:r>
          </a:p>
        </p:txBody>
      </p:sp>
      <p:sp>
        <p:nvSpPr>
          <p:cNvPr id="26" name="TextBox 25">
            <a:extLst>
              <a:ext uri="{FF2B5EF4-FFF2-40B4-BE49-F238E27FC236}">
                <a16:creationId xmlns:a16="http://schemas.microsoft.com/office/drawing/2014/main" id="{C40094DA-D9A3-79A5-527E-6E1CC1C30F78}"/>
              </a:ext>
            </a:extLst>
          </p:cNvPr>
          <p:cNvSpPr txBox="1"/>
          <p:nvPr/>
        </p:nvSpPr>
        <p:spPr>
          <a:xfrm>
            <a:off x="7569200" y="2984500"/>
            <a:ext cx="1574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WSL2 extension
0 pass / 5 fail
History preserved</a:t>
            </a:r>
          </a:p>
        </p:txBody>
      </p:sp>
      <p:sp>
        <p:nvSpPr>
          <p:cNvPr id="27" name="Rectangle: Rounded Corners 26">
            <a:extLst>
              <a:ext uri="{FF2B5EF4-FFF2-40B4-BE49-F238E27FC236}">
                <a16:creationId xmlns:a16="http://schemas.microsoft.com/office/drawing/2014/main" id="{00AA798B-210A-C28C-3624-1D5B95F59552}"/>
              </a:ext>
            </a:extLst>
          </p:cNvPr>
          <p:cNvSpPr/>
          <p:nvPr/>
        </p:nvSpPr>
        <p:spPr>
          <a:xfrm>
            <a:off x="9652000" y="1955800"/>
            <a:ext cx="1930400" cy="2844800"/>
          </a:xfrm>
          <a:prstGeom prst="roundRect">
            <a:avLst/>
          </a:prstGeom>
          <a:solidFill>
            <a:srgbClr val="E6F5F0"/>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F5BF5D0-0DFD-2BFF-F172-B031516BDCC8}"/>
              </a:ext>
            </a:extLst>
          </p:cNvPr>
          <p:cNvSpPr/>
          <p:nvPr/>
        </p:nvSpPr>
        <p:spPr>
          <a:xfrm>
            <a:off x="10312400" y="1600200"/>
            <a:ext cx="609600" cy="6096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EE4496D-8CFC-3A28-37AE-F1FC84BCC8AE}"/>
              </a:ext>
            </a:extLst>
          </p:cNvPr>
          <p:cNvSpPr txBox="1"/>
          <p:nvPr/>
        </p:nvSpPr>
        <p:spPr>
          <a:xfrm>
            <a:off x="10464800" y="1778000"/>
            <a:ext cx="304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V</a:t>
            </a:r>
          </a:p>
        </p:txBody>
      </p:sp>
      <p:sp>
        <p:nvSpPr>
          <p:cNvPr id="30" name="TextBox 29">
            <a:extLst>
              <a:ext uri="{FF2B5EF4-FFF2-40B4-BE49-F238E27FC236}">
                <a16:creationId xmlns:a16="http://schemas.microsoft.com/office/drawing/2014/main" id="{D762F21E-6CB5-B57D-C479-C098942F0E26}"/>
              </a:ext>
            </a:extLst>
          </p:cNvPr>
          <p:cNvSpPr txBox="1"/>
          <p:nvPr/>
        </p:nvSpPr>
        <p:spPr>
          <a:xfrm>
            <a:off x="9829800" y="2336800"/>
            <a:ext cx="15748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Final checkpoint</a:t>
            </a:r>
          </a:p>
        </p:txBody>
      </p:sp>
      <p:sp>
        <p:nvSpPr>
          <p:cNvPr id="31" name="TextBox 30">
            <a:extLst>
              <a:ext uri="{FF2B5EF4-FFF2-40B4-BE49-F238E27FC236}">
                <a16:creationId xmlns:a16="http://schemas.microsoft.com/office/drawing/2014/main" id="{28C0FE00-4EB0-F679-2DD4-F86B620ED3A6}"/>
              </a:ext>
            </a:extLst>
          </p:cNvPr>
          <p:cNvSpPr txBox="1"/>
          <p:nvPr/>
        </p:nvSpPr>
        <p:spPr>
          <a:xfrm>
            <a:off x="9829800" y="2984500"/>
            <a:ext cx="1574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Clean reproduction
Claim boundaries
Final package</a:t>
            </a:r>
          </a:p>
        </p:txBody>
      </p:sp>
      <p:cxnSp>
        <p:nvCxnSpPr>
          <p:cNvPr id="32" name="Straight Connector 31">
            <a:extLst>
              <a:ext uri="{FF2B5EF4-FFF2-40B4-BE49-F238E27FC236}">
                <a16:creationId xmlns:a16="http://schemas.microsoft.com/office/drawing/2014/main" id="{33BC0BA1-ED31-C76B-7342-20971EAE0C0C}"/>
              </a:ext>
            </a:extLst>
          </p:cNvPr>
          <p:cNvCxnSpPr/>
          <p:nvPr/>
        </p:nvCxnSpPr>
        <p:spPr>
          <a:xfrm>
            <a:off x="2540000" y="3378200"/>
            <a:ext cx="3302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C12C13F-DAD1-12EE-C458-5C18B18BB6A1}"/>
              </a:ext>
            </a:extLst>
          </p:cNvPr>
          <p:cNvCxnSpPr/>
          <p:nvPr/>
        </p:nvCxnSpPr>
        <p:spPr>
          <a:xfrm>
            <a:off x="4800600" y="3378200"/>
            <a:ext cx="3302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B748FBD1-1165-3A3C-B1D6-DDF999204480}"/>
              </a:ext>
            </a:extLst>
          </p:cNvPr>
          <p:cNvCxnSpPr/>
          <p:nvPr/>
        </p:nvCxnSpPr>
        <p:spPr>
          <a:xfrm>
            <a:off x="7061200" y="3378200"/>
            <a:ext cx="3302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DA871F1-C43A-B7AF-1F52-4F321CC53D31}"/>
              </a:ext>
            </a:extLst>
          </p:cNvPr>
          <p:cNvCxnSpPr/>
          <p:nvPr/>
        </p:nvCxnSpPr>
        <p:spPr>
          <a:xfrm>
            <a:off x="9321800" y="3378200"/>
            <a:ext cx="3302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6D51ECB0-7B48-42E9-7BA5-411D5C2D3E80}"/>
              </a:ext>
            </a:extLst>
          </p:cNvPr>
          <p:cNvSpPr/>
          <p:nvPr/>
        </p:nvSpPr>
        <p:spPr>
          <a:xfrm>
            <a:off x="2209800" y="5283200"/>
            <a:ext cx="7772400" cy="685800"/>
          </a:xfrm>
          <a:prstGeom prst="roundRect">
            <a:avLst/>
          </a:prstGeom>
          <a:solidFill>
            <a:srgbClr val="102646"/>
          </a:solidFill>
          <a:ln w="15240">
            <a:solidFill>
              <a:srgbClr val="102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DF019075-767A-9AE0-65FF-568FF1D9855C}"/>
              </a:ext>
            </a:extLst>
          </p:cNvPr>
          <p:cNvSpPr txBox="1"/>
          <p:nvPr/>
        </p:nvSpPr>
        <p:spPr>
          <a:xfrm>
            <a:off x="2463800" y="5499100"/>
            <a:ext cx="7264400" cy="276999"/>
          </a:xfrm>
          <a:prstGeom prst="rect">
            <a:avLst/>
          </a:prstGeom>
          <a:noFill/>
        </p:spPr>
        <p:txBody>
          <a:bodyPr vert="horz" wrap="square" lIns="0" tIns="0" rIns="0" bIns="0" rtlCol="0" anchor="t">
            <a:noAutofit/>
          </a:bodyPr>
          <a:lstStyle/>
          <a:p>
            <a:pPr algn="ctr"/>
            <a:r>
              <a:rPr lang="en-US" sz="1400" b="1">
                <a:solidFill>
                  <a:srgbClr val="FFFFFF"/>
                </a:solidFill>
                <a:latin typeface="Aptos" panose="020B0004020202020204" pitchFamily="34" charset="0"/>
              </a:rPr>
              <a:t>VIDEO V CONSOLIDATES THE EVIDENCE - IT ADDS NO NEW EXPERIMENT</a:t>
            </a:r>
          </a:p>
        </p:txBody>
      </p:sp>
    </p:spTree>
    <p:extLst>
      <p:ext uri="{BB962C8B-B14F-4D97-AF65-F5344CB8AC3E}">
        <p14:creationId xmlns:p14="http://schemas.microsoft.com/office/powerpoint/2010/main" val="3432259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8020B1-C3A9-EAFB-11C2-F6FE9C787865}"/>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2. FIXPROOF WORKFLOW</a:t>
            </a:r>
          </a:p>
        </p:txBody>
      </p:sp>
      <p:sp>
        <p:nvSpPr>
          <p:cNvPr id="3" name="TextBox 2">
            <a:extLst>
              <a:ext uri="{FF2B5EF4-FFF2-40B4-BE49-F238E27FC236}">
                <a16:creationId xmlns:a16="http://schemas.microsoft.com/office/drawing/2014/main" id="{9C396386-F35C-AC7B-00A4-60BBC2E58B1D}"/>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Python coordinates; separate authorities decide</a:t>
            </a:r>
          </a:p>
        </p:txBody>
      </p:sp>
      <p:cxnSp>
        <p:nvCxnSpPr>
          <p:cNvPr id="4" name="Straight Connector 3">
            <a:extLst>
              <a:ext uri="{FF2B5EF4-FFF2-40B4-BE49-F238E27FC236}">
                <a16:creationId xmlns:a16="http://schemas.microsoft.com/office/drawing/2014/main" id="{46EEF994-3E80-9251-4BEC-BE824CB58D57}"/>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E8BCCFC-EC48-595A-923C-591D91126CA9}"/>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8C77F497-F9BF-737E-8418-4617DD193D2A}"/>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3</a:t>
            </a:r>
          </a:p>
        </p:txBody>
      </p:sp>
      <p:sp>
        <p:nvSpPr>
          <p:cNvPr id="7" name="Rectangle: Rounded Corners 6">
            <a:extLst>
              <a:ext uri="{FF2B5EF4-FFF2-40B4-BE49-F238E27FC236}">
                <a16:creationId xmlns:a16="http://schemas.microsoft.com/office/drawing/2014/main" id="{873546CA-C548-F4C7-720D-04E39E13E8FC}"/>
              </a:ext>
            </a:extLst>
          </p:cNvPr>
          <p:cNvSpPr/>
          <p:nvPr/>
        </p:nvSpPr>
        <p:spPr>
          <a:xfrm>
            <a:off x="609600" y="1778000"/>
            <a:ext cx="1879600" cy="1193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D4ACF33-5260-FAF7-83CF-0B35F79AF97C}"/>
              </a:ext>
            </a:extLst>
          </p:cNvPr>
          <p:cNvSpPr txBox="1"/>
          <p:nvPr/>
        </p:nvSpPr>
        <p:spPr>
          <a:xfrm>
            <a:off x="736600" y="1993900"/>
            <a:ext cx="16256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Fixture + finding</a:t>
            </a:r>
          </a:p>
        </p:txBody>
      </p:sp>
      <p:sp>
        <p:nvSpPr>
          <p:cNvPr id="9" name="TextBox 8">
            <a:extLst>
              <a:ext uri="{FF2B5EF4-FFF2-40B4-BE49-F238E27FC236}">
                <a16:creationId xmlns:a16="http://schemas.microsoft.com/office/drawing/2014/main" id="{E75661FF-0BBB-D6FB-2A87-4FDAF6FDF36C}"/>
              </a:ext>
            </a:extLst>
          </p:cNvPr>
          <p:cNvSpPr txBox="1"/>
          <p:nvPr/>
        </p:nvSpPr>
        <p:spPr>
          <a:xfrm>
            <a:off x="736600" y="2476500"/>
            <a:ext cx="1625600" cy="276999"/>
          </a:xfrm>
          <a:prstGeom prst="rect">
            <a:avLst/>
          </a:prstGeom>
          <a:noFill/>
        </p:spPr>
        <p:txBody>
          <a:bodyPr vert="horz" wrap="square" lIns="0" tIns="0" rIns="0" bIns="0" rtlCol="0" anchor="t">
            <a:noAutofit/>
          </a:bodyPr>
          <a:lstStyle/>
          <a:p>
            <a:pPr algn="ctr"/>
            <a:r>
              <a:rPr lang="en-US" sz="1200">
                <a:solidFill>
                  <a:srgbClr val="546987"/>
                </a:solidFill>
                <a:latin typeface="Aptos" panose="020B0004020202020204" pitchFamily="34" charset="0"/>
              </a:rPr>
              <a:t>Frozen input</a:t>
            </a:r>
          </a:p>
        </p:txBody>
      </p:sp>
      <p:sp>
        <p:nvSpPr>
          <p:cNvPr id="10" name="Rectangle: Rounded Corners 9">
            <a:extLst>
              <a:ext uri="{FF2B5EF4-FFF2-40B4-BE49-F238E27FC236}">
                <a16:creationId xmlns:a16="http://schemas.microsoft.com/office/drawing/2014/main" id="{021969DC-3D34-35CB-8F9A-EA8931BC4D64}"/>
              </a:ext>
            </a:extLst>
          </p:cNvPr>
          <p:cNvSpPr/>
          <p:nvPr/>
        </p:nvSpPr>
        <p:spPr>
          <a:xfrm>
            <a:off x="2794000" y="1778000"/>
            <a:ext cx="1879600" cy="1193800"/>
          </a:xfrm>
          <a:prstGeom prst="roundRect">
            <a:avLst/>
          </a:prstGeom>
          <a:solidFill>
            <a:srgbClr val="FFF4E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9F48E19-932E-1843-0ABF-6AB6E015C960}"/>
              </a:ext>
            </a:extLst>
          </p:cNvPr>
          <p:cNvSpPr txBox="1"/>
          <p:nvPr/>
        </p:nvSpPr>
        <p:spPr>
          <a:xfrm>
            <a:off x="2921000" y="1993900"/>
            <a:ext cx="16256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Repair model</a:t>
            </a:r>
          </a:p>
        </p:txBody>
      </p:sp>
      <p:sp>
        <p:nvSpPr>
          <p:cNvPr id="12" name="TextBox 11">
            <a:extLst>
              <a:ext uri="{FF2B5EF4-FFF2-40B4-BE49-F238E27FC236}">
                <a16:creationId xmlns:a16="http://schemas.microsoft.com/office/drawing/2014/main" id="{7C77A8AC-B1B1-1B9E-364B-978DC72230D2}"/>
              </a:ext>
            </a:extLst>
          </p:cNvPr>
          <p:cNvSpPr txBox="1"/>
          <p:nvPr/>
        </p:nvSpPr>
        <p:spPr>
          <a:xfrm>
            <a:off x="2921000" y="2476500"/>
            <a:ext cx="1625600" cy="276999"/>
          </a:xfrm>
          <a:prstGeom prst="rect">
            <a:avLst/>
          </a:prstGeom>
          <a:noFill/>
        </p:spPr>
        <p:txBody>
          <a:bodyPr vert="horz" wrap="square" lIns="0" tIns="0" rIns="0" bIns="0" rtlCol="0" anchor="t">
            <a:noAutofit/>
          </a:bodyPr>
          <a:lstStyle/>
          <a:p>
            <a:pPr algn="ctr"/>
            <a:r>
              <a:rPr lang="en-US" sz="1200">
                <a:solidFill>
                  <a:srgbClr val="546987"/>
                </a:solidFill>
                <a:latin typeface="Aptos" panose="020B0004020202020204" pitchFamily="34" charset="0"/>
              </a:rPr>
              <a:t>Proposes code</a:t>
            </a:r>
          </a:p>
        </p:txBody>
      </p:sp>
      <p:sp>
        <p:nvSpPr>
          <p:cNvPr id="13" name="Rectangle: Rounded Corners 12">
            <a:extLst>
              <a:ext uri="{FF2B5EF4-FFF2-40B4-BE49-F238E27FC236}">
                <a16:creationId xmlns:a16="http://schemas.microsoft.com/office/drawing/2014/main" id="{049CDCFD-E408-0242-41C4-B773F0A77445}"/>
              </a:ext>
            </a:extLst>
          </p:cNvPr>
          <p:cNvSpPr/>
          <p:nvPr/>
        </p:nvSpPr>
        <p:spPr>
          <a:xfrm>
            <a:off x="4978400" y="1778000"/>
            <a:ext cx="1879600" cy="1193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BE51C20-428F-5EDC-5CFC-EAD74F472EEA}"/>
              </a:ext>
            </a:extLst>
          </p:cNvPr>
          <p:cNvSpPr txBox="1"/>
          <p:nvPr/>
        </p:nvSpPr>
        <p:spPr>
          <a:xfrm>
            <a:off x="5105400" y="1993900"/>
            <a:ext cx="16256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Python</a:t>
            </a:r>
          </a:p>
        </p:txBody>
      </p:sp>
      <p:sp>
        <p:nvSpPr>
          <p:cNvPr id="15" name="TextBox 14">
            <a:extLst>
              <a:ext uri="{FF2B5EF4-FFF2-40B4-BE49-F238E27FC236}">
                <a16:creationId xmlns:a16="http://schemas.microsoft.com/office/drawing/2014/main" id="{C1081684-C4EC-C35A-46A2-CE9A92A36E1F}"/>
              </a:ext>
            </a:extLst>
          </p:cNvPr>
          <p:cNvSpPr txBox="1"/>
          <p:nvPr/>
        </p:nvSpPr>
        <p:spPr>
          <a:xfrm>
            <a:off x="5105400" y="2476500"/>
            <a:ext cx="1625600" cy="276999"/>
          </a:xfrm>
          <a:prstGeom prst="rect">
            <a:avLst/>
          </a:prstGeom>
          <a:noFill/>
        </p:spPr>
        <p:txBody>
          <a:bodyPr vert="horz" wrap="square" lIns="0" tIns="0" rIns="0" bIns="0" rtlCol="0" anchor="t">
            <a:noAutofit/>
          </a:bodyPr>
          <a:lstStyle/>
          <a:p>
            <a:pPr algn="ctr"/>
            <a:r>
              <a:rPr lang="en-US" sz="1200">
                <a:solidFill>
                  <a:srgbClr val="546987"/>
                </a:solidFill>
                <a:latin typeface="Aptos" panose="020B0004020202020204" pitchFamily="34" charset="0"/>
              </a:rPr>
              <a:t>Copies + invokes</a:t>
            </a:r>
          </a:p>
        </p:txBody>
      </p:sp>
      <p:sp>
        <p:nvSpPr>
          <p:cNvPr id="16" name="Rectangle: Rounded Corners 15">
            <a:extLst>
              <a:ext uri="{FF2B5EF4-FFF2-40B4-BE49-F238E27FC236}">
                <a16:creationId xmlns:a16="http://schemas.microsoft.com/office/drawing/2014/main" id="{C9E190EC-51A1-A4FF-36EC-1ED40BC59C80}"/>
              </a:ext>
            </a:extLst>
          </p:cNvPr>
          <p:cNvSpPr/>
          <p:nvPr/>
        </p:nvSpPr>
        <p:spPr>
          <a:xfrm>
            <a:off x="7162800" y="1778000"/>
            <a:ext cx="1879600" cy="1193800"/>
          </a:xfrm>
          <a:prstGeom prst="roundRect">
            <a:avLst/>
          </a:prstGeom>
          <a:solidFill>
            <a:srgbClr val="E6F5F0"/>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6AF4F21-A6A4-B2F4-2E95-9BC27306B25F}"/>
              </a:ext>
            </a:extLst>
          </p:cNvPr>
          <p:cNvSpPr txBox="1"/>
          <p:nvPr/>
        </p:nvSpPr>
        <p:spPr>
          <a:xfrm>
            <a:off x="7289800" y="1993900"/>
            <a:ext cx="16256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Validators</a:t>
            </a:r>
          </a:p>
        </p:txBody>
      </p:sp>
      <p:sp>
        <p:nvSpPr>
          <p:cNvPr id="18" name="TextBox 17">
            <a:extLst>
              <a:ext uri="{FF2B5EF4-FFF2-40B4-BE49-F238E27FC236}">
                <a16:creationId xmlns:a16="http://schemas.microsoft.com/office/drawing/2014/main" id="{A6F85F77-9CFA-7AFE-34C0-52073FE9E1F0}"/>
              </a:ext>
            </a:extLst>
          </p:cNvPr>
          <p:cNvSpPr txBox="1"/>
          <p:nvPr/>
        </p:nvSpPr>
        <p:spPr>
          <a:xfrm>
            <a:off x="7289800" y="2476500"/>
            <a:ext cx="1625600" cy="276999"/>
          </a:xfrm>
          <a:prstGeom prst="rect">
            <a:avLst/>
          </a:prstGeom>
          <a:noFill/>
        </p:spPr>
        <p:txBody>
          <a:bodyPr vert="horz" wrap="square" lIns="0" tIns="0" rIns="0" bIns="0" rtlCol="0" anchor="t">
            <a:noAutofit/>
          </a:bodyPr>
          <a:lstStyle/>
          <a:p>
            <a:pPr algn="ctr"/>
            <a:r>
              <a:rPr lang="en-US" sz="1200">
                <a:solidFill>
                  <a:srgbClr val="546987"/>
                </a:solidFill>
                <a:latin typeface="Aptos" panose="020B0004020202020204" pitchFamily="34" charset="0"/>
              </a:rPr>
              <a:t>Measure evidence</a:t>
            </a:r>
          </a:p>
        </p:txBody>
      </p:sp>
      <p:sp>
        <p:nvSpPr>
          <p:cNvPr id="19" name="Rectangle: Rounded Corners 18">
            <a:extLst>
              <a:ext uri="{FF2B5EF4-FFF2-40B4-BE49-F238E27FC236}">
                <a16:creationId xmlns:a16="http://schemas.microsoft.com/office/drawing/2014/main" id="{D9AD2135-DD6D-A4A2-0523-96F65402DADE}"/>
              </a:ext>
            </a:extLst>
          </p:cNvPr>
          <p:cNvSpPr/>
          <p:nvPr/>
        </p:nvSpPr>
        <p:spPr>
          <a:xfrm>
            <a:off x="9347200" y="1778000"/>
            <a:ext cx="1879600" cy="1193800"/>
          </a:xfrm>
          <a:prstGeom prst="roundRect">
            <a:avLst/>
          </a:prstGeom>
          <a:solidFill>
            <a:srgbClr val="F2EDFA"/>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CD8253D3-7557-D0C0-6BDD-F3CF4D79F670}"/>
              </a:ext>
            </a:extLst>
          </p:cNvPr>
          <p:cNvSpPr txBox="1"/>
          <p:nvPr/>
        </p:nvSpPr>
        <p:spPr>
          <a:xfrm>
            <a:off x="9474200" y="1993900"/>
            <a:ext cx="16256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Policy</a:t>
            </a:r>
          </a:p>
        </p:txBody>
      </p:sp>
      <p:sp>
        <p:nvSpPr>
          <p:cNvPr id="21" name="TextBox 20">
            <a:extLst>
              <a:ext uri="{FF2B5EF4-FFF2-40B4-BE49-F238E27FC236}">
                <a16:creationId xmlns:a16="http://schemas.microsoft.com/office/drawing/2014/main" id="{12E1559D-1EBC-35DC-5105-64A0B25F57EE}"/>
              </a:ext>
            </a:extLst>
          </p:cNvPr>
          <p:cNvSpPr txBox="1"/>
          <p:nvPr/>
        </p:nvSpPr>
        <p:spPr>
          <a:xfrm>
            <a:off x="9474200" y="2476500"/>
            <a:ext cx="1625600" cy="276999"/>
          </a:xfrm>
          <a:prstGeom prst="rect">
            <a:avLst/>
          </a:prstGeom>
          <a:noFill/>
        </p:spPr>
        <p:txBody>
          <a:bodyPr vert="horz" wrap="square" lIns="0" tIns="0" rIns="0" bIns="0" rtlCol="0" anchor="t">
            <a:noAutofit/>
          </a:bodyPr>
          <a:lstStyle/>
          <a:p>
            <a:pPr algn="ctr"/>
            <a:r>
              <a:rPr lang="en-US" sz="1200">
                <a:solidFill>
                  <a:srgbClr val="546987"/>
                </a:solidFill>
                <a:latin typeface="Aptos" panose="020B0004020202020204" pitchFamily="34" charset="0"/>
              </a:rPr>
              <a:t>Routes outcome</a:t>
            </a:r>
          </a:p>
        </p:txBody>
      </p:sp>
      <p:cxnSp>
        <p:nvCxnSpPr>
          <p:cNvPr id="22" name="Straight Connector 21">
            <a:extLst>
              <a:ext uri="{FF2B5EF4-FFF2-40B4-BE49-F238E27FC236}">
                <a16:creationId xmlns:a16="http://schemas.microsoft.com/office/drawing/2014/main" id="{A3EAE4FD-7A9C-27F6-406D-BFB9063B9279}"/>
              </a:ext>
            </a:extLst>
          </p:cNvPr>
          <p:cNvCxnSpPr/>
          <p:nvPr/>
        </p:nvCxnSpPr>
        <p:spPr>
          <a:xfrm>
            <a:off x="2489200" y="2374900"/>
            <a:ext cx="3048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B1523E1-3441-3B10-2C8C-540C678C068D}"/>
              </a:ext>
            </a:extLst>
          </p:cNvPr>
          <p:cNvCxnSpPr/>
          <p:nvPr/>
        </p:nvCxnSpPr>
        <p:spPr>
          <a:xfrm>
            <a:off x="4673600" y="2374900"/>
            <a:ext cx="3048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EA5EC05-489B-A5D1-376F-310B79CE3D09}"/>
              </a:ext>
            </a:extLst>
          </p:cNvPr>
          <p:cNvCxnSpPr/>
          <p:nvPr/>
        </p:nvCxnSpPr>
        <p:spPr>
          <a:xfrm>
            <a:off x="6858000" y="2374900"/>
            <a:ext cx="3048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E1D8C3E3-2791-49D5-23E1-371E4E8ABB34}"/>
              </a:ext>
            </a:extLst>
          </p:cNvPr>
          <p:cNvCxnSpPr/>
          <p:nvPr/>
        </p:nvCxnSpPr>
        <p:spPr>
          <a:xfrm>
            <a:off x="9042400" y="2374900"/>
            <a:ext cx="304800" cy="0"/>
          </a:xfrm>
          <a:prstGeom prst="line">
            <a:avLst/>
          </a:prstGeom>
          <a:ln w="25400">
            <a:solidFill>
              <a:srgbClr val="2A4974"/>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821159B1-26AA-917A-B4A5-8E6AB48EC36F}"/>
              </a:ext>
            </a:extLst>
          </p:cNvPr>
          <p:cNvCxnSpPr/>
          <p:nvPr/>
        </p:nvCxnSpPr>
        <p:spPr>
          <a:xfrm>
            <a:off x="10287000" y="2971800"/>
            <a:ext cx="0" cy="660400"/>
          </a:xfrm>
          <a:prstGeom prst="line">
            <a:avLst/>
          </a:prstGeom>
          <a:ln w="38100">
            <a:solidFill>
              <a:srgbClr val="755D9B"/>
            </a:solidFill>
            <a:tailEnd type="arrow"/>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6FD14F02-8E88-A02C-44B0-E6078039EA7C}"/>
              </a:ext>
            </a:extLst>
          </p:cNvPr>
          <p:cNvSpPr/>
          <p:nvPr/>
        </p:nvSpPr>
        <p:spPr>
          <a:xfrm>
            <a:off x="8229600" y="3632200"/>
            <a:ext cx="4140200" cy="1168400"/>
          </a:xfrm>
          <a:prstGeom prst="roundRect">
            <a:avLst/>
          </a:prstGeom>
          <a:solidFill>
            <a:srgbClr val="F2EDFA"/>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B0B76DFE-951E-A0C3-B3C1-DAD3C7BE440F}"/>
              </a:ext>
            </a:extLst>
          </p:cNvPr>
          <p:cNvSpPr txBox="1"/>
          <p:nvPr/>
        </p:nvSpPr>
        <p:spPr>
          <a:xfrm>
            <a:off x="8483600" y="3860800"/>
            <a:ext cx="3632200" cy="276999"/>
          </a:xfrm>
          <a:prstGeom prst="rect">
            <a:avLst/>
          </a:prstGeom>
          <a:noFill/>
        </p:spPr>
        <p:txBody>
          <a:bodyPr vert="horz" wrap="square" lIns="0" tIns="0" rIns="0" bIns="0" rtlCol="0" anchor="t">
            <a:noAutofit/>
          </a:bodyPr>
          <a:lstStyle/>
          <a:p>
            <a:pPr algn="ctr"/>
            <a:r>
              <a:rPr lang="en-US" b="1">
                <a:solidFill>
                  <a:srgbClr val="102646"/>
                </a:solidFill>
                <a:latin typeface="Aptos" panose="020B0004020202020204" pitchFamily="34" charset="0"/>
              </a:rPr>
              <a:t>Human review</a:t>
            </a:r>
          </a:p>
        </p:txBody>
      </p:sp>
      <p:sp>
        <p:nvSpPr>
          <p:cNvPr id="29" name="TextBox 28">
            <a:extLst>
              <a:ext uri="{FF2B5EF4-FFF2-40B4-BE49-F238E27FC236}">
                <a16:creationId xmlns:a16="http://schemas.microsoft.com/office/drawing/2014/main" id="{E34E9B32-B7FF-94E8-8575-457A670FB0C3}"/>
              </a:ext>
            </a:extLst>
          </p:cNvPr>
          <p:cNvSpPr txBox="1"/>
          <p:nvPr/>
        </p:nvSpPr>
        <p:spPr>
          <a:xfrm>
            <a:off x="8559800" y="4305300"/>
            <a:ext cx="3479800" cy="276999"/>
          </a:xfrm>
          <a:prstGeom prst="rect">
            <a:avLst/>
          </a:prstGeom>
          <a:noFill/>
        </p:spPr>
        <p:txBody>
          <a:bodyPr vert="horz" wrap="square" lIns="0" tIns="0" rIns="0" bIns="0" rtlCol="0" anchor="t">
            <a:noAutofit/>
          </a:bodyPr>
          <a:lstStyle/>
          <a:p>
            <a:pPr algn="ctr"/>
            <a:r>
              <a:rPr lang="en-US" sz="1300">
                <a:solidFill>
                  <a:srgbClr val="546987"/>
                </a:solidFill>
                <a:latin typeface="Aptos" panose="020B0004020202020204" pitchFamily="34" charset="0"/>
              </a:rPr>
              <a:t>Records acceptance, rejection, or follow-up rationale</a:t>
            </a:r>
          </a:p>
        </p:txBody>
      </p:sp>
      <p:sp>
        <p:nvSpPr>
          <p:cNvPr id="30" name="Rectangle: Rounded Corners 29">
            <a:extLst>
              <a:ext uri="{FF2B5EF4-FFF2-40B4-BE49-F238E27FC236}">
                <a16:creationId xmlns:a16="http://schemas.microsoft.com/office/drawing/2014/main" id="{C6E7FE65-553A-EA99-7E6A-6D05FA7B4249}"/>
              </a:ext>
            </a:extLst>
          </p:cNvPr>
          <p:cNvSpPr/>
          <p:nvPr/>
        </p:nvSpPr>
        <p:spPr>
          <a:xfrm>
            <a:off x="609600" y="3632200"/>
            <a:ext cx="7112000" cy="1168400"/>
          </a:xfrm>
          <a:prstGeom prst="roundRect">
            <a:avLst/>
          </a:prstGeom>
          <a:solidFill>
            <a:srgbClr val="FFFFFF"/>
          </a:solidFill>
          <a:ln w="15240">
            <a:solidFill>
              <a:srgbClr val="BECF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277CC3E-DE4A-2220-E271-077C8DD27CB4}"/>
              </a:ext>
            </a:extLst>
          </p:cNvPr>
          <p:cNvSpPr txBox="1"/>
          <p:nvPr/>
        </p:nvSpPr>
        <p:spPr>
          <a:xfrm>
            <a:off x="863600" y="3860800"/>
            <a:ext cx="6604000" cy="276999"/>
          </a:xfrm>
          <a:prstGeom prst="rect">
            <a:avLst/>
          </a:prstGeom>
          <a:noFill/>
        </p:spPr>
        <p:txBody>
          <a:bodyPr vert="horz" wrap="square" lIns="0" tIns="0" rIns="0" bIns="0" rtlCol="0" anchor="t">
            <a:noAutofit/>
          </a:bodyPr>
          <a:lstStyle/>
          <a:p>
            <a:r>
              <a:rPr lang="en-US" sz="1100" b="1">
                <a:solidFill>
                  <a:srgbClr val="496FA8"/>
                </a:solidFill>
                <a:latin typeface="Aptos" panose="020B0004020202020204" pitchFamily="34" charset="0"/>
              </a:rPr>
              <a:t>VALIDATION OUTPUTS</a:t>
            </a:r>
          </a:p>
        </p:txBody>
      </p:sp>
      <p:sp>
        <p:nvSpPr>
          <p:cNvPr id="32" name="Rectangle: Rounded Corners 31">
            <a:extLst>
              <a:ext uri="{FF2B5EF4-FFF2-40B4-BE49-F238E27FC236}">
                <a16:creationId xmlns:a16="http://schemas.microsoft.com/office/drawing/2014/main" id="{6E9BC5B0-F560-A603-B987-7EB0BC43162E}"/>
              </a:ext>
            </a:extLst>
          </p:cNvPr>
          <p:cNvSpPr/>
          <p:nvPr/>
        </p:nvSpPr>
        <p:spPr>
          <a:xfrm>
            <a:off x="863600" y="4229100"/>
            <a:ext cx="1168400" cy="381000"/>
          </a:xfrm>
          <a:prstGeom prst="roundRect">
            <a:avLst/>
          </a:prstGeom>
          <a:solidFill>
            <a:srgbClr val="496FA8"/>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0EFD64B2-E136-A470-C403-AC250DD3832C}"/>
              </a:ext>
            </a:extLst>
          </p:cNvPr>
          <p:cNvSpPr txBox="1"/>
          <p:nvPr/>
        </p:nvSpPr>
        <p:spPr>
          <a:xfrm>
            <a:off x="863600" y="4292600"/>
            <a:ext cx="11684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SYNTAX</a:t>
            </a:r>
          </a:p>
        </p:txBody>
      </p:sp>
      <p:sp>
        <p:nvSpPr>
          <p:cNvPr id="34" name="Rectangle: Rounded Corners 33">
            <a:extLst>
              <a:ext uri="{FF2B5EF4-FFF2-40B4-BE49-F238E27FC236}">
                <a16:creationId xmlns:a16="http://schemas.microsoft.com/office/drawing/2014/main" id="{88A5CBA8-72D6-BB2A-D4EC-B0B85C037FE6}"/>
              </a:ext>
            </a:extLst>
          </p:cNvPr>
          <p:cNvSpPr/>
          <p:nvPr/>
        </p:nvSpPr>
        <p:spPr>
          <a:xfrm>
            <a:off x="2184400" y="4229100"/>
            <a:ext cx="1016000" cy="381000"/>
          </a:xfrm>
          <a:prstGeom prst="roundRect">
            <a:avLst/>
          </a:prstGeom>
          <a:solidFill>
            <a:srgbClr val="496FA8"/>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806EE9BF-EB29-01D7-3028-E466181E0618}"/>
              </a:ext>
            </a:extLst>
          </p:cNvPr>
          <p:cNvSpPr txBox="1"/>
          <p:nvPr/>
        </p:nvSpPr>
        <p:spPr>
          <a:xfrm>
            <a:off x="2184400" y="4292600"/>
            <a:ext cx="10160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SAST</a:t>
            </a:r>
          </a:p>
        </p:txBody>
      </p:sp>
      <p:sp>
        <p:nvSpPr>
          <p:cNvPr id="36" name="Rectangle: Rounded Corners 35">
            <a:extLst>
              <a:ext uri="{FF2B5EF4-FFF2-40B4-BE49-F238E27FC236}">
                <a16:creationId xmlns:a16="http://schemas.microsoft.com/office/drawing/2014/main" id="{2D159B34-37DF-6FFC-4615-0D99AD636740}"/>
              </a:ext>
            </a:extLst>
          </p:cNvPr>
          <p:cNvSpPr/>
          <p:nvPr/>
        </p:nvSpPr>
        <p:spPr>
          <a:xfrm>
            <a:off x="3352800" y="4229100"/>
            <a:ext cx="1295400" cy="381000"/>
          </a:xfrm>
          <a:prstGeom prst="roundRect">
            <a:avLst/>
          </a:prstGeom>
          <a:solidFill>
            <a:srgbClr val="3D8974"/>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3DFA4A05-33B3-AF7C-12C5-59561D076AE7}"/>
              </a:ext>
            </a:extLst>
          </p:cNvPr>
          <p:cNvSpPr txBox="1"/>
          <p:nvPr/>
        </p:nvSpPr>
        <p:spPr>
          <a:xfrm>
            <a:off x="3352800" y="4292600"/>
            <a:ext cx="12954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SECURITY</a:t>
            </a:r>
          </a:p>
        </p:txBody>
      </p:sp>
      <p:sp>
        <p:nvSpPr>
          <p:cNvPr id="38" name="Rectangle: Rounded Corners 37">
            <a:extLst>
              <a:ext uri="{FF2B5EF4-FFF2-40B4-BE49-F238E27FC236}">
                <a16:creationId xmlns:a16="http://schemas.microsoft.com/office/drawing/2014/main" id="{EDAB9E29-8B30-0784-8AD4-F555EC632F20}"/>
              </a:ext>
            </a:extLst>
          </p:cNvPr>
          <p:cNvSpPr/>
          <p:nvPr/>
        </p:nvSpPr>
        <p:spPr>
          <a:xfrm>
            <a:off x="4800600" y="4229100"/>
            <a:ext cx="1473200" cy="381000"/>
          </a:xfrm>
          <a:prstGeom prst="roundRect">
            <a:avLst/>
          </a:prstGeom>
          <a:solidFill>
            <a:srgbClr val="3D8974"/>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A97BF8A0-CCD9-928F-B4FF-5FA90D67D0AC}"/>
              </a:ext>
            </a:extLst>
          </p:cNvPr>
          <p:cNvSpPr txBox="1"/>
          <p:nvPr/>
        </p:nvSpPr>
        <p:spPr>
          <a:xfrm>
            <a:off x="4800600" y="4292600"/>
            <a:ext cx="14732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FUNCTIONAL</a:t>
            </a:r>
          </a:p>
        </p:txBody>
      </p:sp>
      <p:sp>
        <p:nvSpPr>
          <p:cNvPr id="40" name="Rectangle: Rounded Corners 39">
            <a:extLst>
              <a:ext uri="{FF2B5EF4-FFF2-40B4-BE49-F238E27FC236}">
                <a16:creationId xmlns:a16="http://schemas.microsoft.com/office/drawing/2014/main" id="{E29956CB-25DC-4072-21D5-883CA618CBBF}"/>
              </a:ext>
            </a:extLst>
          </p:cNvPr>
          <p:cNvSpPr/>
          <p:nvPr/>
        </p:nvSpPr>
        <p:spPr>
          <a:xfrm>
            <a:off x="6426200" y="4229100"/>
            <a:ext cx="1168400" cy="381000"/>
          </a:xfrm>
          <a:prstGeom prst="roundRect">
            <a:avLst/>
          </a:prstGeom>
          <a:solidFill>
            <a:srgbClr val="755D9B"/>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73BF18EE-E136-F9C1-6123-5EA6485CC9E4}"/>
              </a:ext>
            </a:extLst>
          </p:cNvPr>
          <p:cNvSpPr txBox="1"/>
          <p:nvPr/>
        </p:nvSpPr>
        <p:spPr>
          <a:xfrm>
            <a:off x="6426200" y="4292600"/>
            <a:ext cx="1168400" cy="276999"/>
          </a:xfrm>
          <a:prstGeom prst="rect">
            <a:avLst/>
          </a:prstGeom>
          <a:noFill/>
        </p:spPr>
        <p:txBody>
          <a:bodyPr vert="horz" wrap="square" lIns="0" tIns="0" rIns="0" bIns="0" rtlCol="0" anchor="ctr">
            <a:noAutofit/>
          </a:bodyPr>
          <a:lstStyle/>
          <a:p>
            <a:pPr algn="ctr"/>
            <a:r>
              <a:rPr lang="en-US" sz="1200" b="1">
                <a:solidFill>
                  <a:srgbClr val="FFFFFF"/>
                </a:solidFill>
                <a:latin typeface="Aptos" panose="020B0004020202020204" pitchFamily="34" charset="0"/>
              </a:rPr>
              <a:t>EVIDENCE</a:t>
            </a:r>
          </a:p>
        </p:txBody>
      </p:sp>
      <p:sp>
        <p:nvSpPr>
          <p:cNvPr id="42" name="Rectangle: Rounded Corners 41">
            <a:extLst>
              <a:ext uri="{FF2B5EF4-FFF2-40B4-BE49-F238E27FC236}">
                <a16:creationId xmlns:a16="http://schemas.microsoft.com/office/drawing/2014/main" id="{C27393C5-11B3-40DD-CE4E-556C3A76D907}"/>
              </a:ext>
            </a:extLst>
          </p:cNvPr>
          <p:cNvSpPr/>
          <p:nvPr/>
        </p:nvSpPr>
        <p:spPr>
          <a:xfrm>
            <a:off x="609600" y="5257800"/>
            <a:ext cx="10972800" cy="736600"/>
          </a:xfrm>
          <a:prstGeom prst="roundRect">
            <a:avLst/>
          </a:prstGeom>
          <a:solidFill>
            <a:srgbClr val="102646"/>
          </a:solidFill>
          <a:ln w="15240">
            <a:solidFill>
              <a:srgbClr val="102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A693769-A2A0-1988-1A45-4E07E3460BD8}"/>
              </a:ext>
            </a:extLst>
          </p:cNvPr>
          <p:cNvSpPr txBox="1"/>
          <p:nvPr/>
        </p:nvSpPr>
        <p:spPr>
          <a:xfrm>
            <a:off x="863600" y="5473700"/>
            <a:ext cx="3708400" cy="276999"/>
          </a:xfrm>
          <a:prstGeom prst="rect">
            <a:avLst/>
          </a:prstGeom>
          <a:noFill/>
        </p:spPr>
        <p:txBody>
          <a:bodyPr vert="horz" wrap="square" lIns="0" tIns="0" rIns="0" bIns="0" rtlCol="0" anchor="t">
            <a:noAutofit/>
          </a:bodyPr>
          <a:lstStyle/>
          <a:p>
            <a:r>
              <a:rPr lang="en-US" sz="1500" b="1">
                <a:solidFill>
                  <a:srgbClr val="FFFFFF"/>
                </a:solidFill>
                <a:latin typeface="Aptos" panose="020B0004020202020204" pitchFamily="34" charset="0"/>
              </a:rPr>
              <a:t>No automatic approval or deployment</a:t>
            </a:r>
          </a:p>
        </p:txBody>
      </p:sp>
      <p:sp>
        <p:nvSpPr>
          <p:cNvPr id="44" name="TextBox 43">
            <a:extLst>
              <a:ext uri="{FF2B5EF4-FFF2-40B4-BE49-F238E27FC236}">
                <a16:creationId xmlns:a16="http://schemas.microsoft.com/office/drawing/2014/main" id="{59A879E6-06AE-6D6F-EECD-A89092398B14}"/>
              </a:ext>
            </a:extLst>
          </p:cNvPr>
          <p:cNvSpPr txBox="1"/>
          <p:nvPr/>
        </p:nvSpPr>
        <p:spPr>
          <a:xfrm>
            <a:off x="4851400" y="5473700"/>
            <a:ext cx="6350000" cy="276999"/>
          </a:xfrm>
          <a:prstGeom prst="rect">
            <a:avLst/>
          </a:prstGeom>
          <a:noFill/>
        </p:spPr>
        <p:txBody>
          <a:bodyPr vert="horz" wrap="square" lIns="0" tIns="0" rIns="0" bIns="0" rtlCol="0" anchor="t">
            <a:noAutofit/>
          </a:bodyPr>
          <a:lstStyle/>
          <a:p>
            <a:pPr algn="ctr"/>
            <a:r>
              <a:rPr lang="en-US" sz="1300">
                <a:solidFill>
                  <a:srgbClr val="BED2EB"/>
                </a:solidFill>
                <a:latin typeface="Consolas" panose="020B0609020204030204" pitchFamily="49" charset="0"/>
              </a:rPr>
              <a:t>src/fixproof/  -&gt;  data/primary_trials/v1/  -&gt;  data/primary_reviews/v1/</a:t>
            </a:r>
          </a:p>
        </p:txBody>
      </p:sp>
    </p:spTree>
    <p:extLst>
      <p:ext uri="{BB962C8B-B14F-4D97-AF65-F5344CB8AC3E}">
        <p14:creationId xmlns:p14="http://schemas.microsoft.com/office/powerpoint/2010/main" val="3702120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A60681-5290-3590-7428-168CCA2E2CDF}"/>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3. FINAL RECORDED RESULTS</a:t>
            </a:r>
          </a:p>
        </p:txBody>
      </p:sp>
      <p:sp>
        <p:nvSpPr>
          <p:cNvPr id="3" name="TextBox 2">
            <a:extLst>
              <a:ext uri="{FF2B5EF4-FFF2-40B4-BE49-F238E27FC236}">
                <a16:creationId xmlns:a16="http://schemas.microsoft.com/office/drawing/2014/main" id="{6703E7F9-7841-E2C1-1B1B-345C218AA1AF}"/>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Three evidence layers, three denominators</a:t>
            </a:r>
          </a:p>
        </p:txBody>
      </p:sp>
      <p:cxnSp>
        <p:nvCxnSpPr>
          <p:cNvPr id="4" name="Straight Connector 3">
            <a:extLst>
              <a:ext uri="{FF2B5EF4-FFF2-40B4-BE49-F238E27FC236}">
                <a16:creationId xmlns:a16="http://schemas.microsoft.com/office/drawing/2014/main" id="{5328455C-C327-7F3B-8BC7-95F4BD60E5E4}"/>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38588A8-288F-F321-026A-3C07375CF06F}"/>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36FC2F3E-1131-8FFE-6FD5-C46821349930}"/>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4</a:t>
            </a:r>
          </a:p>
        </p:txBody>
      </p:sp>
      <p:sp>
        <p:nvSpPr>
          <p:cNvPr id="7" name="Rectangle: Rounded Corners 6">
            <a:extLst>
              <a:ext uri="{FF2B5EF4-FFF2-40B4-BE49-F238E27FC236}">
                <a16:creationId xmlns:a16="http://schemas.microsoft.com/office/drawing/2014/main" id="{A6D70682-2757-A68D-E04E-F0B022AB7966}"/>
              </a:ext>
            </a:extLst>
          </p:cNvPr>
          <p:cNvSpPr/>
          <p:nvPr/>
        </p:nvSpPr>
        <p:spPr>
          <a:xfrm>
            <a:off x="609600" y="1752600"/>
            <a:ext cx="3378200" cy="31750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F9E33FEE-BA05-D30A-5206-0A950701FA76}"/>
              </a:ext>
            </a:extLst>
          </p:cNvPr>
          <p:cNvSpPr txBox="1"/>
          <p:nvPr/>
        </p:nvSpPr>
        <p:spPr>
          <a:xfrm>
            <a:off x="838200" y="1993900"/>
            <a:ext cx="2921000" cy="276999"/>
          </a:xfrm>
          <a:prstGeom prst="rect">
            <a:avLst/>
          </a:prstGeom>
          <a:noFill/>
        </p:spPr>
        <p:txBody>
          <a:bodyPr vert="horz" wrap="square" lIns="0" tIns="0" rIns="0" bIns="0" rtlCol="0" anchor="t">
            <a:noAutofit/>
          </a:bodyPr>
          <a:lstStyle/>
          <a:p>
            <a:r>
              <a:rPr lang="en-US" sz="1100" b="1">
                <a:solidFill>
                  <a:srgbClr val="496FA8"/>
                </a:solidFill>
                <a:latin typeface="Aptos" panose="020B0004020202020204" pitchFamily="34" charset="0"/>
              </a:rPr>
              <a:t>PRIMARY-v1</a:t>
            </a:r>
          </a:p>
        </p:txBody>
      </p:sp>
      <p:sp>
        <p:nvSpPr>
          <p:cNvPr id="9" name="TextBox 8">
            <a:extLst>
              <a:ext uri="{FF2B5EF4-FFF2-40B4-BE49-F238E27FC236}">
                <a16:creationId xmlns:a16="http://schemas.microsoft.com/office/drawing/2014/main" id="{3E901D1D-8A50-0191-CF08-686772B1069E}"/>
              </a:ext>
            </a:extLst>
          </p:cNvPr>
          <p:cNvSpPr txBox="1"/>
          <p:nvPr/>
        </p:nvSpPr>
        <p:spPr>
          <a:xfrm>
            <a:off x="838200" y="2451100"/>
            <a:ext cx="2921000" cy="276999"/>
          </a:xfrm>
          <a:prstGeom prst="rect">
            <a:avLst/>
          </a:prstGeom>
          <a:noFill/>
        </p:spPr>
        <p:txBody>
          <a:bodyPr vert="horz" wrap="square" lIns="0" tIns="0" rIns="0" bIns="0" rtlCol="0" anchor="t">
            <a:noAutofit/>
          </a:bodyPr>
          <a:lstStyle/>
          <a:p>
            <a:r>
              <a:rPr lang="en-US" sz="2400" b="1">
                <a:solidFill>
                  <a:srgbClr val="102646"/>
                </a:solidFill>
                <a:latin typeface="Aptos" panose="020B0004020202020204" pitchFamily="34" charset="0"/>
              </a:rPr>
              <a:t>15 candidates</a:t>
            </a:r>
          </a:p>
        </p:txBody>
      </p:sp>
      <p:sp>
        <p:nvSpPr>
          <p:cNvPr id="10" name="TextBox 9">
            <a:extLst>
              <a:ext uri="{FF2B5EF4-FFF2-40B4-BE49-F238E27FC236}">
                <a16:creationId xmlns:a16="http://schemas.microsoft.com/office/drawing/2014/main" id="{33EC809C-39B5-3F62-8636-B6A307362A33}"/>
              </a:ext>
            </a:extLst>
          </p:cNvPr>
          <p:cNvSpPr txBox="1"/>
          <p:nvPr/>
        </p:nvSpPr>
        <p:spPr>
          <a:xfrm>
            <a:off x="838200" y="3035300"/>
            <a:ext cx="2921000" cy="276999"/>
          </a:xfrm>
          <a:prstGeom prst="rect">
            <a:avLst/>
          </a:prstGeom>
          <a:noFill/>
        </p:spPr>
        <p:txBody>
          <a:bodyPr vert="horz" wrap="square" lIns="0" tIns="0" rIns="0" bIns="0" rtlCol="0" anchor="t">
            <a:noAutofit/>
          </a:bodyPr>
          <a:lstStyle/>
          <a:p>
            <a:r>
              <a:rPr lang="en-US" sz="1400" b="1">
                <a:solidFill>
                  <a:srgbClr val="192D4B"/>
                </a:solidFill>
                <a:latin typeface="Aptos" panose="020B0004020202020204" pitchFamily="34" charset="0"/>
              </a:rPr>
              <a:t>100 observations</a:t>
            </a:r>
          </a:p>
        </p:txBody>
      </p:sp>
      <p:cxnSp>
        <p:nvCxnSpPr>
          <p:cNvPr id="11" name="Straight Connector 10">
            <a:extLst>
              <a:ext uri="{FF2B5EF4-FFF2-40B4-BE49-F238E27FC236}">
                <a16:creationId xmlns:a16="http://schemas.microsoft.com/office/drawing/2014/main" id="{2C60744F-347B-612B-86FA-DE6092033C81}"/>
              </a:ext>
            </a:extLst>
          </p:cNvPr>
          <p:cNvCxnSpPr/>
          <p:nvPr/>
        </p:nvCxnSpPr>
        <p:spPr>
          <a:xfrm>
            <a:off x="838200" y="3695700"/>
            <a:ext cx="2921000" cy="0"/>
          </a:xfrm>
          <a:prstGeom prst="line">
            <a:avLst/>
          </a:prstGeom>
          <a:ln w="12700">
            <a:solidFill>
              <a:srgbClr val="496FA8"/>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A4CFEE2-D3E9-6840-EE9A-139B2B4F4758}"/>
              </a:ext>
            </a:extLst>
          </p:cNvPr>
          <p:cNvSpPr txBox="1"/>
          <p:nvPr/>
        </p:nvSpPr>
        <p:spPr>
          <a:xfrm>
            <a:off x="838200" y="39370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5/15 target SAST resolved
15/15 primary suites passed
10 SAST/runtime disagreements</a:t>
            </a:r>
          </a:p>
        </p:txBody>
      </p:sp>
      <p:sp>
        <p:nvSpPr>
          <p:cNvPr id="13" name="Rectangle: Rounded Corners 12">
            <a:extLst>
              <a:ext uri="{FF2B5EF4-FFF2-40B4-BE49-F238E27FC236}">
                <a16:creationId xmlns:a16="http://schemas.microsoft.com/office/drawing/2014/main" id="{BB5335F5-F7A0-84C7-5BAF-C1FE00F6C8B8}"/>
              </a:ext>
            </a:extLst>
          </p:cNvPr>
          <p:cNvSpPr/>
          <p:nvPr/>
        </p:nvSpPr>
        <p:spPr>
          <a:xfrm>
            <a:off x="4292600" y="1752600"/>
            <a:ext cx="3378200" cy="3175000"/>
          </a:xfrm>
          <a:prstGeom prst="roundRect">
            <a:avLst/>
          </a:prstGeom>
          <a:solidFill>
            <a:srgbClr val="FFF4E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E2C91AA-91E8-437E-FC4D-AC5113DE5449}"/>
              </a:ext>
            </a:extLst>
          </p:cNvPr>
          <p:cNvSpPr txBox="1"/>
          <p:nvPr/>
        </p:nvSpPr>
        <p:spPr>
          <a:xfrm>
            <a:off x="4521200" y="1993900"/>
            <a:ext cx="2921000" cy="276999"/>
          </a:xfrm>
          <a:prstGeom prst="rect">
            <a:avLst/>
          </a:prstGeom>
          <a:noFill/>
        </p:spPr>
        <p:txBody>
          <a:bodyPr vert="horz" wrap="square" lIns="0" tIns="0" rIns="0" bIns="0" rtlCol="0" anchor="t">
            <a:noAutofit/>
          </a:bodyPr>
          <a:lstStyle/>
          <a:p>
            <a:r>
              <a:rPr lang="en-US" sz="1100" b="1">
                <a:solidFill>
                  <a:srgbClr val="E09630"/>
                </a:solidFill>
                <a:latin typeface="Aptos" panose="020B0004020202020204" pitchFamily="34" charset="0"/>
              </a:rPr>
              <a:t>SUPPLEMENTAL-v1</a:t>
            </a:r>
          </a:p>
        </p:txBody>
      </p:sp>
      <p:sp>
        <p:nvSpPr>
          <p:cNvPr id="15" name="TextBox 14">
            <a:extLst>
              <a:ext uri="{FF2B5EF4-FFF2-40B4-BE49-F238E27FC236}">
                <a16:creationId xmlns:a16="http://schemas.microsoft.com/office/drawing/2014/main" id="{65B9377D-B738-5B78-3CEB-19F28D2E10C4}"/>
              </a:ext>
            </a:extLst>
          </p:cNvPr>
          <p:cNvSpPr txBox="1"/>
          <p:nvPr/>
        </p:nvSpPr>
        <p:spPr>
          <a:xfrm>
            <a:off x="4521200" y="2451100"/>
            <a:ext cx="2921000" cy="276999"/>
          </a:xfrm>
          <a:prstGeom prst="rect">
            <a:avLst/>
          </a:prstGeom>
          <a:noFill/>
        </p:spPr>
        <p:txBody>
          <a:bodyPr vert="horz" wrap="square" lIns="0" tIns="0" rIns="0" bIns="0" rtlCol="0" anchor="t">
            <a:noAutofit/>
          </a:bodyPr>
          <a:lstStyle/>
          <a:p>
            <a:r>
              <a:rPr lang="en-US" sz="2400" b="1">
                <a:solidFill>
                  <a:srgbClr val="102646"/>
                </a:solidFill>
                <a:latin typeface="Aptos" panose="020B0004020202020204" pitchFamily="34" charset="0"/>
              </a:rPr>
              <a:t>140 observations</a:t>
            </a:r>
          </a:p>
        </p:txBody>
      </p:sp>
      <p:sp>
        <p:nvSpPr>
          <p:cNvPr id="16" name="TextBox 15">
            <a:extLst>
              <a:ext uri="{FF2B5EF4-FFF2-40B4-BE49-F238E27FC236}">
                <a16:creationId xmlns:a16="http://schemas.microsoft.com/office/drawing/2014/main" id="{171D2824-01CC-F109-D5BE-1548E16532B0}"/>
              </a:ext>
            </a:extLst>
          </p:cNvPr>
          <p:cNvSpPr txBox="1"/>
          <p:nvPr/>
        </p:nvSpPr>
        <p:spPr>
          <a:xfrm>
            <a:off x="4521200" y="3035300"/>
            <a:ext cx="2921000" cy="276999"/>
          </a:xfrm>
          <a:prstGeom prst="rect">
            <a:avLst/>
          </a:prstGeom>
          <a:noFill/>
        </p:spPr>
        <p:txBody>
          <a:bodyPr vert="horz" wrap="square" lIns="0" tIns="0" rIns="0" bIns="0" rtlCol="0" anchor="t">
            <a:noAutofit/>
          </a:bodyPr>
          <a:lstStyle/>
          <a:p>
            <a:r>
              <a:rPr lang="fr-FR" sz="1400" b="1">
                <a:solidFill>
                  <a:srgbClr val="192D4B"/>
                </a:solidFill>
                <a:latin typeface="Aptos" panose="020B0004020202020204" pitchFamily="34" charset="0"/>
              </a:rPr>
              <a:t>120 pass | 15 fail | 5 inconclusive</a:t>
            </a:r>
            <a:endParaRPr lang="en-US" sz="1400" b="1">
              <a:solidFill>
                <a:srgbClr val="192D4B"/>
              </a:solidFill>
              <a:latin typeface="Aptos" panose="020B0004020202020204" pitchFamily="34" charset="0"/>
            </a:endParaRPr>
          </a:p>
        </p:txBody>
      </p:sp>
      <p:cxnSp>
        <p:nvCxnSpPr>
          <p:cNvPr id="17" name="Straight Connector 16">
            <a:extLst>
              <a:ext uri="{FF2B5EF4-FFF2-40B4-BE49-F238E27FC236}">
                <a16:creationId xmlns:a16="http://schemas.microsoft.com/office/drawing/2014/main" id="{BD0DA1FE-3B10-3726-955F-86BD2394F2B8}"/>
              </a:ext>
            </a:extLst>
          </p:cNvPr>
          <p:cNvCxnSpPr/>
          <p:nvPr/>
        </p:nvCxnSpPr>
        <p:spPr>
          <a:xfrm>
            <a:off x="4521200" y="3695700"/>
            <a:ext cx="2921000" cy="0"/>
          </a:xfrm>
          <a:prstGeom prst="line">
            <a:avLst/>
          </a:prstGeom>
          <a:ln w="12700">
            <a:solidFill>
              <a:srgbClr val="E09630"/>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106A2CE0-1563-84D9-3B43-4C64A1025408}"/>
              </a:ext>
            </a:extLst>
          </p:cNvPr>
          <p:cNvSpPr txBox="1"/>
          <p:nvPr/>
        </p:nvSpPr>
        <p:spPr>
          <a:xfrm>
            <a:off x="4521200" y="39370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Security, behavioral parity,
and robustness remain separate</a:t>
            </a:r>
          </a:p>
        </p:txBody>
      </p:sp>
      <p:sp>
        <p:nvSpPr>
          <p:cNvPr id="19" name="Rectangle: Rounded Corners 18">
            <a:extLst>
              <a:ext uri="{FF2B5EF4-FFF2-40B4-BE49-F238E27FC236}">
                <a16:creationId xmlns:a16="http://schemas.microsoft.com/office/drawing/2014/main" id="{C59F5C75-5289-72A0-A809-D5296906D066}"/>
              </a:ext>
            </a:extLst>
          </p:cNvPr>
          <p:cNvSpPr/>
          <p:nvPr/>
        </p:nvSpPr>
        <p:spPr>
          <a:xfrm>
            <a:off x="7975600" y="1752600"/>
            <a:ext cx="3378200" cy="3175000"/>
          </a:xfrm>
          <a:prstGeom prst="roundRect">
            <a:avLst/>
          </a:prstGeom>
          <a:solidFill>
            <a:srgbClr val="F2EDFA"/>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C4E5E61-4950-4CEA-CB7E-B5274105D011}"/>
              </a:ext>
            </a:extLst>
          </p:cNvPr>
          <p:cNvSpPr txBox="1"/>
          <p:nvPr/>
        </p:nvSpPr>
        <p:spPr>
          <a:xfrm>
            <a:off x="8204200" y="1993900"/>
            <a:ext cx="2921000" cy="276999"/>
          </a:xfrm>
          <a:prstGeom prst="rect">
            <a:avLst/>
          </a:prstGeom>
          <a:noFill/>
        </p:spPr>
        <p:txBody>
          <a:bodyPr vert="horz" wrap="square" lIns="0" tIns="0" rIns="0" bIns="0" rtlCol="0" anchor="t">
            <a:noAutofit/>
          </a:bodyPr>
          <a:lstStyle/>
          <a:p>
            <a:r>
              <a:rPr lang="en-US" sz="1100" b="1">
                <a:solidFill>
                  <a:srgbClr val="755D9B"/>
                </a:solidFill>
                <a:latin typeface="Aptos" panose="020B0004020202020204" pitchFamily="34" charset="0"/>
              </a:rPr>
              <a:t>PATH-S06 EXTENSION</a:t>
            </a:r>
          </a:p>
        </p:txBody>
      </p:sp>
      <p:sp>
        <p:nvSpPr>
          <p:cNvPr id="21" name="TextBox 20">
            <a:extLst>
              <a:ext uri="{FF2B5EF4-FFF2-40B4-BE49-F238E27FC236}">
                <a16:creationId xmlns:a16="http://schemas.microsoft.com/office/drawing/2014/main" id="{AD859DAB-4C2D-080A-E90B-3D58C6219770}"/>
              </a:ext>
            </a:extLst>
          </p:cNvPr>
          <p:cNvSpPr txBox="1"/>
          <p:nvPr/>
        </p:nvSpPr>
        <p:spPr>
          <a:xfrm>
            <a:off x="8204200" y="2451100"/>
            <a:ext cx="2921000" cy="276999"/>
          </a:xfrm>
          <a:prstGeom prst="rect">
            <a:avLst/>
          </a:prstGeom>
          <a:noFill/>
        </p:spPr>
        <p:txBody>
          <a:bodyPr vert="horz" wrap="square" lIns="0" tIns="0" rIns="0" bIns="0" rtlCol="0" anchor="t">
            <a:noAutofit/>
          </a:bodyPr>
          <a:lstStyle/>
          <a:p>
            <a:r>
              <a:rPr lang="en-US" sz="2400" b="1">
                <a:solidFill>
                  <a:srgbClr val="102646"/>
                </a:solidFill>
                <a:latin typeface="Aptos" panose="020B0004020202020204" pitchFamily="34" charset="0"/>
              </a:rPr>
              <a:t>5 observations</a:t>
            </a:r>
          </a:p>
        </p:txBody>
      </p:sp>
      <p:sp>
        <p:nvSpPr>
          <p:cNvPr id="22" name="TextBox 21">
            <a:extLst>
              <a:ext uri="{FF2B5EF4-FFF2-40B4-BE49-F238E27FC236}">
                <a16:creationId xmlns:a16="http://schemas.microsoft.com/office/drawing/2014/main" id="{EEFF58C4-4F2F-1740-A338-375C64165831}"/>
              </a:ext>
            </a:extLst>
          </p:cNvPr>
          <p:cNvSpPr txBox="1"/>
          <p:nvPr/>
        </p:nvSpPr>
        <p:spPr>
          <a:xfrm>
            <a:off x="8204200" y="3035300"/>
            <a:ext cx="2921000" cy="276999"/>
          </a:xfrm>
          <a:prstGeom prst="rect">
            <a:avLst/>
          </a:prstGeom>
          <a:noFill/>
        </p:spPr>
        <p:txBody>
          <a:bodyPr vert="horz" wrap="square" lIns="0" tIns="0" rIns="0" bIns="0" rtlCol="0" anchor="t">
            <a:noAutofit/>
          </a:bodyPr>
          <a:lstStyle/>
          <a:p>
            <a:r>
              <a:rPr lang="fr-FR" sz="1400" b="1">
                <a:solidFill>
                  <a:srgbClr val="192D4B"/>
                </a:solidFill>
                <a:latin typeface="Aptos" panose="020B0004020202020204" pitchFamily="34" charset="0"/>
              </a:rPr>
              <a:t>0 pass | 5 fail | 0 inconclusive</a:t>
            </a:r>
            <a:endParaRPr lang="en-US" sz="1400" b="1">
              <a:solidFill>
                <a:srgbClr val="192D4B"/>
              </a:solidFill>
              <a:latin typeface="Aptos" panose="020B0004020202020204" pitchFamily="34" charset="0"/>
            </a:endParaRPr>
          </a:p>
        </p:txBody>
      </p:sp>
      <p:cxnSp>
        <p:nvCxnSpPr>
          <p:cNvPr id="23" name="Straight Connector 22">
            <a:extLst>
              <a:ext uri="{FF2B5EF4-FFF2-40B4-BE49-F238E27FC236}">
                <a16:creationId xmlns:a16="http://schemas.microsoft.com/office/drawing/2014/main" id="{7F2CC9ED-0C99-6562-77C3-C452BDE6AA31}"/>
              </a:ext>
            </a:extLst>
          </p:cNvPr>
          <p:cNvCxnSpPr/>
          <p:nvPr/>
        </p:nvCxnSpPr>
        <p:spPr>
          <a:xfrm>
            <a:off x="8204200" y="3695700"/>
            <a:ext cx="2921000" cy="0"/>
          </a:xfrm>
          <a:prstGeom prst="line">
            <a:avLst/>
          </a:prstGeom>
          <a:ln w="12700">
            <a:solidFill>
              <a:srgbClr val="755D9B"/>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5851FB80-6CAA-E539-01EE-44D628543F4A}"/>
              </a:ext>
            </a:extLst>
          </p:cNvPr>
          <p:cNvSpPr txBox="1"/>
          <p:nvPr/>
        </p:nvSpPr>
        <p:spPr>
          <a:xfrm>
            <a:off x="8204200" y="39370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One registered Linux
symbolic-link case per candidate</a:t>
            </a:r>
          </a:p>
        </p:txBody>
      </p:sp>
      <p:sp>
        <p:nvSpPr>
          <p:cNvPr id="25" name="Rectangle: Rounded Corners 24">
            <a:extLst>
              <a:ext uri="{FF2B5EF4-FFF2-40B4-BE49-F238E27FC236}">
                <a16:creationId xmlns:a16="http://schemas.microsoft.com/office/drawing/2014/main" id="{68592C0D-8D83-8000-589F-BDC369E1964C}"/>
              </a:ext>
            </a:extLst>
          </p:cNvPr>
          <p:cNvSpPr/>
          <p:nvPr/>
        </p:nvSpPr>
        <p:spPr>
          <a:xfrm>
            <a:off x="1244600" y="5334000"/>
            <a:ext cx="9702800" cy="685800"/>
          </a:xfrm>
          <a:prstGeom prst="roundRect">
            <a:avLst/>
          </a:prstGeom>
          <a:solidFill>
            <a:srgbClr val="102646"/>
          </a:solidFill>
          <a:ln w="15240">
            <a:solidFill>
              <a:srgbClr val="102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93569005-5A68-3741-91ED-03A401D4DFAD}"/>
              </a:ext>
            </a:extLst>
          </p:cNvPr>
          <p:cNvSpPr txBox="1"/>
          <p:nvPr/>
        </p:nvSpPr>
        <p:spPr>
          <a:xfrm>
            <a:off x="1498600" y="5549900"/>
            <a:ext cx="2133600" cy="276999"/>
          </a:xfrm>
          <a:prstGeom prst="rect">
            <a:avLst/>
          </a:prstGeom>
          <a:noFill/>
        </p:spPr>
        <p:txBody>
          <a:bodyPr vert="horz" wrap="square" lIns="0" tIns="0" rIns="0" bIns="0" rtlCol="0" anchor="t">
            <a:noAutofit/>
          </a:bodyPr>
          <a:lstStyle/>
          <a:p>
            <a:r>
              <a:rPr lang="en-US" sz="1300" b="1">
                <a:solidFill>
                  <a:srgbClr val="92B4E0"/>
                </a:solidFill>
                <a:latin typeface="Aptos" panose="020B0004020202020204" pitchFamily="34" charset="0"/>
              </a:rPr>
              <a:t>29 HUMAN RECORDS</a:t>
            </a:r>
          </a:p>
        </p:txBody>
      </p:sp>
      <p:sp>
        <p:nvSpPr>
          <p:cNvPr id="27" name="TextBox 26">
            <a:extLst>
              <a:ext uri="{FF2B5EF4-FFF2-40B4-BE49-F238E27FC236}">
                <a16:creationId xmlns:a16="http://schemas.microsoft.com/office/drawing/2014/main" id="{5A7464BC-E83C-9998-DCCA-F4B33950C1C8}"/>
              </a:ext>
            </a:extLst>
          </p:cNvPr>
          <p:cNvSpPr txBox="1"/>
          <p:nvPr/>
        </p:nvSpPr>
        <p:spPr>
          <a:xfrm>
            <a:off x="3733800" y="5511800"/>
            <a:ext cx="6959600" cy="276999"/>
          </a:xfrm>
          <a:prstGeom prst="rect">
            <a:avLst/>
          </a:prstGeom>
          <a:noFill/>
        </p:spPr>
        <p:txBody>
          <a:bodyPr vert="horz" wrap="square" lIns="0" tIns="0" rIns="0" bIns="0" rtlCol="0" anchor="t">
            <a:noAutofit/>
          </a:bodyPr>
          <a:lstStyle/>
          <a:p>
            <a:pPr algn="ctr"/>
            <a:r>
              <a:rPr lang="en-US" sz="1500" b="1">
                <a:solidFill>
                  <a:srgbClr val="FFFFFF"/>
                </a:solidFill>
                <a:latin typeface="Aptos" panose="020B0004020202020204" pitchFamily="34" charset="0"/>
              </a:rPr>
              <a:t>Primary, supplemental, and extension outcomes are not one combined success rate.</a:t>
            </a:r>
          </a:p>
        </p:txBody>
      </p:sp>
    </p:spTree>
    <p:extLst>
      <p:ext uri="{BB962C8B-B14F-4D97-AF65-F5344CB8AC3E}">
        <p14:creationId xmlns:p14="http://schemas.microsoft.com/office/powerpoint/2010/main" val="1019692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3E6C17-0839-DC00-8E89-55B62A70BDFC}"/>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4. CASE-LEVEL INTERPRETATION</a:t>
            </a:r>
          </a:p>
        </p:txBody>
      </p:sp>
      <p:sp>
        <p:nvSpPr>
          <p:cNvPr id="3" name="TextBox 2">
            <a:extLst>
              <a:ext uri="{FF2B5EF4-FFF2-40B4-BE49-F238E27FC236}">
                <a16:creationId xmlns:a16="http://schemas.microsoft.com/office/drawing/2014/main" id="{E8A43C7A-0BFF-C9E3-1435-BFCEAFC3433E}"/>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Why multiple evidence channels mattered</a:t>
            </a:r>
          </a:p>
        </p:txBody>
      </p:sp>
      <p:cxnSp>
        <p:nvCxnSpPr>
          <p:cNvPr id="4" name="Straight Connector 3">
            <a:extLst>
              <a:ext uri="{FF2B5EF4-FFF2-40B4-BE49-F238E27FC236}">
                <a16:creationId xmlns:a16="http://schemas.microsoft.com/office/drawing/2014/main" id="{4179BB8B-639B-C200-64A8-5F89C3AE0036}"/>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E023C59-A9C6-7C8C-E5E4-06B406E27CB0}"/>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9BB6B9E0-08E1-4600-A4EF-CA10A2A63D2D}"/>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5</a:t>
            </a:r>
          </a:p>
        </p:txBody>
      </p:sp>
      <p:sp>
        <p:nvSpPr>
          <p:cNvPr id="7" name="Rectangle: Rounded Corners 6">
            <a:extLst>
              <a:ext uri="{FF2B5EF4-FFF2-40B4-BE49-F238E27FC236}">
                <a16:creationId xmlns:a16="http://schemas.microsoft.com/office/drawing/2014/main" id="{65198E2F-641E-AB0A-2C7E-EBD533AE7A52}"/>
              </a:ext>
            </a:extLst>
          </p:cNvPr>
          <p:cNvSpPr/>
          <p:nvPr/>
        </p:nvSpPr>
        <p:spPr>
          <a:xfrm>
            <a:off x="609600" y="1727200"/>
            <a:ext cx="3378200" cy="4064000"/>
          </a:xfrm>
          <a:prstGeom prst="roundRect">
            <a:avLst/>
          </a:prstGeom>
          <a:solidFill>
            <a:srgbClr val="FFFFFF"/>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1C132A82-376F-665A-ACA8-E1FE78FBE5BA}"/>
              </a:ext>
            </a:extLst>
          </p:cNvPr>
          <p:cNvSpPr/>
          <p:nvPr/>
        </p:nvSpPr>
        <p:spPr>
          <a:xfrm>
            <a:off x="609600" y="1727200"/>
            <a:ext cx="3378200" cy="558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06E5C77-3EE0-C6B7-A5E3-3F6E9847DB73}"/>
              </a:ext>
            </a:extLst>
          </p:cNvPr>
          <p:cNvSpPr txBox="1"/>
          <p:nvPr/>
        </p:nvSpPr>
        <p:spPr>
          <a:xfrm>
            <a:off x="812800" y="1892300"/>
            <a:ext cx="2971800" cy="276999"/>
          </a:xfrm>
          <a:prstGeom prst="rect">
            <a:avLst/>
          </a:prstGeom>
          <a:noFill/>
        </p:spPr>
        <p:txBody>
          <a:bodyPr vert="horz" wrap="square" lIns="0" tIns="0" rIns="0" bIns="0" rtlCol="0" anchor="t">
            <a:noAutofit/>
          </a:bodyPr>
          <a:lstStyle/>
          <a:p>
            <a:pPr algn="ctr"/>
            <a:r>
              <a:rPr lang="en-US" sz="1200" b="1">
                <a:solidFill>
                  <a:srgbClr val="496FA8"/>
                </a:solidFill>
                <a:latin typeface="Aptos" panose="020B0004020202020204" pitchFamily="34" charset="0"/>
              </a:rPr>
              <a:t>REFLECTED XSS</a:t>
            </a:r>
          </a:p>
        </p:txBody>
      </p:sp>
      <p:sp>
        <p:nvSpPr>
          <p:cNvPr id="10" name="TextBox 9">
            <a:extLst>
              <a:ext uri="{FF2B5EF4-FFF2-40B4-BE49-F238E27FC236}">
                <a16:creationId xmlns:a16="http://schemas.microsoft.com/office/drawing/2014/main" id="{9B36BF60-BD65-83FC-116E-A23FEB59F254}"/>
              </a:ext>
            </a:extLst>
          </p:cNvPr>
          <p:cNvSpPr txBox="1"/>
          <p:nvPr/>
        </p:nvSpPr>
        <p:spPr>
          <a:xfrm>
            <a:off x="838200" y="2590800"/>
            <a:ext cx="914400" cy="276999"/>
          </a:xfrm>
          <a:prstGeom prst="rect">
            <a:avLst/>
          </a:prstGeom>
          <a:noFill/>
        </p:spPr>
        <p:txBody>
          <a:bodyPr vert="horz" wrap="square" lIns="0" tIns="0" rIns="0" bIns="0" rtlCol="0" anchor="t">
            <a:noAutofit/>
          </a:bodyPr>
          <a:lstStyle/>
          <a:p>
            <a:r>
              <a:rPr lang="en-US" sz="1000" b="1">
                <a:solidFill>
                  <a:srgbClr val="3D8974"/>
                </a:solidFill>
                <a:latin typeface="Aptos" panose="020B0004020202020204" pitchFamily="34" charset="0"/>
              </a:rPr>
              <a:t>PASSED</a:t>
            </a:r>
          </a:p>
        </p:txBody>
      </p:sp>
      <p:sp>
        <p:nvSpPr>
          <p:cNvPr id="11" name="TextBox 10">
            <a:extLst>
              <a:ext uri="{FF2B5EF4-FFF2-40B4-BE49-F238E27FC236}">
                <a16:creationId xmlns:a16="http://schemas.microsoft.com/office/drawing/2014/main" id="{AD8865AD-1BBF-2A3C-F536-984E963AC745}"/>
              </a:ext>
            </a:extLst>
          </p:cNvPr>
          <p:cNvSpPr txBox="1"/>
          <p:nvPr/>
        </p:nvSpPr>
        <p:spPr>
          <a:xfrm>
            <a:off x="838200" y="2882900"/>
            <a:ext cx="2921000" cy="276999"/>
          </a:xfrm>
          <a:prstGeom prst="rect">
            <a:avLst/>
          </a:prstGeom>
          <a:noFill/>
        </p:spPr>
        <p:txBody>
          <a:bodyPr vert="horz" wrap="square" lIns="0" tIns="0" rIns="0" bIns="0" rtlCol="0" anchor="t">
            <a:noAutofit/>
          </a:bodyPr>
          <a:lstStyle/>
          <a:p>
            <a:r>
              <a:rPr lang="en-US" sz="1500" b="1">
                <a:solidFill>
                  <a:srgbClr val="102646"/>
                </a:solidFill>
                <a:latin typeface="Aptos" panose="020B0004020202020204" pitchFamily="34" charset="0"/>
              </a:rPr>
              <a:t>Registered attacks blocked</a:t>
            </a:r>
          </a:p>
        </p:txBody>
      </p:sp>
      <p:sp>
        <p:nvSpPr>
          <p:cNvPr id="12" name="TextBox 11">
            <a:extLst>
              <a:ext uri="{FF2B5EF4-FFF2-40B4-BE49-F238E27FC236}">
                <a16:creationId xmlns:a16="http://schemas.microsoft.com/office/drawing/2014/main" id="{9F268EEC-1A98-DF7B-40FD-07A43E3C1D1A}"/>
              </a:ext>
            </a:extLst>
          </p:cNvPr>
          <p:cNvSpPr txBox="1"/>
          <p:nvPr/>
        </p:nvSpPr>
        <p:spPr>
          <a:xfrm>
            <a:off x="838200" y="3581400"/>
            <a:ext cx="1397000" cy="276999"/>
          </a:xfrm>
          <a:prstGeom prst="rect">
            <a:avLst/>
          </a:prstGeom>
          <a:noFill/>
        </p:spPr>
        <p:txBody>
          <a:bodyPr vert="horz" wrap="square" lIns="0" tIns="0" rIns="0" bIns="0" rtlCol="0" anchor="t">
            <a:noAutofit/>
          </a:bodyPr>
          <a:lstStyle/>
          <a:p>
            <a:r>
              <a:rPr lang="en-US" sz="1000" b="1">
                <a:solidFill>
                  <a:srgbClr val="E09630"/>
                </a:solidFill>
                <a:latin typeface="Aptos" panose="020B0004020202020204" pitchFamily="34" charset="0"/>
              </a:rPr>
              <a:t>QUALIFICATION</a:t>
            </a:r>
          </a:p>
        </p:txBody>
      </p:sp>
      <p:sp>
        <p:nvSpPr>
          <p:cNvPr id="13" name="TextBox 12">
            <a:extLst>
              <a:ext uri="{FF2B5EF4-FFF2-40B4-BE49-F238E27FC236}">
                <a16:creationId xmlns:a16="http://schemas.microsoft.com/office/drawing/2014/main" id="{51CBF15E-8007-BD48-BB1C-7C6A5C1BC971}"/>
              </a:ext>
            </a:extLst>
          </p:cNvPr>
          <p:cNvSpPr txBox="1"/>
          <p:nvPr/>
        </p:nvSpPr>
        <p:spPr>
          <a:xfrm>
            <a:off x="838200" y="3873500"/>
            <a:ext cx="2921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4 of 5 failed XSS-P01 parity</a:t>
            </a:r>
          </a:p>
        </p:txBody>
      </p:sp>
      <p:cxnSp>
        <p:nvCxnSpPr>
          <p:cNvPr id="14" name="Straight Connector 13">
            <a:extLst>
              <a:ext uri="{FF2B5EF4-FFF2-40B4-BE49-F238E27FC236}">
                <a16:creationId xmlns:a16="http://schemas.microsoft.com/office/drawing/2014/main" id="{AA5B351B-13F1-8DFF-B30C-133C1EA9DE4E}"/>
              </a:ext>
            </a:extLst>
          </p:cNvPr>
          <p:cNvCxnSpPr/>
          <p:nvPr/>
        </p:nvCxnSpPr>
        <p:spPr>
          <a:xfrm>
            <a:off x="838200" y="4597400"/>
            <a:ext cx="29210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C9B74C5-F94F-8902-41B0-FFA66C67946A}"/>
              </a:ext>
            </a:extLst>
          </p:cNvPr>
          <p:cNvSpPr txBox="1"/>
          <p:nvPr/>
        </p:nvSpPr>
        <p:spPr>
          <a:xfrm>
            <a:off x="838200" y="48387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Later rejection for exact behavior - not continued exploitability</a:t>
            </a:r>
          </a:p>
        </p:txBody>
      </p:sp>
      <p:sp>
        <p:nvSpPr>
          <p:cNvPr id="16" name="Rectangle: Rounded Corners 15">
            <a:extLst>
              <a:ext uri="{FF2B5EF4-FFF2-40B4-BE49-F238E27FC236}">
                <a16:creationId xmlns:a16="http://schemas.microsoft.com/office/drawing/2014/main" id="{0B16E9B9-8EC7-4127-5D6F-26B315485D78}"/>
              </a:ext>
            </a:extLst>
          </p:cNvPr>
          <p:cNvSpPr/>
          <p:nvPr/>
        </p:nvSpPr>
        <p:spPr>
          <a:xfrm>
            <a:off x="4292600" y="1727200"/>
            <a:ext cx="3378200" cy="4064000"/>
          </a:xfrm>
          <a:prstGeom prst="roundRect">
            <a:avLst/>
          </a:prstGeom>
          <a:solidFill>
            <a:srgbClr val="FFFFFF"/>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E08AA0D5-A297-BAD0-0D0F-64FBBE56EBCD}"/>
              </a:ext>
            </a:extLst>
          </p:cNvPr>
          <p:cNvSpPr/>
          <p:nvPr/>
        </p:nvSpPr>
        <p:spPr>
          <a:xfrm>
            <a:off x="4292600" y="1727200"/>
            <a:ext cx="3378200" cy="558800"/>
          </a:xfrm>
          <a:prstGeom prst="roundRect">
            <a:avLst/>
          </a:prstGeom>
          <a:solidFill>
            <a:srgbClr val="FFF4E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2D5F3A5-62FD-4E2F-3718-2B568FD9B705}"/>
              </a:ext>
            </a:extLst>
          </p:cNvPr>
          <p:cNvSpPr txBox="1"/>
          <p:nvPr/>
        </p:nvSpPr>
        <p:spPr>
          <a:xfrm>
            <a:off x="4495800" y="1892300"/>
            <a:ext cx="2971800" cy="276999"/>
          </a:xfrm>
          <a:prstGeom prst="rect">
            <a:avLst/>
          </a:prstGeom>
          <a:noFill/>
        </p:spPr>
        <p:txBody>
          <a:bodyPr vert="horz" wrap="square" lIns="0" tIns="0" rIns="0" bIns="0" rtlCol="0" anchor="t">
            <a:noAutofit/>
          </a:bodyPr>
          <a:lstStyle/>
          <a:p>
            <a:pPr algn="ctr"/>
            <a:r>
              <a:rPr lang="en-US" sz="1200" b="1">
                <a:solidFill>
                  <a:srgbClr val="E09630"/>
                </a:solidFill>
                <a:latin typeface="Aptos" panose="020B0004020202020204" pitchFamily="34" charset="0"/>
              </a:rPr>
              <a:t>SQL INJECTION</a:t>
            </a:r>
          </a:p>
        </p:txBody>
      </p:sp>
      <p:sp>
        <p:nvSpPr>
          <p:cNvPr id="19" name="TextBox 18">
            <a:extLst>
              <a:ext uri="{FF2B5EF4-FFF2-40B4-BE49-F238E27FC236}">
                <a16:creationId xmlns:a16="http://schemas.microsoft.com/office/drawing/2014/main" id="{EA0A243D-B214-CFC7-C2F0-A5E37C9BB51D}"/>
              </a:ext>
            </a:extLst>
          </p:cNvPr>
          <p:cNvSpPr txBox="1"/>
          <p:nvPr/>
        </p:nvSpPr>
        <p:spPr>
          <a:xfrm>
            <a:off x="4521200" y="2590800"/>
            <a:ext cx="914400" cy="276999"/>
          </a:xfrm>
          <a:prstGeom prst="rect">
            <a:avLst/>
          </a:prstGeom>
          <a:noFill/>
        </p:spPr>
        <p:txBody>
          <a:bodyPr vert="horz" wrap="square" lIns="0" tIns="0" rIns="0" bIns="0" rtlCol="0" anchor="t">
            <a:noAutofit/>
          </a:bodyPr>
          <a:lstStyle/>
          <a:p>
            <a:r>
              <a:rPr lang="en-US" sz="1000" b="1">
                <a:solidFill>
                  <a:srgbClr val="3D8974"/>
                </a:solidFill>
                <a:latin typeface="Aptos" panose="020B0004020202020204" pitchFamily="34" charset="0"/>
              </a:rPr>
              <a:t>PASSED</a:t>
            </a:r>
          </a:p>
        </p:txBody>
      </p:sp>
      <p:sp>
        <p:nvSpPr>
          <p:cNvPr id="20" name="TextBox 19">
            <a:extLst>
              <a:ext uri="{FF2B5EF4-FFF2-40B4-BE49-F238E27FC236}">
                <a16:creationId xmlns:a16="http://schemas.microsoft.com/office/drawing/2014/main" id="{E3820048-1775-36C4-D334-F5D6D8F7B50B}"/>
              </a:ext>
            </a:extLst>
          </p:cNvPr>
          <p:cNvSpPr txBox="1"/>
          <p:nvPr/>
        </p:nvSpPr>
        <p:spPr>
          <a:xfrm>
            <a:off x="4521200" y="2882900"/>
            <a:ext cx="2921000" cy="276999"/>
          </a:xfrm>
          <a:prstGeom prst="rect">
            <a:avLst/>
          </a:prstGeom>
          <a:noFill/>
        </p:spPr>
        <p:txBody>
          <a:bodyPr vert="horz" wrap="square" lIns="0" tIns="0" rIns="0" bIns="0" rtlCol="0" anchor="t">
            <a:noAutofit/>
          </a:bodyPr>
          <a:lstStyle/>
          <a:p>
            <a:r>
              <a:rPr lang="en-US" sz="1500" b="1">
                <a:solidFill>
                  <a:srgbClr val="102646"/>
                </a:solidFill>
                <a:latin typeface="Aptos" panose="020B0004020202020204" pitchFamily="34" charset="0"/>
              </a:rPr>
              <a:t>Security 15/15 | parity 10/10</a:t>
            </a:r>
          </a:p>
        </p:txBody>
      </p:sp>
      <p:sp>
        <p:nvSpPr>
          <p:cNvPr id="21" name="TextBox 20">
            <a:extLst>
              <a:ext uri="{FF2B5EF4-FFF2-40B4-BE49-F238E27FC236}">
                <a16:creationId xmlns:a16="http://schemas.microsoft.com/office/drawing/2014/main" id="{3072D7BB-EC68-523C-FCFA-004B17F21C74}"/>
              </a:ext>
            </a:extLst>
          </p:cNvPr>
          <p:cNvSpPr txBox="1"/>
          <p:nvPr/>
        </p:nvSpPr>
        <p:spPr>
          <a:xfrm>
            <a:off x="4521200" y="3581400"/>
            <a:ext cx="1397000" cy="276999"/>
          </a:xfrm>
          <a:prstGeom prst="rect">
            <a:avLst/>
          </a:prstGeom>
          <a:noFill/>
        </p:spPr>
        <p:txBody>
          <a:bodyPr vert="horz" wrap="square" lIns="0" tIns="0" rIns="0" bIns="0" rtlCol="0" anchor="t">
            <a:noAutofit/>
          </a:bodyPr>
          <a:lstStyle/>
          <a:p>
            <a:r>
              <a:rPr lang="en-US" sz="1000" b="1">
                <a:solidFill>
                  <a:srgbClr val="E09630"/>
                </a:solidFill>
                <a:latin typeface="Aptos" panose="020B0004020202020204" pitchFamily="34" charset="0"/>
              </a:rPr>
              <a:t>QUALIFICATION</a:t>
            </a:r>
          </a:p>
        </p:txBody>
      </p:sp>
      <p:sp>
        <p:nvSpPr>
          <p:cNvPr id="22" name="TextBox 21">
            <a:extLst>
              <a:ext uri="{FF2B5EF4-FFF2-40B4-BE49-F238E27FC236}">
                <a16:creationId xmlns:a16="http://schemas.microsoft.com/office/drawing/2014/main" id="{7277899E-5EE1-87D2-6044-E57341282C41}"/>
              </a:ext>
            </a:extLst>
          </p:cNvPr>
          <p:cNvSpPr txBox="1"/>
          <p:nvPr/>
        </p:nvSpPr>
        <p:spPr>
          <a:xfrm>
            <a:off x="4521200" y="3873500"/>
            <a:ext cx="2921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SQL-R01 failed for all five</a:t>
            </a:r>
          </a:p>
        </p:txBody>
      </p:sp>
      <p:cxnSp>
        <p:nvCxnSpPr>
          <p:cNvPr id="23" name="Straight Connector 22">
            <a:extLst>
              <a:ext uri="{FF2B5EF4-FFF2-40B4-BE49-F238E27FC236}">
                <a16:creationId xmlns:a16="http://schemas.microsoft.com/office/drawing/2014/main" id="{E46F72D3-EE87-609C-9B18-E7427854B978}"/>
              </a:ext>
            </a:extLst>
          </p:cNvPr>
          <p:cNvCxnSpPr/>
          <p:nvPr/>
        </p:nvCxnSpPr>
        <p:spPr>
          <a:xfrm>
            <a:off x="4521200" y="4597400"/>
            <a:ext cx="29210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C974E273-D9D7-025E-274A-17511FEBC72B}"/>
              </a:ext>
            </a:extLst>
          </p:cNvPr>
          <p:cNvSpPr txBox="1"/>
          <p:nvPr/>
        </p:nvSpPr>
        <p:spPr>
          <a:xfrm>
            <a:off x="4521200" y="48387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Bounded injection acceptance with robustness limitation disclosed</a:t>
            </a:r>
          </a:p>
        </p:txBody>
      </p:sp>
      <p:sp>
        <p:nvSpPr>
          <p:cNvPr id="25" name="Rectangle: Rounded Corners 24">
            <a:extLst>
              <a:ext uri="{FF2B5EF4-FFF2-40B4-BE49-F238E27FC236}">
                <a16:creationId xmlns:a16="http://schemas.microsoft.com/office/drawing/2014/main" id="{A5DB8A69-06E8-07E0-3DCA-600F00941F2F}"/>
              </a:ext>
            </a:extLst>
          </p:cNvPr>
          <p:cNvSpPr/>
          <p:nvPr/>
        </p:nvSpPr>
        <p:spPr>
          <a:xfrm>
            <a:off x="7975600" y="1727200"/>
            <a:ext cx="3378200" cy="4064000"/>
          </a:xfrm>
          <a:prstGeom prst="roundRect">
            <a:avLst/>
          </a:prstGeom>
          <a:solidFill>
            <a:srgbClr val="FFFFFF"/>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7579EA41-7E0D-4D97-C3B6-6AD423FC72A2}"/>
              </a:ext>
            </a:extLst>
          </p:cNvPr>
          <p:cNvSpPr/>
          <p:nvPr/>
        </p:nvSpPr>
        <p:spPr>
          <a:xfrm>
            <a:off x="7975600" y="1727200"/>
            <a:ext cx="3378200" cy="558800"/>
          </a:xfrm>
          <a:prstGeom prst="roundRect">
            <a:avLst/>
          </a:prstGeom>
          <a:solidFill>
            <a:srgbClr val="F2EDFA"/>
          </a:solidFill>
          <a:ln w="15240">
            <a:solidFill>
              <a:srgbClr val="755D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3565D6B-2F5E-40D4-E84A-23500B85328C}"/>
              </a:ext>
            </a:extLst>
          </p:cNvPr>
          <p:cNvSpPr txBox="1"/>
          <p:nvPr/>
        </p:nvSpPr>
        <p:spPr>
          <a:xfrm>
            <a:off x="8178800" y="1892300"/>
            <a:ext cx="2971800" cy="276999"/>
          </a:xfrm>
          <a:prstGeom prst="rect">
            <a:avLst/>
          </a:prstGeom>
          <a:noFill/>
        </p:spPr>
        <p:txBody>
          <a:bodyPr vert="horz" wrap="square" lIns="0" tIns="0" rIns="0" bIns="0" rtlCol="0" anchor="t">
            <a:noAutofit/>
          </a:bodyPr>
          <a:lstStyle/>
          <a:p>
            <a:pPr algn="ctr"/>
            <a:r>
              <a:rPr lang="en-US" sz="1200" b="1">
                <a:solidFill>
                  <a:srgbClr val="755D9B"/>
                </a:solidFill>
                <a:latin typeface="Aptos" panose="020B0004020202020204" pitchFamily="34" charset="0"/>
              </a:rPr>
              <a:t>PATH TRAVERSAL</a:t>
            </a:r>
          </a:p>
        </p:txBody>
      </p:sp>
      <p:sp>
        <p:nvSpPr>
          <p:cNvPr id="28" name="TextBox 27">
            <a:extLst>
              <a:ext uri="{FF2B5EF4-FFF2-40B4-BE49-F238E27FC236}">
                <a16:creationId xmlns:a16="http://schemas.microsoft.com/office/drawing/2014/main" id="{C0CB3C2A-577F-9595-FF76-83FC9D6F1412}"/>
              </a:ext>
            </a:extLst>
          </p:cNvPr>
          <p:cNvSpPr txBox="1"/>
          <p:nvPr/>
        </p:nvSpPr>
        <p:spPr>
          <a:xfrm>
            <a:off x="8204200" y="2590800"/>
            <a:ext cx="914400" cy="276999"/>
          </a:xfrm>
          <a:prstGeom prst="rect">
            <a:avLst/>
          </a:prstGeom>
          <a:noFill/>
        </p:spPr>
        <p:txBody>
          <a:bodyPr vert="horz" wrap="square" lIns="0" tIns="0" rIns="0" bIns="0" rtlCol="0" anchor="t">
            <a:noAutofit/>
          </a:bodyPr>
          <a:lstStyle/>
          <a:p>
            <a:r>
              <a:rPr lang="en-US" sz="1000" b="1">
                <a:solidFill>
                  <a:srgbClr val="3D8974"/>
                </a:solidFill>
                <a:latin typeface="Aptos" panose="020B0004020202020204" pitchFamily="34" charset="0"/>
              </a:rPr>
              <a:t>PASSED</a:t>
            </a:r>
          </a:p>
        </p:txBody>
      </p:sp>
      <p:sp>
        <p:nvSpPr>
          <p:cNvPr id="29" name="TextBox 28">
            <a:extLst>
              <a:ext uri="{FF2B5EF4-FFF2-40B4-BE49-F238E27FC236}">
                <a16:creationId xmlns:a16="http://schemas.microsoft.com/office/drawing/2014/main" id="{07F3117A-1F7F-788C-D957-D075DA1446F5}"/>
              </a:ext>
            </a:extLst>
          </p:cNvPr>
          <p:cNvSpPr txBox="1"/>
          <p:nvPr/>
        </p:nvSpPr>
        <p:spPr>
          <a:xfrm>
            <a:off x="8204200" y="2882900"/>
            <a:ext cx="2921000" cy="276999"/>
          </a:xfrm>
          <a:prstGeom prst="rect">
            <a:avLst/>
          </a:prstGeom>
          <a:noFill/>
        </p:spPr>
        <p:txBody>
          <a:bodyPr vert="horz" wrap="square" lIns="0" tIns="0" rIns="0" bIns="0" rtlCol="0" anchor="t">
            <a:noAutofit/>
          </a:bodyPr>
          <a:lstStyle/>
          <a:p>
            <a:r>
              <a:rPr lang="en-US" sz="1500" b="1">
                <a:solidFill>
                  <a:srgbClr val="102646"/>
                </a:solidFill>
                <a:latin typeface="Aptos" panose="020B0004020202020204" pitchFamily="34" charset="0"/>
              </a:rPr>
              <a:t>Direct ../ request rejected</a:t>
            </a:r>
          </a:p>
        </p:txBody>
      </p:sp>
      <p:sp>
        <p:nvSpPr>
          <p:cNvPr id="30" name="TextBox 29">
            <a:extLst>
              <a:ext uri="{FF2B5EF4-FFF2-40B4-BE49-F238E27FC236}">
                <a16:creationId xmlns:a16="http://schemas.microsoft.com/office/drawing/2014/main" id="{70DB3ABB-B17E-E60A-6972-0F4336373489}"/>
              </a:ext>
            </a:extLst>
          </p:cNvPr>
          <p:cNvSpPr txBox="1"/>
          <p:nvPr/>
        </p:nvSpPr>
        <p:spPr>
          <a:xfrm>
            <a:off x="8204200" y="3581400"/>
            <a:ext cx="1397000" cy="276999"/>
          </a:xfrm>
          <a:prstGeom prst="rect">
            <a:avLst/>
          </a:prstGeom>
          <a:noFill/>
        </p:spPr>
        <p:txBody>
          <a:bodyPr vert="horz" wrap="square" lIns="0" tIns="0" rIns="0" bIns="0" rtlCol="0" anchor="t">
            <a:noAutofit/>
          </a:bodyPr>
          <a:lstStyle/>
          <a:p>
            <a:r>
              <a:rPr lang="en-US" sz="1000" b="1">
                <a:solidFill>
                  <a:srgbClr val="E09630"/>
                </a:solidFill>
                <a:latin typeface="Aptos" panose="020B0004020202020204" pitchFamily="34" charset="0"/>
              </a:rPr>
              <a:t>QUALIFICATION</a:t>
            </a:r>
          </a:p>
        </p:txBody>
      </p:sp>
      <p:sp>
        <p:nvSpPr>
          <p:cNvPr id="31" name="TextBox 30">
            <a:extLst>
              <a:ext uri="{FF2B5EF4-FFF2-40B4-BE49-F238E27FC236}">
                <a16:creationId xmlns:a16="http://schemas.microsoft.com/office/drawing/2014/main" id="{86734D67-8CB7-56F6-1BA6-EB44BFBA11D2}"/>
              </a:ext>
            </a:extLst>
          </p:cNvPr>
          <p:cNvSpPr txBox="1"/>
          <p:nvPr/>
        </p:nvSpPr>
        <p:spPr>
          <a:xfrm>
            <a:off x="8204200" y="3873500"/>
            <a:ext cx="2921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PATH-S06 failed for all five</a:t>
            </a:r>
          </a:p>
        </p:txBody>
      </p:sp>
      <p:cxnSp>
        <p:nvCxnSpPr>
          <p:cNvPr id="32" name="Straight Connector 31">
            <a:extLst>
              <a:ext uri="{FF2B5EF4-FFF2-40B4-BE49-F238E27FC236}">
                <a16:creationId xmlns:a16="http://schemas.microsoft.com/office/drawing/2014/main" id="{7EBE2EC5-C507-530E-9B25-D32D751E0717}"/>
              </a:ext>
            </a:extLst>
          </p:cNvPr>
          <p:cNvCxnSpPr/>
          <p:nvPr/>
        </p:nvCxnSpPr>
        <p:spPr>
          <a:xfrm>
            <a:off x="8204200" y="4597400"/>
            <a:ext cx="29210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7BDACBC6-7EC8-B02E-28FB-9267FA092A93}"/>
              </a:ext>
            </a:extLst>
          </p:cNvPr>
          <p:cNvSpPr txBox="1"/>
          <p:nvPr/>
        </p:nvSpPr>
        <p:spPr>
          <a:xfrm>
            <a:off x="8204200" y="4838700"/>
            <a:ext cx="2921000" cy="276999"/>
          </a:xfrm>
          <a:prstGeom prst="rect">
            <a:avLst/>
          </a:prstGeom>
          <a:noFill/>
        </p:spPr>
        <p:txBody>
          <a:bodyPr vert="horz" wrap="square" lIns="0" tIns="0" rIns="0" bIns="0" rtlCol="0" anchor="t">
            <a:noAutofit/>
          </a:bodyPr>
          <a:lstStyle/>
          <a:p>
            <a:r>
              <a:rPr lang="en-US" sz="1300">
                <a:solidFill>
                  <a:srgbClr val="546987"/>
                </a:solidFill>
                <a:latin typeface="Aptos" panose="020B0004020202020204" pitchFamily="34" charset="0"/>
              </a:rPr>
              <a:t>Later rejection: lexical checks did not contain symlink targets</a:t>
            </a:r>
          </a:p>
        </p:txBody>
      </p:sp>
      <p:sp>
        <p:nvSpPr>
          <p:cNvPr id="34" name="TextBox 33">
            <a:extLst>
              <a:ext uri="{FF2B5EF4-FFF2-40B4-BE49-F238E27FC236}">
                <a16:creationId xmlns:a16="http://schemas.microsoft.com/office/drawing/2014/main" id="{69B842B5-61F9-C87B-2025-8B11DB4F4A20}"/>
              </a:ext>
            </a:extLst>
          </p:cNvPr>
          <p:cNvSpPr txBox="1"/>
          <p:nvPr/>
        </p:nvSpPr>
        <p:spPr>
          <a:xfrm>
            <a:off x="1676400" y="6019800"/>
            <a:ext cx="8839200" cy="276999"/>
          </a:xfrm>
          <a:prstGeom prst="rect">
            <a:avLst/>
          </a:prstGeom>
          <a:noFill/>
        </p:spPr>
        <p:txBody>
          <a:bodyPr vert="horz" wrap="square" lIns="0" tIns="0" rIns="0" bIns="0" rtlCol="0" anchor="t">
            <a:noAutofit/>
          </a:bodyPr>
          <a:lstStyle/>
          <a:p>
            <a:pPr algn="ctr"/>
            <a:r>
              <a:rPr lang="en-US" sz="1500" b="1">
                <a:solidFill>
                  <a:srgbClr val="102646"/>
                </a:solidFill>
                <a:latin typeface="Aptos" panose="020B0004020202020204" pitchFamily="34" charset="0"/>
              </a:rPr>
              <a:t>A pass in one evidence channel does not erase a recorded failure in another.</a:t>
            </a:r>
          </a:p>
        </p:txBody>
      </p:sp>
    </p:spTree>
    <p:extLst>
      <p:ext uri="{BB962C8B-B14F-4D97-AF65-F5344CB8AC3E}">
        <p14:creationId xmlns:p14="http://schemas.microsoft.com/office/powerpoint/2010/main" val="3966796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1CFC21-FD6D-8CED-1361-308827334EED}"/>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5. CLEAN REHEARSAL + PUBLIC REFERENCE</a:t>
            </a:r>
          </a:p>
        </p:txBody>
      </p:sp>
      <p:sp>
        <p:nvSpPr>
          <p:cNvPr id="3" name="TextBox 2">
            <a:extLst>
              <a:ext uri="{FF2B5EF4-FFF2-40B4-BE49-F238E27FC236}">
                <a16:creationId xmlns:a16="http://schemas.microsoft.com/office/drawing/2014/main" id="{01601D4B-528E-6AFE-A61D-62EA978F8472}"/>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Reproducible and reviewable package</a:t>
            </a:r>
          </a:p>
        </p:txBody>
      </p:sp>
      <p:cxnSp>
        <p:nvCxnSpPr>
          <p:cNvPr id="4" name="Straight Connector 3">
            <a:extLst>
              <a:ext uri="{FF2B5EF4-FFF2-40B4-BE49-F238E27FC236}">
                <a16:creationId xmlns:a16="http://schemas.microsoft.com/office/drawing/2014/main" id="{ABFA973E-B251-61DF-4304-C0C86FDDC6BF}"/>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F3A4E5C-74DF-6EEE-A67D-40DB95957CCF}"/>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D28CE5FC-47DF-4331-0B08-C2A031024321}"/>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6</a:t>
            </a:r>
          </a:p>
        </p:txBody>
      </p:sp>
      <p:sp>
        <p:nvSpPr>
          <p:cNvPr id="7" name="Rectangle: Rounded Corners 6">
            <a:extLst>
              <a:ext uri="{FF2B5EF4-FFF2-40B4-BE49-F238E27FC236}">
                <a16:creationId xmlns:a16="http://schemas.microsoft.com/office/drawing/2014/main" id="{965E6737-3A4F-4BFC-78F1-445BD43B36F4}"/>
              </a:ext>
            </a:extLst>
          </p:cNvPr>
          <p:cNvSpPr/>
          <p:nvPr/>
        </p:nvSpPr>
        <p:spPr>
          <a:xfrm>
            <a:off x="609600" y="1727200"/>
            <a:ext cx="5283200" cy="2844800"/>
          </a:xfrm>
          <a:prstGeom prst="roundRect">
            <a:avLst/>
          </a:prstGeom>
          <a:solidFill>
            <a:srgbClr val="E6F5F0"/>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C201F2F-2ECF-2FDA-57DF-F7FB13CD3A8C}"/>
              </a:ext>
            </a:extLst>
          </p:cNvPr>
          <p:cNvSpPr txBox="1"/>
          <p:nvPr/>
        </p:nvSpPr>
        <p:spPr>
          <a:xfrm>
            <a:off x="863600" y="1968500"/>
            <a:ext cx="4775200" cy="276999"/>
          </a:xfrm>
          <a:prstGeom prst="rect">
            <a:avLst/>
          </a:prstGeom>
          <a:noFill/>
        </p:spPr>
        <p:txBody>
          <a:bodyPr vert="horz" wrap="square" lIns="0" tIns="0" rIns="0" bIns="0" rtlCol="0" anchor="t">
            <a:noAutofit/>
          </a:bodyPr>
          <a:lstStyle/>
          <a:p>
            <a:r>
              <a:rPr lang="en-US" sz="1100" b="1">
                <a:solidFill>
                  <a:srgbClr val="3D8974"/>
                </a:solidFill>
                <a:latin typeface="Aptos" panose="020B0004020202020204" pitchFamily="34" charset="0"/>
              </a:rPr>
              <a:t>CLEAN REPRODUCTION</a:t>
            </a:r>
          </a:p>
        </p:txBody>
      </p:sp>
      <p:sp>
        <p:nvSpPr>
          <p:cNvPr id="9" name="Oval 8">
            <a:extLst>
              <a:ext uri="{FF2B5EF4-FFF2-40B4-BE49-F238E27FC236}">
                <a16:creationId xmlns:a16="http://schemas.microsoft.com/office/drawing/2014/main" id="{8A7A5797-754F-0078-6F73-CA899E2EC81A}"/>
              </a:ext>
            </a:extLst>
          </p:cNvPr>
          <p:cNvSpPr/>
          <p:nvPr/>
        </p:nvSpPr>
        <p:spPr>
          <a:xfrm>
            <a:off x="863600" y="24765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26F9457-7C9D-36B1-136A-01090EA2F6AC}"/>
              </a:ext>
            </a:extLst>
          </p:cNvPr>
          <p:cNvSpPr txBox="1"/>
          <p:nvPr/>
        </p:nvSpPr>
        <p:spPr>
          <a:xfrm>
            <a:off x="889000" y="25400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1" name="TextBox 10">
            <a:extLst>
              <a:ext uri="{FF2B5EF4-FFF2-40B4-BE49-F238E27FC236}">
                <a16:creationId xmlns:a16="http://schemas.microsoft.com/office/drawing/2014/main" id="{85DC452F-BC52-FFA0-114B-4ED79036B4DD}"/>
              </a:ext>
            </a:extLst>
          </p:cNvPr>
          <p:cNvSpPr txBox="1"/>
          <p:nvPr/>
        </p:nvSpPr>
        <p:spPr>
          <a:xfrm>
            <a:off x="1244600" y="2463800"/>
            <a:ext cx="4191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Clean Git export and fresh Python environment</a:t>
            </a:r>
          </a:p>
        </p:txBody>
      </p:sp>
      <p:sp>
        <p:nvSpPr>
          <p:cNvPr id="12" name="Oval 11">
            <a:extLst>
              <a:ext uri="{FF2B5EF4-FFF2-40B4-BE49-F238E27FC236}">
                <a16:creationId xmlns:a16="http://schemas.microsoft.com/office/drawing/2014/main" id="{59B8536B-C361-4FDD-35F2-B34275D3998C}"/>
              </a:ext>
            </a:extLst>
          </p:cNvPr>
          <p:cNvSpPr/>
          <p:nvPr/>
        </p:nvSpPr>
        <p:spPr>
          <a:xfrm>
            <a:off x="863600" y="30607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6F9DF38-10E0-B5DC-1A39-DA726D283E0B}"/>
              </a:ext>
            </a:extLst>
          </p:cNvPr>
          <p:cNvSpPr txBox="1"/>
          <p:nvPr/>
        </p:nvSpPr>
        <p:spPr>
          <a:xfrm>
            <a:off x="889000" y="31242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4" name="TextBox 13">
            <a:extLst>
              <a:ext uri="{FF2B5EF4-FFF2-40B4-BE49-F238E27FC236}">
                <a16:creationId xmlns:a16="http://schemas.microsoft.com/office/drawing/2014/main" id="{331349A2-42EF-D157-DF79-60FD893F8527}"/>
              </a:ext>
            </a:extLst>
          </p:cNvPr>
          <p:cNvSpPr txBox="1"/>
          <p:nvPr/>
        </p:nvSpPr>
        <p:spPr>
          <a:xfrm>
            <a:off x="1244600" y="3048000"/>
            <a:ext cx="4191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Pinned Python and six Node dependency trees</a:t>
            </a:r>
          </a:p>
        </p:txBody>
      </p:sp>
      <p:sp>
        <p:nvSpPr>
          <p:cNvPr id="15" name="Oval 14">
            <a:extLst>
              <a:ext uri="{FF2B5EF4-FFF2-40B4-BE49-F238E27FC236}">
                <a16:creationId xmlns:a16="http://schemas.microsoft.com/office/drawing/2014/main" id="{87DC35A0-3DE3-485D-7FE9-E54CC9A8F931}"/>
              </a:ext>
            </a:extLst>
          </p:cNvPr>
          <p:cNvSpPr/>
          <p:nvPr/>
        </p:nvSpPr>
        <p:spPr>
          <a:xfrm>
            <a:off x="863600" y="36449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25C8E9-7E2C-78BF-2839-73939AED74AC}"/>
              </a:ext>
            </a:extLst>
          </p:cNvPr>
          <p:cNvSpPr txBox="1"/>
          <p:nvPr/>
        </p:nvSpPr>
        <p:spPr>
          <a:xfrm>
            <a:off x="889000" y="37084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7" name="TextBox 16">
            <a:extLst>
              <a:ext uri="{FF2B5EF4-FFF2-40B4-BE49-F238E27FC236}">
                <a16:creationId xmlns:a16="http://schemas.microsoft.com/office/drawing/2014/main" id="{B825FCBD-867A-EE19-7E88-08062346E585}"/>
              </a:ext>
            </a:extLst>
          </p:cNvPr>
          <p:cNvSpPr txBox="1"/>
          <p:nvPr/>
        </p:nvSpPr>
        <p:spPr>
          <a:xfrm>
            <a:off x="1244600" y="3632200"/>
            <a:ext cx="4191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131 repository tests passed</a:t>
            </a:r>
          </a:p>
        </p:txBody>
      </p:sp>
      <p:sp>
        <p:nvSpPr>
          <p:cNvPr id="18" name="Oval 17">
            <a:extLst>
              <a:ext uri="{FF2B5EF4-FFF2-40B4-BE49-F238E27FC236}">
                <a16:creationId xmlns:a16="http://schemas.microsoft.com/office/drawing/2014/main" id="{D85405FC-9D33-5EE2-B671-CF554601BFCA}"/>
              </a:ext>
            </a:extLst>
          </p:cNvPr>
          <p:cNvSpPr/>
          <p:nvPr/>
        </p:nvSpPr>
        <p:spPr>
          <a:xfrm>
            <a:off x="863600" y="42291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38BEB60-9752-4507-256D-097EB7298465}"/>
              </a:ext>
            </a:extLst>
          </p:cNvPr>
          <p:cNvSpPr txBox="1"/>
          <p:nvPr/>
        </p:nvSpPr>
        <p:spPr>
          <a:xfrm>
            <a:off x="889000" y="42926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20" name="TextBox 19">
            <a:extLst>
              <a:ext uri="{FF2B5EF4-FFF2-40B4-BE49-F238E27FC236}">
                <a16:creationId xmlns:a16="http://schemas.microsoft.com/office/drawing/2014/main" id="{04F355C1-F644-3DA7-7F21-069E03E74FB5}"/>
              </a:ext>
            </a:extLst>
          </p:cNvPr>
          <p:cNvSpPr txBox="1"/>
          <p:nvPr/>
        </p:nvSpPr>
        <p:spPr>
          <a:xfrm>
            <a:off x="1244600" y="4216400"/>
            <a:ext cx="4191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Controlled demo decisions matched saved records</a:t>
            </a:r>
          </a:p>
        </p:txBody>
      </p:sp>
      <p:sp>
        <p:nvSpPr>
          <p:cNvPr id="21" name="Rectangle: Rounded Corners 20">
            <a:extLst>
              <a:ext uri="{FF2B5EF4-FFF2-40B4-BE49-F238E27FC236}">
                <a16:creationId xmlns:a16="http://schemas.microsoft.com/office/drawing/2014/main" id="{7B4082BF-3BD4-F9EF-F913-6C8F19D1EA35}"/>
              </a:ext>
            </a:extLst>
          </p:cNvPr>
          <p:cNvSpPr/>
          <p:nvPr/>
        </p:nvSpPr>
        <p:spPr>
          <a:xfrm>
            <a:off x="6299200" y="1727200"/>
            <a:ext cx="5283200" cy="2844800"/>
          </a:xfrm>
          <a:prstGeom prst="roundRect">
            <a:avLst/>
          </a:prstGeom>
          <a:solidFill>
            <a:srgbClr val="E8F0FA"/>
          </a:solidFill>
          <a:ln w="15240">
            <a:solidFill>
              <a:srgbClr val="496F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79DAE622-FEA2-8770-27EC-AE0AD1DC2062}"/>
              </a:ext>
            </a:extLst>
          </p:cNvPr>
          <p:cNvSpPr txBox="1"/>
          <p:nvPr/>
        </p:nvSpPr>
        <p:spPr>
          <a:xfrm>
            <a:off x="6553200" y="1968500"/>
            <a:ext cx="4775200" cy="276999"/>
          </a:xfrm>
          <a:prstGeom prst="rect">
            <a:avLst/>
          </a:prstGeom>
          <a:noFill/>
        </p:spPr>
        <p:txBody>
          <a:bodyPr vert="horz" wrap="square" lIns="0" tIns="0" rIns="0" bIns="0" rtlCol="0" anchor="t">
            <a:noAutofit/>
          </a:bodyPr>
          <a:lstStyle/>
          <a:p>
            <a:r>
              <a:rPr lang="en-US" sz="1100" b="1">
                <a:solidFill>
                  <a:srgbClr val="496FA8"/>
                </a:solidFill>
                <a:latin typeface="Aptos" panose="020B0004020202020204" pitchFamily="34" charset="0"/>
              </a:rPr>
              <a:t>PUBLIC EVIDENCE VIEWER</a:t>
            </a:r>
          </a:p>
        </p:txBody>
      </p:sp>
      <p:sp>
        <p:nvSpPr>
          <p:cNvPr id="23" name="TextBox 22">
            <a:extLst>
              <a:ext uri="{FF2B5EF4-FFF2-40B4-BE49-F238E27FC236}">
                <a16:creationId xmlns:a16="http://schemas.microsoft.com/office/drawing/2014/main" id="{9F84C149-8E3E-2261-34D7-87567DA9502C}"/>
              </a:ext>
            </a:extLst>
          </p:cNvPr>
          <p:cNvSpPr txBox="1"/>
          <p:nvPr/>
        </p:nvSpPr>
        <p:spPr>
          <a:xfrm>
            <a:off x="6680200" y="2463800"/>
            <a:ext cx="1016000" cy="276999"/>
          </a:xfrm>
          <a:prstGeom prst="rect">
            <a:avLst/>
          </a:prstGeom>
          <a:noFill/>
        </p:spPr>
        <p:txBody>
          <a:bodyPr vert="horz" wrap="square" lIns="0" tIns="0" rIns="0" bIns="0" rtlCol="0" anchor="t">
            <a:noAutofit/>
          </a:bodyPr>
          <a:lstStyle/>
          <a:p>
            <a:pPr algn="ctr"/>
            <a:r>
              <a:rPr lang="en-US" sz="3600" b="1">
                <a:solidFill>
                  <a:srgbClr val="102646"/>
                </a:solidFill>
                <a:latin typeface="Aptos Display" panose="020B0004020202020204" pitchFamily="34" charset="0"/>
              </a:rPr>
              <a:t>15</a:t>
            </a:r>
          </a:p>
        </p:txBody>
      </p:sp>
      <p:sp>
        <p:nvSpPr>
          <p:cNvPr id="24" name="TextBox 23">
            <a:extLst>
              <a:ext uri="{FF2B5EF4-FFF2-40B4-BE49-F238E27FC236}">
                <a16:creationId xmlns:a16="http://schemas.microsoft.com/office/drawing/2014/main" id="{B35ED5C4-5C67-E44A-D277-6A13422F77C3}"/>
              </a:ext>
            </a:extLst>
          </p:cNvPr>
          <p:cNvSpPr txBox="1"/>
          <p:nvPr/>
        </p:nvSpPr>
        <p:spPr>
          <a:xfrm>
            <a:off x="6680200" y="3060700"/>
            <a:ext cx="1016000" cy="276999"/>
          </a:xfrm>
          <a:prstGeom prst="rect">
            <a:avLst/>
          </a:prstGeom>
          <a:noFill/>
        </p:spPr>
        <p:txBody>
          <a:bodyPr vert="horz" wrap="square" lIns="0" tIns="0" rIns="0" bIns="0" rtlCol="0" anchor="t">
            <a:noAutofit/>
          </a:bodyPr>
          <a:lstStyle/>
          <a:p>
            <a:pPr algn="ctr"/>
            <a:r>
              <a:rPr lang="en-US" sz="1100" b="1">
                <a:solidFill>
                  <a:srgbClr val="546987"/>
                </a:solidFill>
                <a:latin typeface="Aptos" panose="020B0004020202020204" pitchFamily="34" charset="0"/>
              </a:rPr>
              <a:t>candidates</a:t>
            </a:r>
          </a:p>
        </p:txBody>
      </p:sp>
      <p:sp>
        <p:nvSpPr>
          <p:cNvPr id="25" name="TextBox 24">
            <a:extLst>
              <a:ext uri="{FF2B5EF4-FFF2-40B4-BE49-F238E27FC236}">
                <a16:creationId xmlns:a16="http://schemas.microsoft.com/office/drawing/2014/main" id="{7878E066-B1E6-3DED-B8B1-5693DAE54DC4}"/>
              </a:ext>
            </a:extLst>
          </p:cNvPr>
          <p:cNvSpPr txBox="1"/>
          <p:nvPr/>
        </p:nvSpPr>
        <p:spPr>
          <a:xfrm>
            <a:off x="8255000" y="2463800"/>
            <a:ext cx="1143000" cy="276999"/>
          </a:xfrm>
          <a:prstGeom prst="rect">
            <a:avLst/>
          </a:prstGeom>
          <a:noFill/>
        </p:spPr>
        <p:txBody>
          <a:bodyPr vert="horz" wrap="square" lIns="0" tIns="0" rIns="0" bIns="0" rtlCol="0" anchor="t">
            <a:noAutofit/>
          </a:bodyPr>
          <a:lstStyle/>
          <a:p>
            <a:pPr algn="ctr"/>
            <a:r>
              <a:rPr lang="en-US" sz="3600" b="1">
                <a:solidFill>
                  <a:srgbClr val="102646"/>
                </a:solidFill>
                <a:latin typeface="Aptos Display" panose="020B0004020202020204" pitchFamily="34" charset="0"/>
              </a:rPr>
              <a:t>245</a:t>
            </a:r>
          </a:p>
        </p:txBody>
      </p:sp>
      <p:sp>
        <p:nvSpPr>
          <p:cNvPr id="26" name="TextBox 25">
            <a:extLst>
              <a:ext uri="{FF2B5EF4-FFF2-40B4-BE49-F238E27FC236}">
                <a16:creationId xmlns:a16="http://schemas.microsoft.com/office/drawing/2014/main" id="{D1F41BBF-E403-B35E-D978-375FDDA00343}"/>
              </a:ext>
            </a:extLst>
          </p:cNvPr>
          <p:cNvSpPr txBox="1"/>
          <p:nvPr/>
        </p:nvSpPr>
        <p:spPr>
          <a:xfrm>
            <a:off x="8255000" y="3060700"/>
            <a:ext cx="1143000" cy="276999"/>
          </a:xfrm>
          <a:prstGeom prst="rect">
            <a:avLst/>
          </a:prstGeom>
          <a:noFill/>
        </p:spPr>
        <p:txBody>
          <a:bodyPr vert="horz" wrap="square" lIns="0" tIns="0" rIns="0" bIns="0" rtlCol="0" anchor="t">
            <a:noAutofit/>
          </a:bodyPr>
          <a:lstStyle/>
          <a:p>
            <a:pPr algn="ctr"/>
            <a:r>
              <a:rPr lang="en-US" sz="1100" b="1">
                <a:solidFill>
                  <a:srgbClr val="546987"/>
                </a:solidFill>
                <a:latin typeface="Aptos" panose="020B0004020202020204" pitchFamily="34" charset="0"/>
              </a:rPr>
              <a:t>case rows</a:t>
            </a:r>
          </a:p>
        </p:txBody>
      </p:sp>
      <p:sp>
        <p:nvSpPr>
          <p:cNvPr id="27" name="TextBox 26">
            <a:extLst>
              <a:ext uri="{FF2B5EF4-FFF2-40B4-BE49-F238E27FC236}">
                <a16:creationId xmlns:a16="http://schemas.microsoft.com/office/drawing/2014/main" id="{52F000E9-6390-24F3-5D8F-EC4F727AB876}"/>
              </a:ext>
            </a:extLst>
          </p:cNvPr>
          <p:cNvSpPr txBox="1"/>
          <p:nvPr/>
        </p:nvSpPr>
        <p:spPr>
          <a:xfrm>
            <a:off x="10033000" y="2463800"/>
            <a:ext cx="1016000" cy="276999"/>
          </a:xfrm>
          <a:prstGeom prst="rect">
            <a:avLst/>
          </a:prstGeom>
          <a:noFill/>
        </p:spPr>
        <p:txBody>
          <a:bodyPr vert="horz" wrap="square" lIns="0" tIns="0" rIns="0" bIns="0" rtlCol="0" anchor="t">
            <a:noAutofit/>
          </a:bodyPr>
          <a:lstStyle/>
          <a:p>
            <a:pPr algn="ctr"/>
            <a:r>
              <a:rPr lang="en-US" sz="3600" b="1">
                <a:solidFill>
                  <a:srgbClr val="102646"/>
                </a:solidFill>
                <a:latin typeface="Aptos Display" panose="020B0004020202020204" pitchFamily="34" charset="0"/>
              </a:rPr>
              <a:t>29</a:t>
            </a:r>
          </a:p>
        </p:txBody>
      </p:sp>
      <p:sp>
        <p:nvSpPr>
          <p:cNvPr id="28" name="TextBox 27">
            <a:extLst>
              <a:ext uri="{FF2B5EF4-FFF2-40B4-BE49-F238E27FC236}">
                <a16:creationId xmlns:a16="http://schemas.microsoft.com/office/drawing/2014/main" id="{CE455286-7D91-174F-E99B-23BBF52B40DA}"/>
              </a:ext>
            </a:extLst>
          </p:cNvPr>
          <p:cNvSpPr txBox="1"/>
          <p:nvPr/>
        </p:nvSpPr>
        <p:spPr>
          <a:xfrm>
            <a:off x="9906000" y="3060700"/>
            <a:ext cx="1270000" cy="276999"/>
          </a:xfrm>
          <a:prstGeom prst="rect">
            <a:avLst/>
          </a:prstGeom>
          <a:noFill/>
        </p:spPr>
        <p:txBody>
          <a:bodyPr vert="horz" wrap="square" lIns="0" tIns="0" rIns="0" bIns="0" rtlCol="0" anchor="t">
            <a:noAutofit/>
          </a:bodyPr>
          <a:lstStyle/>
          <a:p>
            <a:pPr algn="ctr"/>
            <a:r>
              <a:rPr lang="en-US" sz="1100" b="1">
                <a:solidFill>
                  <a:srgbClr val="546987"/>
                </a:solidFill>
                <a:latin typeface="Aptos" panose="020B0004020202020204" pitchFamily="34" charset="0"/>
              </a:rPr>
              <a:t>human records</a:t>
            </a:r>
          </a:p>
        </p:txBody>
      </p:sp>
      <p:sp>
        <p:nvSpPr>
          <p:cNvPr id="29" name="TextBox 28">
            <a:extLst>
              <a:ext uri="{FF2B5EF4-FFF2-40B4-BE49-F238E27FC236}">
                <a16:creationId xmlns:a16="http://schemas.microsoft.com/office/drawing/2014/main" id="{1927E1D3-3874-97ED-1CA0-C0D16F5ED7EE}"/>
              </a:ext>
            </a:extLst>
          </p:cNvPr>
          <p:cNvSpPr txBox="1"/>
          <p:nvPr/>
        </p:nvSpPr>
        <p:spPr>
          <a:xfrm>
            <a:off x="6680200" y="3657600"/>
            <a:ext cx="4521200" cy="276999"/>
          </a:xfrm>
          <a:prstGeom prst="rect">
            <a:avLst/>
          </a:prstGeom>
          <a:noFill/>
        </p:spPr>
        <p:txBody>
          <a:bodyPr vert="horz" wrap="square" lIns="0" tIns="0" rIns="0" bIns="0" rtlCol="0" anchor="t">
            <a:noAutofit/>
          </a:bodyPr>
          <a:lstStyle/>
          <a:p>
            <a:pPr algn="ctr"/>
            <a:r>
              <a:rPr lang="en-US" sz="1400" b="1">
                <a:solidFill>
                  <a:srgbClr val="2A4974"/>
                </a:solidFill>
                <a:latin typeface="Aptos" panose="020B0004020202020204" pitchFamily="34" charset="0"/>
              </a:rPr>
              <a:t>Read-only saved evidence - not a model, scanner, test runner, approval, or deployment system.</a:t>
            </a:r>
          </a:p>
        </p:txBody>
      </p:sp>
      <p:sp>
        <p:nvSpPr>
          <p:cNvPr id="30" name="Rectangle: Rounded Corners 29">
            <a:extLst>
              <a:ext uri="{FF2B5EF4-FFF2-40B4-BE49-F238E27FC236}">
                <a16:creationId xmlns:a16="http://schemas.microsoft.com/office/drawing/2014/main" id="{18D50CC9-7F09-F60C-17BC-DF193AA00041}"/>
              </a:ext>
            </a:extLst>
          </p:cNvPr>
          <p:cNvSpPr/>
          <p:nvPr/>
        </p:nvSpPr>
        <p:spPr>
          <a:xfrm>
            <a:off x="609600" y="4953000"/>
            <a:ext cx="10972800" cy="1066800"/>
          </a:xfrm>
          <a:prstGeom prst="roundRect">
            <a:avLst/>
          </a:prstGeom>
          <a:solidFill>
            <a:srgbClr val="192130"/>
          </a:solidFill>
          <a:ln w="15240">
            <a:solidFill>
              <a:srgbClr val="1921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8906048D-D748-69A0-BF60-B517D0FC2132}"/>
              </a:ext>
            </a:extLst>
          </p:cNvPr>
          <p:cNvSpPr txBox="1"/>
          <p:nvPr/>
        </p:nvSpPr>
        <p:spPr>
          <a:xfrm>
            <a:off x="863600" y="5168900"/>
            <a:ext cx="2184400" cy="276999"/>
          </a:xfrm>
          <a:prstGeom prst="rect">
            <a:avLst/>
          </a:prstGeom>
          <a:noFill/>
        </p:spPr>
        <p:txBody>
          <a:bodyPr vert="horz" wrap="square" lIns="0" tIns="0" rIns="0" bIns="0" rtlCol="0" anchor="t">
            <a:noAutofit/>
          </a:bodyPr>
          <a:lstStyle/>
          <a:p>
            <a:r>
              <a:rPr lang="en-US" sz="1100" b="1">
                <a:solidFill>
                  <a:srgbClr val="89B2E2"/>
                </a:solidFill>
                <a:latin typeface="Consolas" panose="020B0609020204030204" pitchFamily="49" charset="0"/>
              </a:rPr>
              <a:t>FINAL-DELIVERABLE/</a:t>
            </a:r>
          </a:p>
        </p:txBody>
      </p:sp>
      <p:sp>
        <p:nvSpPr>
          <p:cNvPr id="32" name="TextBox 31">
            <a:extLst>
              <a:ext uri="{FF2B5EF4-FFF2-40B4-BE49-F238E27FC236}">
                <a16:creationId xmlns:a16="http://schemas.microsoft.com/office/drawing/2014/main" id="{BED71532-05F5-19D0-9EE7-4E97D384FB4D}"/>
              </a:ext>
            </a:extLst>
          </p:cNvPr>
          <p:cNvSpPr txBox="1"/>
          <p:nvPr/>
        </p:nvSpPr>
        <p:spPr>
          <a:xfrm>
            <a:off x="863600" y="5537200"/>
            <a:ext cx="10464800" cy="276999"/>
          </a:xfrm>
          <a:prstGeom prst="rect">
            <a:avLst/>
          </a:prstGeom>
          <a:noFill/>
        </p:spPr>
        <p:txBody>
          <a:bodyPr vert="horz" wrap="square" lIns="0" tIns="0" rIns="0" bIns="0" rtlCol="0" anchor="t">
            <a:noAutofit/>
          </a:bodyPr>
          <a:lstStyle/>
          <a:p>
            <a:pPr algn="ctr"/>
            <a:r>
              <a:rPr lang="en-US" sz="1300">
                <a:solidFill>
                  <a:srgbClr val="FFFFFF"/>
                </a:solidFill>
                <a:latin typeface="Consolas" panose="020B0609020204030204" pitchFamily="49" charset="0"/>
              </a:rPr>
              <a:t>01-final-report/     02-final-presentation/     03-supporting-materials/     04-manifest-and-checksums/</a:t>
            </a:r>
          </a:p>
        </p:txBody>
      </p:sp>
    </p:spTree>
    <p:extLst>
      <p:ext uri="{BB962C8B-B14F-4D97-AF65-F5344CB8AC3E}">
        <p14:creationId xmlns:p14="http://schemas.microsoft.com/office/powerpoint/2010/main" val="959720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147615-C860-DB5B-D549-61BFA0B33DBA}"/>
              </a:ext>
            </a:extLst>
          </p:cNvPr>
          <p:cNvSpPr txBox="1"/>
          <p:nvPr/>
        </p:nvSpPr>
        <p:spPr>
          <a:xfrm>
            <a:off x="609600" y="304800"/>
            <a:ext cx="9144000" cy="276999"/>
          </a:xfrm>
          <a:prstGeom prst="rect">
            <a:avLst/>
          </a:prstGeom>
          <a:noFill/>
        </p:spPr>
        <p:txBody>
          <a:bodyPr vert="horz" wrap="square" lIns="0" tIns="0" rIns="0" bIns="0" rtlCol="0" anchor="t">
            <a:noAutofit/>
          </a:bodyPr>
          <a:lstStyle/>
          <a:p>
            <a:r>
              <a:rPr lang="en-US" sz="1200" b="1">
                <a:solidFill>
                  <a:srgbClr val="496FA8"/>
                </a:solidFill>
                <a:latin typeface="Aptos" panose="020B0004020202020204" pitchFamily="34" charset="0"/>
              </a:rPr>
              <a:t>6. COURSE DIRECTION</a:t>
            </a:r>
          </a:p>
        </p:txBody>
      </p:sp>
      <p:sp>
        <p:nvSpPr>
          <p:cNvPr id="3" name="TextBox 2">
            <a:extLst>
              <a:ext uri="{FF2B5EF4-FFF2-40B4-BE49-F238E27FC236}">
                <a16:creationId xmlns:a16="http://schemas.microsoft.com/office/drawing/2014/main" id="{B26324BC-4DA7-878C-8FBB-6F1E9655ED53}"/>
              </a:ext>
            </a:extLst>
          </p:cNvPr>
          <p:cNvSpPr txBox="1"/>
          <p:nvPr/>
        </p:nvSpPr>
        <p:spPr>
          <a:xfrm>
            <a:off x="609600" y="609600"/>
            <a:ext cx="10795000" cy="276999"/>
          </a:xfrm>
          <a:prstGeom prst="rect">
            <a:avLst/>
          </a:prstGeom>
          <a:noFill/>
        </p:spPr>
        <p:txBody>
          <a:bodyPr vert="horz" wrap="square" lIns="0" tIns="0" rIns="0" bIns="0" rtlCol="0" anchor="t">
            <a:noAutofit/>
          </a:bodyPr>
          <a:lstStyle/>
          <a:p>
            <a:r>
              <a:rPr lang="en-US" sz="2700" b="1">
                <a:solidFill>
                  <a:srgbClr val="102646"/>
                </a:solidFill>
                <a:latin typeface="Aptos" panose="020B0004020202020204" pitchFamily="34" charset="0"/>
              </a:rPr>
              <a:t>Bounded conclusion and next milestones</a:t>
            </a:r>
          </a:p>
        </p:txBody>
      </p:sp>
      <p:cxnSp>
        <p:nvCxnSpPr>
          <p:cNvPr id="4" name="Straight Connector 3">
            <a:extLst>
              <a:ext uri="{FF2B5EF4-FFF2-40B4-BE49-F238E27FC236}">
                <a16:creationId xmlns:a16="http://schemas.microsoft.com/office/drawing/2014/main" id="{68A51235-09D3-0F40-D52C-316B128B9E51}"/>
              </a:ext>
            </a:extLst>
          </p:cNvPr>
          <p:cNvCxnSpPr/>
          <p:nvPr/>
        </p:nvCxnSpPr>
        <p:spPr>
          <a:xfrm>
            <a:off x="609600" y="1333500"/>
            <a:ext cx="10972800" cy="0"/>
          </a:xfrm>
          <a:prstGeom prst="line">
            <a:avLst/>
          </a:prstGeom>
          <a:ln w="12700">
            <a:solidFill>
              <a:srgbClr val="BECFE4"/>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2AFE796E-93EB-2CEB-B992-61200EA48895}"/>
              </a:ext>
            </a:extLst>
          </p:cNvPr>
          <p:cNvSpPr txBox="1"/>
          <p:nvPr/>
        </p:nvSpPr>
        <p:spPr>
          <a:xfrm>
            <a:off x="609600" y="6477000"/>
            <a:ext cx="3810000" cy="276999"/>
          </a:xfrm>
          <a:prstGeom prst="rect">
            <a:avLst/>
          </a:prstGeom>
          <a:noFill/>
        </p:spPr>
        <p:txBody>
          <a:bodyPr vert="horz" wrap="square" lIns="0" tIns="0" rIns="0" bIns="0" rtlCol="0" anchor="t">
            <a:noAutofit/>
          </a:bodyPr>
          <a:lstStyle/>
          <a:p>
            <a:r>
              <a:rPr lang="en-US" sz="1000">
                <a:solidFill>
                  <a:srgbClr val="546987"/>
                </a:solidFill>
                <a:latin typeface="Aptos" panose="020B0004020202020204" pitchFamily="34" charset="0"/>
              </a:rPr>
              <a:t>CS6727 | FixProof Video V</a:t>
            </a:r>
          </a:p>
        </p:txBody>
      </p:sp>
      <p:sp>
        <p:nvSpPr>
          <p:cNvPr id="6" name="TextBox 5">
            <a:extLst>
              <a:ext uri="{FF2B5EF4-FFF2-40B4-BE49-F238E27FC236}">
                <a16:creationId xmlns:a16="http://schemas.microsoft.com/office/drawing/2014/main" id="{D3ED49B4-473D-ACB0-84C2-A37025F74920}"/>
              </a:ext>
            </a:extLst>
          </p:cNvPr>
          <p:cNvSpPr txBox="1"/>
          <p:nvPr/>
        </p:nvSpPr>
        <p:spPr>
          <a:xfrm>
            <a:off x="11239500" y="6477000"/>
            <a:ext cx="342900" cy="276999"/>
          </a:xfrm>
          <a:prstGeom prst="rect">
            <a:avLst/>
          </a:prstGeom>
          <a:noFill/>
        </p:spPr>
        <p:txBody>
          <a:bodyPr vert="horz" wrap="square" lIns="0" tIns="0" rIns="0" bIns="0" rtlCol="0" anchor="t">
            <a:noAutofit/>
          </a:bodyPr>
          <a:lstStyle/>
          <a:p>
            <a:pPr algn="r"/>
            <a:r>
              <a:rPr lang="en-US" sz="1000">
                <a:solidFill>
                  <a:srgbClr val="546987"/>
                </a:solidFill>
                <a:latin typeface="Aptos" panose="020B0004020202020204" pitchFamily="34" charset="0"/>
              </a:rPr>
              <a:t>7</a:t>
            </a:r>
          </a:p>
        </p:txBody>
      </p:sp>
      <p:sp>
        <p:nvSpPr>
          <p:cNvPr id="7" name="Rectangle: Rounded Corners 6">
            <a:extLst>
              <a:ext uri="{FF2B5EF4-FFF2-40B4-BE49-F238E27FC236}">
                <a16:creationId xmlns:a16="http://schemas.microsoft.com/office/drawing/2014/main" id="{9AD74FDA-6D91-C616-26C2-329130A6C08E}"/>
              </a:ext>
            </a:extLst>
          </p:cNvPr>
          <p:cNvSpPr/>
          <p:nvPr/>
        </p:nvSpPr>
        <p:spPr>
          <a:xfrm>
            <a:off x="609600" y="1676400"/>
            <a:ext cx="5207000" cy="2387600"/>
          </a:xfrm>
          <a:prstGeom prst="roundRect">
            <a:avLst/>
          </a:prstGeom>
          <a:solidFill>
            <a:srgbClr val="E6F5F0"/>
          </a:solidFill>
          <a:ln w="15240">
            <a:solidFill>
              <a:srgbClr val="3D897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B707518-CD55-B49B-34FF-02199219480E}"/>
              </a:ext>
            </a:extLst>
          </p:cNvPr>
          <p:cNvSpPr txBox="1"/>
          <p:nvPr/>
        </p:nvSpPr>
        <p:spPr>
          <a:xfrm>
            <a:off x="863600" y="1917700"/>
            <a:ext cx="4699000" cy="276999"/>
          </a:xfrm>
          <a:prstGeom prst="rect">
            <a:avLst/>
          </a:prstGeom>
          <a:noFill/>
        </p:spPr>
        <p:txBody>
          <a:bodyPr vert="horz" wrap="square" lIns="0" tIns="0" rIns="0" bIns="0" rtlCol="0" anchor="t">
            <a:noAutofit/>
          </a:bodyPr>
          <a:lstStyle/>
          <a:p>
            <a:r>
              <a:rPr lang="en-US" sz="1100" b="1">
                <a:solidFill>
                  <a:srgbClr val="3D8974"/>
                </a:solidFill>
                <a:latin typeface="Aptos" panose="020B0004020202020204" pitchFamily="34" charset="0"/>
              </a:rPr>
              <a:t>SUPPORTED</a:t>
            </a:r>
          </a:p>
        </p:txBody>
      </p:sp>
      <p:sp>
        <p:nvSpPr>
          <p:cNvPr id="9" name="Oval 8">
            <a:extLst>
              <a:ext uri="{FF2B5EF4-FFF2-40B4-BE49-F238E27FC236}">
                <a16:creationId xmlns:a16="http://schemas.microsoft.com/office/drawing/2014/main" id="{E2B88F65-62AD-E5EC-D5F5-65FAAD75450B}"/>
              </a:ext>
            </a:extLst>
          </p:cNvPr>
          <p:cNvSpPr/>
          <p:nvPr/>
        </p:nvSpPr>
        <p:spPr>
          <a:xfrm>
            <a:off x="863600" y="24003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B99DCE0-E4FB-0D03-87D1-F67DD871CB15}"/>
              </a:ext>
            </a:extLst>
          </p:cNvPr>
          <p:cNvSpPr txBox="1"/>
          <p:nvPr/>
        </p:nvSpPr>
        <p:spPr>
          <a:xfrm>
            <a:off x="889000" y="24638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1" name="TextBox 10">
            <a:extLst>
              <a:ext uri="{FF2B5EF4-FFF2-40B4-BE49-F238E27FC236}">
                <a16:creationId xmlns:a16="http://schemas.microsoft.com/office/drawing/2014/main" id="{AC84C055-B659-7286-422B-0EC423E9C21E}"/>
              </a:ext>
            </a:extLst>
          </p:cNvPr>
          <p:cNvSpPr txBox="1"/>
          <p:nvPr/>
        </p:nvSpPr>
        <p:spPr>
          <a:xfrm>
            <a:off x="1244600" y="2387600"/>
            <a:ext cx="4064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Traceable decisions for registered cases</a:t>
            </a:r>
          </a:p>
        </p:txBody>
      </p:sp>
      <p:sp>
        <p:nvSpPr>
          <p:cNvPr id="12" name="Oval 11">
            <a:extLst>
              <a:ext uri="{FF2B5EF4-FFF2-40B4-BE49-F238E27FC236}">
                <a16:creationId xmlns:a16="http://schemas.microsoft.com/office/drawing/2014/main" id="{B6EEF41C-A757-342A-2DC3-B2A20C535066}"/>
              </a:ext>
            </a:extLst>
          </p:cNvPr>
          <p:cNvSpPr/>
          <p:nvPr/>
        </p:nvSpPr>
        <p:spPr>
          <a:xfrm>
            <a:off x="863600" y="29591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B2863AD-C8E5-5801-4282-DD750316EEEE}"/>
              </a:ext>
            </a:extLst>
          </p:cNvPr>
          <p:cNvSpPr txBox="1"/>
          <p:nvPr/>
        </p:nvSpPr>
        <p:spPr>
          <a:xfrm>
            <a:off x="889000" y="30226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4" name="TextBox 13">
            <a:extLst>
              <a:ext uri="{FF2B5EF4-FFF2-40B4-BE49-F238E27FC236}">
                <a16:creationId xmlns:a16="http://schemas.microsoft.com/office/drawing/2014/main" id="{FC4DAD31-5287-86C6-AE29-02A57B204B94}"/>
              </a:ext>
            </a:extLst>
          </p:cNvPr>
          <p:cNvSpPr txBox="1"/>
          <p:nvPr/>
        </p:nvSpPr>
        <p:spPr>
          <a:xfrm>
            <a:off x="1244600" y="2946400"/>
            <a:ext cx="4064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Visible disagreements, regressions, and qualifications</a:t>
            </a:r>
          </a:p>
        </p:txBody>
      </p:sp>
      <p:sp>
        <p:nvSpPr>
          <p:cNvPr id="15" name="Oval 14">
            <a:extLst>
              <a:ext uri="{FF2B5EF4-FFF2-40B4-BE49-F238E27FC236}">
                <a16:creationId xmlns:a16="http://schemas.microsoft.com/office/drawing/2014/main" id="{0512010C-D322-81C9-765A-CDA845DDE27C}"/>
              </a:ext>
            </a:extLst>
          </p:cNvPr>
          <p:cNvSpPr/>
          <p:nvPr/>
        </p:nvSpPr>
        <p:spPr>
          <a:xfrm>
            <a:off x="863600" y="3517900"/>
            <a:ext cx="254000" cy="254000"/>
          </a:xfrm>
          <a:prstGeom prst="ellipse">
            <a:avLst/>
          </a:prstGeom>
          <a:solidFill>
            <a:srgbClr val="3D89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1011F3D-C373-F9F4-8492-682CF954720B}"/>
              </a:ext>
            </a:extLst>
          </p:cNvPr>
          <p:cNvSpPr txBox="1"/>
          <p:nvPr/>
        </p:nvSpPr>
        <p:spPr>
          <a:xfrm>
            <a:off x="889000" y="3581400"/>
            <a:ext cx="203200" cy="276999"/>
          </a:xfrm>
          <a:prstGeom prst="rect">
            <a:avLst/>
          </a:prstGeom>
          <a:noFill/>
        </p:spPr>
        <p:txBody>
          <a:bodyPr vert="horz" wrap="square" lIns="0" tIns="0" rIns="0" bIns="0" rtlCol="0" anchor="ctr">
            <a:noAutofit/>
          </a:bodyPr>
          <a:lstStyle/>
          <a:p>
            <a:pPr algn="ctr"/>
            <a:r>
              <a:rPr lang="en-US" sz="650" b="1">
                <a:solidFill>
                  <a:srgbClr val="FFFFFF"/>
                </a:solidFill>
                <a:latin typeface="Arial" panose="020B0604020202020204" pitchFamily="34" charset="0"/>
              </a:rPr>
              <a:t>OK</a:t>
            </a:r>
          </a:p>
        </p:txBody>
      </p:sp>
      <p:sp>
        <p:nvSpPr>
          <p:cNvPr id="17" name="TextBox 16">
            <a:extLst>
              <a:ext uri="{FF2B5EF4-FFF2-40B4-BE49-F238E27FC236}">
                <a16:creationId xmlns:a16="http://schemas.microsoft.com/office/drawing/2014/main" id="{0C32A023-EAB5-A81E-9044-BD4440BA8D05}"/>
              </a:ext>
            </a:extLst>
          </p:cNvPr>
          <p:cNvSpPr txBox="1"/>
          <p:nvPr/>
        </p:nvSpPr>
        <p:spPr>
          <a:xfrm>
            <a:off x="1244600" y="3505200"/>
            <a:ext cx="4064000" cy="276999"/>
          </a:xfrm>
          <a:prstGeom prst="rect">
            <a:avLst/>
          </a:prstGeom>
          <a:noFill/>
        </p:spPr>
        <p:txBody>
          <a:bodyPr vert="horz" wrap="square" lIns="0" tIns="0" rIns="0" bIns="0" rtlCol="0" anchor="t">
            <a:noAutofit/>
          </a:bodyPr>
          <a:lstStyle/>
          <a:p>
            <a:r>
              <a:rPr lang="en-US" sz="1400">
                <a:solidFill>
                  <a:srgbClr val="192D4B"/>
                </a:solidFill>
                <a:latin typeface="Aptos" panose="020B0004020202020204" pitchFamily="34" charset="0"/>
              </a:rPr>
              <a:t>Reproducible evidence package in the tested environment</a:t>
            </a:r>
          </a:p>
        </p:txBody>
      </p:sp>
      <p:sp>
        <p:nvSpPr>
          <p:cNvPr id="18" name="Rectangle: Rounded Corners 17">
            <a:extLst>
              <a:ext uri="{FF2B5EF4-FFF2-40B4-BE49-F238E27FC236}">
                <a16:creationId xmlns:a16="http://schemas.microsoft.com/office/drawing/2014/main" id="{5DF5677C-8898-BAEC-A18D-1C54D363BE10}"/>
              </a:ext>
            </a:extLst>
          </p:cNvPr>
          <p:cNvSpPr/>
          <p:nvPr/>
        </p:nvSpPr>
        <p:spPr>
          <a:xfrm>
            <a:off x="6121400" y="1676400"/>
            <a:ext cx="5461000" cy="2387600"/>
          </a:xfrm>
          <a:prstGeom prst="roundRect">
            <a:avLst/>
          </a:prstGeom>
          <a:solidFill>
            <a:srgbClr val="FFF4E0"/>
          </a:solidFill>
          <a:ln w="15240">
            <a:solidFill>
              <a:srgbClr val="E09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698694A-E997-1971-23E8-E08022422940}"/>
              </a:ext>
            </a:extLst>
          </p:cNvPr>
          <p:cNvSpPr txBox="1"/>
          <p:nvPr/>
        </p:nvSpPr>
        <p:spPr>
          <a:xfrm>
            <a:off x="6375400" y="1917700"/>
            <a:ext cx="4953000" cy="276999"/>
          </a:xfrm>
          <a:prstGeom prst="rect">
            <a:avLst/>
          </a:prstGeom>
          <a:noFill/>
        </p:spPr>
        <p:txBody>
          <a:bodyPr vert="horz" wrap="square" lIns="0" tIns="0" rIns="0" bIns="0" rtlCol="0" anchor="t">
            <a:noAutofit/>
          </a:bodyPr>
          <a:lstStyle/>
          <a:p>
            <a:r>
              <a:rPr lang="en-US" sz="1100" b="1">
                <a:solidFill>
                  <a:srgbClr val="E09630"/>
                </a:solidFill>
                <a:latin typeface="Aptos" panose="020B0004020202020204" pitchFamily="34" charset="0"/>
              </a:rPr>
              <a:t>NOT ESTABLISHED</a:t>
            </a:r>
          </a:p>
        </p:txBody>
      </p:sp>
      <p:sp>
        <p:nvSpPr>
          <p:cNvPr id="20" name="TextBox 19">
            <a:extLst>
              <a:ext uri="{FF2B5EF4-FFF2-40B4-BE49-F238E27FC236}">
                <a16:creationId xmlns:a16="http://schemas.microsoft.com/office/drawing/2014/main" id="{2B13D515-1E34-3375-96F7-C0771F3EFF81}"/>
              </a:ext>
            </a:extLst>
          </p:cNvPr>
          <p:cNvSpPr txBox="1"/>
          <p:nvPr/>
        </p:nvSpPr>
        <p:spPr>
          <a:xfrm>
            <a:off x="6375400" y="2425700"/>
            <a:ext cx="4699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Production repair-success rate</a:t>
            </a:r>
          </a:p>
        </p:txBody>
      </p:sp>
      <p:sp>
        <p:nvSpPr>
          <p:cNvPr id="21" name="TextBox 20">
            <a:extLst>
              <a:ext uri="{FF2B5EF4-FFF2-40B4-BE49-F238E27FC236}">
                <a16:creationId xmlns:a16="http://schemas.microsoft.com/office/drawing/2014/main" id="{2728D97A-B8BB-276A-FA61-AE05D262919B}"/>
              </a:ext>
            </a:extLst>
          </p:cNvPr>
          <p:cNvSpPr txBox="1"/>
          <p:nvPr/>
        </p:nvSpPr>
        <p:spPr>
          <a:xfrm>
            <a:off x="6375400" y="2933700"/>
            <a:ext cx="4699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Scanner accuracy across repositories</a:t>
            </a:r>
          </a:p>
        </p:txBody>
      </p:sp>
      <p:sp>
        <p:nvSpPr>
          <p:cNvPr id="22" name="TextBox 21">
            <a:extLst>
              <a:ext uri="{FF2B5EF4-FFF2-40B4-BE49-F238E27FC236}">
                <a16:creationId xmlns:a16="http://schemas.microsoft.com/office/drawing/2014/main" id="{6A9C01F2-F845-E12B-A308-F412F8B1DDFE}"/>
              </a:ext>
            </a:extLst>
          </p:cNvPr>
          <p:cNvSpPr txBox="1"/>
          <p:nvPr/>
        </p:nvSpPr>
        <p:spPr>
          <a:xfrm>
            <a:off x="6375400" y="3441700"/>
            <a:ext cx="4699000" cy="276999"/>
          </a:xfrm>
          <a:prstGeom prst="rect">
            <a:avLst/>
          </a:prstGeom>
          <a:noFill/>
        </p:spPr>
        <p:txBody>
          <a:bodyPr vert="horz" wrap="square" lIns="0" tIns="0" rIns="0" bIns="0" rtlCol="0" anchor="t">
            <a:noAutofit/>
          </a:bodyPr>
          <a:lstStyle/>
          <a:p>
            <a:r>
              <a:rPr lang="en-US" sz="1500" b="1">
                <a:solidFill>
                  <a:srgbClr val="192D4B"/>
                </a:solidFill>
                <a:latin typeface="Aptos" panose="020B0004020202020204" pitchFamily="34" charset="0"/>
              </a:rPr>
              <a:t>Generalization beyond three controlled Express fixtures</a:t>
            </a:r>
          </a:p>
        </p:txBody>
      </p:sp>
      <p:sp>
        <p:nvSpPr>
          <p:cNvPr id="23" name="Rectangle: Rounded Corners 22">
            <a:extLst>
              <a:ext uri="{FF2B5EF4-FFF2-40B4-BE49-F238E27FC236}">
                <a16:creationId xmlns:a16="http://schemas.microsoft.com/office/drawing/2014/main" id="{82A413C5-0EA6-F824-21E6-4E0ADA452BAC}"/>
              </a:ext>
            </a:extLst>
          </p:cNvPr>
          <p:cNvSpPr/>
          <p:nvPr/>
        </p:nvSpPr>
        <p:spPr>
          <a:xfrm>
            <a:off x="609600" y="4419600"/>
            <a:ext cx="10972800" cy="838200"/>
          </a:xfrm>
          <a:prstGeom prst="roundRect">
            <a:avLst/>
          </a:prstGeom>
          <a:solidFill>
            <a:srgbClr val="102646"/>
          </a:solidFill>
          <a:ln w="15240">
            <a:solidFill>
              <a:srgbClr val="10264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2A70FA4-87DE-B1AD-3CCA-9C1E9C6F7CD0}"/>
              </a:ext>
            </a:extLst>
          </p:cNvPr>
          <p:cNvSpPr txBox="1"/>
          <p:nvPr/>
        </p:nvSpPr>
        <p:spPr>
          <a:xfrm>
            <a:off x="863600" y="4635500"/>
            <a:ext cx="812800" cy="276999"/>
          </a:xfrm>
          <a:prstGeom prst="rect">
            <a:avLst/>
          </a:prstGeom>
          <a:noFill/>
        </p:spPr>
        <p:txBody>
          <a:bodyPr vert="horz" wrap="square" lIns="0" tIns="0" rIns="0" bIns="0" rtlCol="0" anchor="t">
            <a:noAutofit/>
          </a:bodyPr>
          <a:lstStyle/>
          <a:p>
            <a:r>
              <a:rPr lang="en-US" sz="1100" b="1">
                <a:solidFill>
                  <a:srgbClr val="92B4E0"/>
                </a:solidFill>
                <a:latin typeface="Aptos" panose="020B0004020202020204" pitchFamily="34" charset="0"/>
              </a:rPr>
              <a:t>NOV 1</a:t>
            </a:r>
          </a:p>
        </p:txBody>
      </p:sp>
      <p:sp>
        <p:nvSpPr>
          <p:cNvPr id="25" name="TextBox 24">
            <a:extLst>
              <a:ext uri="{FF2B5EF4-FFF2-40B4-BE49-F238E27FC236}">
                <a16:creationId xmlns:a16="http://schemas.microsoft.com/office/drawing/2014/main" id="{FF5D0C9B-62DC-D5FF-28F8-C21B9841A404}"/>
              </a:ext>
            </a:extLst>
          </p:cNvPr>
          <p:cNvSpPr txBox="1"/>
          <p:nvPr/>
        </p:nvSpPr>
        <p:spPr>
          <a:xfrm>
            <a:off x="863600" y="4902200"/>
            <a:ext cx="939800" cy="276999"/>
          </a:xfrm>
          <a:prstGeom prst="rect">
            <a:avLst/>
          </a:prstGeom>
          <a:noFill/>
        </p:spPr>
        <p:txBody>
          <a:bodyPr vert="horz" wrap="square" lIns="0" tIns="0" rIns="0" bIns="0" rtlCol="0" anchor="t">
            <a:noAutofit/>
          </a:bodyPr>
          <a:lstStyle/>
          <a:p>
            <a:r>
              <a:rPr lang="en-US" sz="1200" b="1">
                <a:solidFill>
                  <a:srgbClr val="FFFFFF"/>
                </a:solidFill>
                <a:latin typeface="Aptos" panose="020B0004020202020204" pitchFamily="34" charset="0"/>
              </a:rPr>
              <a:t>Report 5</a:t>
            </a:r>
          </a:p>
        </p:txBody>
      </p:sp>
      <p:sp>
        <p:nvSpPr>
          <p:cNvPr id="26" name="TextBox 25">
            <a:extLst>
              <a:ext uri="{FF2B5EF4-FFF2-40B4-BE49-F238E27FC236}">
                <a16:creationId xmlns:a16="http://schemas.microsoft.com/office/drawing/2014/main" id="{8A6DA841-52A5-5718-6A34-A009B042F4DB}"/>
              </a:ext>
            </a:extLst>
          </p:cNvPr>
          <p:cNvSpPr txBox="1"/>
          <p:nvPr/>
        </p:nvSpPr>
        <p:spPr>
          <a:xfrm>
            <a:off x="2921000" y="4635500"/>
            <a:ext cx="812800" cy="276999"/>
          </a:xfrm>
          <a:prstGeom prst="rect">
            <a:avLst/>
          </a:prstGeom>
          <a:noFill/>
        </p:spPr>
        <p:txBody>
          <a:bodyPr vert="horz" wrap="square" lIns="0" tIns="0" rIns="0" bIns="0" rtlCol="0" anchor="t">
            <a:noAutofit/>
          </a:bodyPr>
          <a:lstStyle/>
          <a:p>
            <a:r>
              <a:rPr lang="en-US" sz="1100" b="1">
                <a:solidFill>
                  <a:srgbClr val="92B4E0"/>
                </a:solidFill>
                <a:latin typeface="Aptos" panose="020B0004020202020204" pitchFamily="34" charset="0"/>
              </a:rPr>
              <a:t>NOV 3</a:t>
            </a:r>
          </a:p>
        </p:txBody>
      </p:sp>
      <p:sp>
        <p:nvSpPr>
          <p:cNvPr id="27" name="TextBox 26">
            <a:extLst>
              <a:ext uri="{FF2B5EF4-FFF2-40B4-BE49-F238E27FC236}">
                <a16:creationId xmlns:a16="http://schemas.microsoft.com/office/drawing/2014/main" id="{9E87EEB0-DDA1-0C13-FED8-628C1FB1AEEA}"/>
              </a:ext>
            </a:extLst>
          </p:cNvPr>
          <p:cNvSpPr txBox="1"/>
          <p:nvPr/>
        </p:nvSpPr>
        <p:spPr>
          <a:xfrm>
            <a:off x="2921000" y="4902200"/>
            <a:ext cx="939800" cy="276999"/>
          </a:xfrm>
          <a:prstGeom prst="rect">
            <a:avLst/>
          </a:prstGeom>
          <a:noFill/>
        </p:spPr>
        <p:txBody>
          <a:bodyPr vert="horz" wrap="square" lIns="0" tIns="0" rIns="0" bIns="0" rtlCol="0" anchor="t">
            <a:noAutofit/>
          </a:bodyPr>
          <a:lstStyle/>
          <a:p>
            <a:r>
              <a:rPr lang="en-US" sz="1200" b="1">
                <a:solidFill>
                  <a:srgbClr val="FFFFFF"/>
                </a:solidFill>
                <a:latin typeface="Aptos" panose="020B0004020202020204" pitchFamily="34" charset="0"/>
              </a:rPr>
              <a:t>Video V</a:t>
            </a:r>
          </a:p>
        </p:txBody>
      </p:sp>
      <p:sp>
        <p:nvSpPr>
          <p:cNvPr id="28" name="TextBox 27">
            <a:extLst>
              <a:ext uri="{FF2B5EF4-FFF2-40B4-BE49-F238E27FC236}">
                <a16:creationId xmlns:a16="http://schemas.microsoft.com/office/drawing/2014/main" id="{7B56572A-8DE7-FBA3-DDCE-7E999917AFC3}"/>
              </a:ext>
            </a:extLst>
          </p:cNvPr>
          <p:cNvSpPr txBox="1"/>
          <p:nvPr/>
        </p:nvSpPr>
        <p:spPr>
          <a:xfrm>
            <a:off x="4953000" y="4635500"/>
            <a:ext cx="914400" cy="276999"/>
          </a:xfrm>
          <a:prstGeom prst="rect">
            <a:avLst/>
          </a:prstGeom>
          <a:noFill/>
        </p:spPr>
        <p:txBody>
          <a:bodyPr vert="horz" wrap="square" lIns="0" tIns="0" rIns="0" bIns="0" rtlCol="0" anchor="t">
            <a:noAutofit/>
          </a:bodyPr>
          <a:lstStyle/>
          <a:p>
            <a:r>
              <a:rPr lang="en-US" sz="1100" b="1">
                <a:solidFill>
                  <a:srgbClr val="92B4E0"/>
                </a:solidFill>
                <a:latin typeface="Aptos" panose="020B0004020202020204" pitchFamily="34" charset="0"/>
              </a:rPr>
              <a:t>NOV 15</a:t>
            </a:r>
          </a:p>
        </p:txBody>
      </p:sp>
      <p:sp>
        <p:nvSpPr>
          <p:cNvPr id="29" name="TextBox 28">
            <a:extLst>
              <a:ext uri="{FF2B5EF4-FFF2-40B4-BE49-F238E27FC236}">
                <a16:creationId xmlns:a16="http://schemas.microsoft.com/office/drawing/2014/main" id="{30C44820-74FA-5877-777B-DB14EA0A5A27}"/>
              </a:ext>
            </a:extLst>
          </p:cNvPr>
          <p:cNvSpPr txBox="1"/>
          <p:nvPr/>
        </p:nvSpPr>
        <p:spPr>
          <a:xfrm>
            <a:off x="4953000" y="4902200"/>
            <a:ext cx="1651000" cy="276999"/>
          </a:xfrm>
          <a:prstGeom prst="rect">
            <a:avLst/>
          </a:prstGeom>
          <a:noFill/>
        </p:spPr>
        <p:txBody>
          <a:bodyPr vert="horz" wrap="square" lIns="0" tIns="0" rIns="0" bIns="0" rtlCol="0" anchor="t">
            <a:noAutofit/>
          </a:bodyPr>
          <a:lstStyle/>
          <a:p>
            <a:r>
              <a:rPr lang="en-US" sz="1200" b="1">
                <a:solidFill>
                  <a:srgbClr val="FFFFFF"/>
                </a:solidFill>
                <a:latin typeface="Aptos" panose="020B0004020202020204" pitchFamily="34" charset="0"/>
              </a:rPr>
              <a:t>Final presentation</a:t>
            </a:r>
          </a:p>
        </p:txBody>
      </p:sp>
      <p:sp>
        <p:nvSpPr>
          <p:cNvPr id="30" name="TextBox 29">
            <a:extLst>
              <a:ext uri="{FF2B5EF4-FFF2-40B4-BE49-F238E27FC236}">
                <a16:creationId xmlns:a16="http://schemas.microsoft.com/office/drawing/2014/main" id="{C7840C72-2761-9E0B-74BA-D03594D28FB5}"/>
              </a:ext>
            </a:extLst>
          </p:cNvPr>
          <p:cNvSpPr txBox="1"/>
          <p:nvPr/>
        </p:nvSpPr>
        <p:spPr>
          <a:xfrm>
            <a:off x="7620000" y="4635500"/>
            <a:ext cx="812800" cy="276999"/>
          </a:xfrm>
          <a:prstGeom prst="rect">
            <a:avLst/>
          </a:prstGeom>
          <a:noFill/>
        </p:spPr>
        <p:txBody>
          <a:bodyPr vert="horz" wrap="square" lIns="0" tIns="0" rIns="0" bIns="0" rtlCol="0" anchor="t">
            <a:noAutofit/>
          </a:bodyPr>
          <a:lstStyle/>
          <a:p>
            <a:r>
              <a:rPr lang="en-US" sz="1100" b="1">
                <a:solidFill>
                  <a:srgbClr val="92B4E0"/>
                </a:solidFill>
                <a:latin typeface="Aptos" panose="020B0004020202020204" pitchFamily="34" charset="0"/>
              </a:rPr>
              <a:t>DEC 6</a:t>
            </a:r>
          </a:p>
        </p:txBody>
      </p:sp>
      <p:sp>
        <p:nvSpPr>
          <p:cNvPr id="31" name="TextBox 30">
            <a:extLst>
              <a:ext uri="{FF2B5EF4-FFF2-40B4-BE49-F238E27FC236}">
                <a16:creationId xmlns:a16="http://schemas.microsoft.com/office/drawing/2014/main" id="{B33466E8-2D5A-44BC-45A1-9EA9FD917BC7}"/>
              </a:ext>
            </a:extLst>
          </p:cNvPr>
          <p:cNvSpPr txBox="1"/>
          <p:nvPr/>
        </p:nvSpPr>
        <p:spPr>
          <a:xfrm>
            <a:off x="7620000" y="4902200"/>
            <a:ext cx="1955800" cy="276999"/>
          </a:xfrm>
          <a:prstGeom prst="rect">
            <a:avLst/>
          </a:prstGeom>
          <a:noFill/>
        </p:spPr>
        <p:txBody>
          <a:bodyPr vert="horz" wrap="square" lIns="0" tIns="0" rIns="0" bIns="0" rtlCol="0" anchor="t">
            <a:noAutofit/>
          </a:bodyPr>
          <a:lstStyle/>
          <a:p>
            <a:r>
              <a:rPr lang="en-US" sz="1200" b="1">
                <a:solidFill>
                  <a:srgbClr val="FFFFFF"/>
                </a:solidFill>
                <a:latin typeface="Aptos" panose="020B0004020202020204" pitchFamily="34" charset="0"/>
              </a:rPr>
              <a:t>Final report + package</a:t>
            </a:r>
          </a:p>
        </p:txBody>
      </p:sp>
      <p:sp>
        <p:nvSpPr>
          <p:cNvPr id="32" name="Rectangle: Rounded Corners 31">
            <a:extLst>
              <a:ext uri="{FF2B5EF4-FFF2-40B4-BE49-F238E27FC236}">
                <a16:creationId xmlns:a16="http://schemas.microsoft.com/office/drawing/2014/main" id="{1AB37ADC-F0ED-BADE-9E0E-6DFC70D9945E}"/>
              </a:ext>
            </a:extLst>
          </p:cNvPr>
          <p:cNvSpPr/>
          <p:nvPr/>
        </p:nvSpPr>
        <p:spPr>
          <a:xfrm>
            <a:off x="609600" y="5461000"/>
            <a:ext cx="10972800" cy="812800"/>
          </a:xfrm>
          <a:prstGeom prst="roundRect">
            <a:avLst/>
          </a:prstGeom>
          <a:solidFill>
            <a:srgbClr val="FFFFFF"/>
          </a:solidFill>
          <a:ln w="15240">
            <a:solidFill>
              <a:srgbClr val="BECFE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EB6B1DE-7E36-31F2-BB26-1D21FE538CA9}"/>
              </a:ext>
            </a:extLst>
          </p:cNvPr>
          <p:cNvSpPr txBox="1"/>
          <p:nvPr/>
        </p:nvSpPr>
        <p:spPr>
          <a:xfrm>
            <a:off x="863600" y="5613400"/>
            <a:ext cx="1270000" cy="276999"/>
          </a:xfrm>
          <a:prstGeom prst="rect">
            <a:avLst/>
          </a:prstGeom>
          <a:noFill/>
        </p:spPr>
        <p:txBody>
          <a:bodyPr vert="horz" wrap="square" lIns="0" tIns="0" rIns="0" bIns="0" rtlCol="0" anchor="t">
            <a:noAutofit/>
          </a:bodyPr>
          <a:lstStyle/>
          <a:p>
            <a:r>
              <a:rPr lang="en-US" sz="1000" b="1">
                <a:solidFill>
                  <a:srgbClr val="755D9B"/>
                </a:solidFill>
                <a:latin typeface="Aptos" panose="020B0004020202020204" pitchFamily="34" charset="0"/>
              </a:rPr>
              <a:t>FEEDBACK USED</a:t>
            </a:r>
          </a:p>
        </p:txBody>
      </p:sp>
      <p:sp>
        <p:nvSpPr>
          <p:cNvPr id="34" name="TextBox 33">
            <a:extLst>
              <a:ext uri="{FF2B5EF4-FFF2-40B4-BE49-F238E27FC236}">
                <a16:creationId xmlns:a16="http://schemas.microsoft.com/office/drawing/2014/main" id="{866AFEAD-8079-DEE0-82C8-614D331FA92D}"/>
              </a:ext>
            </a:extLst>
          </p:cNvPr>
          <p:cNvSpPr txBox="1"/>
          <p:nvPr/>
        </p:nvSpPr>
        <p:spPr>
          <a:xfrm>
            <a:off x="2260600" y="5588000"/>
            <a:ext cx="9067800" cy="276999"/>
          </a:xfrm>
          <a:prstGeom prst="rect">
            <a:avLst/>
          </a:prstGeom>
          <a:noFill/>
        </p:spPr>
        <p:txBody>
          <a:bodyPr vert="horz" wrap="square" lIns="0" tIns="0" rIns="0" bIns="0" rtlCol="0" anchor="t">
            <a:noAutofit/>
          </a:bodyPr>
          <a:lstStyle/>
          <a:p>
            <a:r>
              <a:rPr lang="en-US" sz="1100">
                <a:solidFill>
                  <a:srgbClr val="546987"/>
                </a:solidFill>
                <a:latin typeface="Aptos" panose="020B0004020202020204" pitchFamily="34" charset="0"/>
              </a:rPr>
              <a:t>Audit trail retained; second fixture recorded as future work; clean rehearsal not called independent.</a:t>
            </a:r>
          </a:p>
        </p:txBody>
      </p:sp>
      <p:sp>
        <p:nvSpPr>
          <p:cNvPr id="35" name="TextBox 34">
            <a:extLst>
              <a:ext uri="{FF2B5EF4-FFF2-40B4-BE49-F238E27FC236}">
                <a16:creationId xmlns:a16="http://schemas.microsoft.com/office/drawing/2014/main" id="{16693F01-0F74-4E19-505D-778F971DEB4A}"/>
              </a:ext>
            </a:extLst>
          </p:cNvPr>
          <p:cNvSpPr txBox="1"/>
          <p:nvPr/>
        </p:nvSpPr>
        <p:spPr>
          <a:xfrm>
            <a:off x="863600" y="5943600"/>
            <a:ext cx="431800" cy="276999"/>
          </a:xfrm>
          <a:prstGeom prst="rect">
            <a:avLst/>
          </a:prstGeom>
          <a:noFill/>
        </p:spPr>
        <p:txBody>
          <a:bodyPr vert="horz" wrap="square" lIns="0" tIns="0" rIns="0" bIns="0" rtlCol="0" anchor="t">
            <a:noAutofit/>
          </a:bodyPr>
          <a:lstStyle/>
          <a:p>
            <a:r>
              <a:rPr lang="en-US" sz="1000" b="1">
                <a:solidFill>
                  <a:srgbClr val="496FA8"/>
                </a:solidFill>
                <a:latin typeface="Aptos" panose="020B0004020202020204" pitchFamily="34" charset="0"/>
              </a:rPr>
              <a:t>ASK</a:t>
            </a:r>
          </a:p>
        </p:txBody>
      </p:sp>
      <p:sp>
        <p:nvSpPr>
          <p:cNvPr id="36" name="TextBox 35">
            <a:extLst>
              <a:ext uri="{FF2B5EF4-FFF2-40B4-BE49-F238E27FC236}">
                <a16:creationId xmlns:a16="http://schemas.microsoft.com/office/drawing/2014/main" id="{E9AFFCBA-82E8-FEB7-5399-C4F9B246C04A}"/>
              </a:ext>
            </a:extLst>
          </p:cNvPr>
          <p:cNvSpPr txBox="1"/>
          <p:nvPr/>
        </p:nvSpPr>
        <p:spPr>
          <a:xfrm>
            <a:off x="1422400" y="5905500"/>
            <a:ext cx="9906000" cy="276999"/>
          </a:xfrm>
          <a:prstGeom prst="rect">
            <a:avLst/>
          </a:prstGeom>
          <a:noFill/>
        </p:spPr>
        <p:txBody>
          <a:bodyPr vert="horz" wrap="square" lIns="0" tIns="0" rIns="0" bIns="0" rtlCol="0" anchor="t">
            <a:noAutofit/>
          </a:bodyPr>
          <a:lstStyle/>
          <a:p>
            <a:pPr algn="ctr"/>
            <a:r>
              <a:rPr lang="en-US" sz="1300" b="1">
                <a:solidFill>
                  <a:srgbClr val="102646"/>
                </a:solidFill>
                <a:latin typeface="Aptos" panose="020B0004020202020204" pitchFamily="34" charset="0"/>
              </a:rPr>
              <a:t>Is one candidate example enough to explain validators, policy, and human judgment?</a:t>
            </a:r>
          </a:p>
        </p:txBody>
      </p:sp>
    </p:spTree>
    <p:extLst>
      <p:ext uri="{BB962C8B-B14F-4D97-AF65-F5344CB8AC3E}">
        <p14:creationId xmlns:p14="http://schemas.microsoft.com/office/powerpoint/2010/main" val="2278974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1093</Words>
  <Application>Microsoft Office PowerPoint</Application>
  <PresentationFormat>Custom</PresentationFormat>
  <Paragraphs>158</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1</cp:revision>
  <dcterms:created xsi:type="dcterms:W3CDTF">2026-10-26T13:36:58Z</dcterms:created>
  <dcterms:modified xsi:type="dcterms:W3CDTF">2026-10-26T13:36:59Z</dcterms:modified>
</cp:coreProperties>
</file>