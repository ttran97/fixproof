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8" r:id="rId4"/>
    <p:sldId id="259" r:id="rId5"/>
    <p:sldId id="270" r:id="rId6"/>
    <p:sldId id="261" r:id="rId7"/>
    <p:sldId id="262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20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2AC4E-5E2F-42F5-9A68-AE136799CD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0A9F5-7D86-4800-9F00-5B4EEA0D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58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Hi everyone. Since Video III, I focused on the unresolved PATH-S06 symbolic-link case. It could not run in Windows, so FixProof recorded it as inconclusive. I later evaluated it through a separately registered WSL2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0A9F5-7D86-4800-9F00-5B4EEA0DDC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31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Traversal 02 returned HTTP 400 for a direct parent-directory request, which is the desired rejection. But that lexical check does not prove the final filesystem target stays inside the allowed directory. An in-root symbolic link can point outside. Windows could not create that fixture, so the original result remained inconclusive rather than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0A9F5-7D86-4800-9F00-5B4EEA0DDC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0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Before execution, I documented the case, payload, environment, and oracle. The baseline first had to disclose the controlled marker. A candidate passed only if the marker was absent and the response was 400, 403, or 404. I reused the five saved candidates with no new model calls or SAST reruns.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0A9F5-7D86-4800-9F00-5B4EEA0DDC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0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The baseline gate passed. All five candidates then returned HTTP 200 and the controlled outside-file marker. Under the frozen criterion, the result was zero pass, five fail, and zero inconclusive. The baseline is a control and is not part of the five-candidate denominator.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0A9F5-7D86-4800-9F00-5B4EEA0DDC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26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Here is the Traversal 02 evidence chain. A normal file returned HTTP 200 with the expected content. The direct traversal returned HTTP 400, as intended. But the symbolic-link request returned HTTP 200 with FIXPROOF_CONTROLLED_TRAVERSAL_SECRET. The candidate checked the lexical path, then fs.readFile followed the link to an outside filesystem target. I also manually reproduced this candidate in WSL2.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0A9F5-7D86-4800-9F00-5B4EEA0DDC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63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This evidence qualifies the conclusion without rewriting the study. Primary-v1 keeps its 15 attempts and reviews. Supplemental-v1 keeps its 140 observations, including five Windows-inconclusive PATH-S06 cases. The extension separately records five failures and five later human rejection qualifications.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0A9F5-7D86-4800-9F00-5B4EEA0DDC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52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Within this registered case, all five saved candidates remain vulnerable to the symbolic-link escape. This does not establish application-wide security or a production repair-success rate. My next priorities are peer-feedback reconciliation, clean-package reproduction, current documentation, and the final report and presentation.
My feedback question is: would independent reproduction or one more controlled fixture add more confidence, and what evidence would you expect?
ChatGPT and Codex assisted development, testing, documentation, and presentation preparation. I reviewed the evidence, made the human decisions, and remain responsible for the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0A9F5-7D86-4800-9F00-5B4EEA0DDC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1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7AA5-CF88-E454-5EF5-BCE5DE515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BA33D-3D9D-4499-2015-F8CF0026D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691ED-5F8A-9F44-3CA3-35B07B93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6FA2E-837D-980D-DB44-64390B25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8E7CD-617D-3264-B44A-38A745E0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6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2105-BF80-F141-469C-2A6B05F6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6AC7-1569-1BF9-F765-9787F698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A47F-29A4-D52D-FD1C-C8600E60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64BF-371D-D933-F581-30570B73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8AE6A-00C5-F6AB-13CA-202F9F83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6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EF95-1151-B696-0945-550FAAAE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81224-2DD2-3580-FC77-37AF7549A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CB847-9589-B249-4C49-CD8DE4B0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15F41-1179-7774-D44B-227E3427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0A82C-D019-BA95-B04C-784C4F60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4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97B1-A709-C527-95F2-0CFDBE57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D9E8-57C6-BC73-4DAD-B1E90471C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1E322-9B85-5E86-71A4-CE4AB617F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078AC-6C11-E5B1-F17E-933ACB2D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47646-A3ED-7747-C388-A5B6525C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BFDCF-DA49-F510-18DE-DE800034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9E8B-7FAD-57FB-7BD7-1DB37BE1D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EAFC0-0E7C-042E-00B2-A6A7F2B9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CC121-8AA6-0A51-F5BD-D97B03041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E42D9-D780-1BF8-CCF2-0980E6DEC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B46F2-3968-F5BB-ADF3-4AD5E1639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AE540-A01F-2479-B05C-FD717142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2F2F3-880D-AE4D-82E4-02880B8A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F1297-21D9-5BA5-2A03-B9C00119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0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52C5-F068-C35D-4EF3-1EA86A08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517BE-AECB-23BE-52F1-D2DB898D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B7E16-F052-F5F8-D9D4-888C0D06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6CEE5-C887-99B6-D020-3077A7DE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4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211E8-F507-C52E-B2FE-ACDF694B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FB69B-B15F-B710-A97D-C1F2D38C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FEE61-E880-F48F-A975-398A2920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8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A0C7-4101-2C7A-4D84-E7251B09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12A3D-2EC8-475F-6A40-075ADB19B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6193D-0E6C-7CBB-F6C2-5442CE021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B767C-A656-7D13-C611-F6526CAB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50414-1B26-C9C2-EA44-3E06481D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57AEF-72A1-1869-CB7A-FD7B91F6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2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0211-7981-6048-61E1-BF24D9B9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C1E7C-68EF-535D-33D3-DA3058659E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BCF90-2864-9517-1360-F5E6C40E5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F0D24-32C5-20CE-40B6-009BC2A5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5A870-F9A8-BC16-D356-133A0B58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E94FE-A773-7922-9776-2A035BAB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3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3F8C-03F6-5A35-2589-E7BB5C2B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41002-B52B-7FD7-9575-C50CD934C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A0BBD-A317-2C5A-6487-051B47F6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652F-ACCE-C6D2-BC48-2C3749C1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1DDE7-4E9B-F089-E05F-53620E46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2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8409D7-CD4A-899C-10AE-355F8682DD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F4620-6CFE-92CD-244D-FC4216E88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9C044-C74E-1684-344D-47291DF9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F95F0-AE43-3A54-BF50-0244B356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FB30D-3EA6-BFFA-9031-706EE4C0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7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4D495-6F5C-3978-2695-306CE3B4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0CD01-02C3-90B4-FBB9-936EAA314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33B8E-3A45-FAF1-EE31-F5211E16F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18411-BC80-4794-9C5A-D8CEBA0A67F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79A36-3CB1-33CF-949A-5EDD4C476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8870F-35E9-98B0-D149-F25ADCD1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395D0-26C6-4310-8D17-912EBBF5D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8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3201F6-7225-8143-C9D6-1E4981ADD567}"/>
              </a:ext>
            </a:extLst>
          </p:cNvPr>
          <p:cNvSpPr/>
          <p:nvPr/>
        </p:nvSpPr>
        <p:spPr>
          <a:xfrm>
            <a:off x="736600" y="660400"/>
            <a:ext cx="1828800" cy="381000"/>
          </a:xfrm>
          <a:prstGeom prst="roundRect">
            <a:avLst/>
          </a:prstGeom>
          <a:solidFill>
            <a:srgbClr val="E09630"/>
          </a:solidFill>
          <a:ln w="15240">
            <a:solidFill>
              <a:srgbClr val="E096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37C59-5BAC-2D0A-AACB-F7AC09E60053}"/>
              </a:ext>
            </a:extLst>
          </p:cNvPr>
          <p:cNvSpPr txBox="1"/>
          <p:nvPr/>
        </p:nvSpPr>
        <p:spPr>
          <a:xfrm>
            <a:off x="736600" y="711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102646"/>
                </a:solidFill>
                <a:latin typeface="Aptos" panose="020B0004020202020204" pitchFamily="34" charset="0"/>
              </a:rPr>
              <a:t>POST VIDEO IV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11524-7E7A-50D2-BDC8-276831123EA1}"/>
              </a:ext>
            </a:extLst>
          </p:cNvPr>
          <p:cNvSpPr txBox="1"/>
          <p:nvPr/>
        </p:nvSpPr>
        <p:spPr>
          <a:xfrm>
            <a:off x="736600" y="1422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Aptos" panose="020B0004020202020204" pitchFamily="34" charset="0"/>
              </a:rPr>
              <a:t>FIXPROOF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788A8-C4F8-08AE-FB5D-E2E17875CD84}"/>
              </a:ext>
            </a:extLst>
          </p:cNvPr>
          <p:cNvSpPr txBox="1"/>
          <p:nvPr/>
        </p:nvSpPr>
        <p:spPr>
          <a:xfrm>
            <a:off x="736600" y="22352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ptos" panose="020B0004020202020204" pitchFamily="34" charset="0"/>
              </a:rPr>
              <a:t>Closing the path traversal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DD4EB-4379-3ABE-8248-326BB9E2BDDD}"/>
              </a:ext>
            </a:extLst>
          </p:cNvPr>
          <p:cNvSpPr txBox="1"/>
          <p:nvPr/>
        </p:nvSpPr>
        <p:spPr>
          <a:xfrm>
            <a:off x="736600" y="3429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BED2EB"/>
                </a:solidFill>
                <a:latin typeface="Aptos" panose="020B0004020202020204" pitchFamily="34" charset="0"/>
              </a:rPr>
              <a:t>PATH-S06 symbolic link test | Original study results kept unchanged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73A197-E7F0-CE84-7824-B48387E334D5}"/>
              </a:ext>
            </a:extLst>
          </p:cNvPr>
          <p:cNvSpPr/>
          <p:nvPr/>
        </p:nvSpPr>
        <p:spPr>
          <a:xfrm>
            <a:off x="736600" y="4445000"/>
            <a:ext cx="2413000" cy="381000"/>
          </a:xfrm>
          <a:prstGeom prst="roundRect">
            <a:avLst/>
          </a:prstGeom>
          <a:solidFill>
            <a:srgbClr val="496FA8"/>
          </a:solidFill>
          <a:ln w="15240">
            <a:solidFill>
              <a:srgbClr val="496F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84706-E492-483B-9ACD-937A3C50AF07}"/>
              </a:ext>
            </a:extLst>
          </p:cNvPr>
          <p:cNvSpPr txBox="1"/>
          <p:nvPr/>
        </p:nvSpPr>
        <p:spPr>
          <a:xfrm>
            <a:off x="736600" y="4495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1 TEST CASE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5B88C8-DC76-067F-DA36-1C952A458D7E}"/>
              </a:ext>
            </a:extLst>
          </p:cNvPr>
          <p:cNvSpPr/>
          <p:nvPr/>
        </p:nvSpPr>
        <p:spPr>
          <a:xfrm>
            <a:off x="3352800" y="4445000"/>
            <a:ext cx="2667000" cy="381000"/>
          </a:xfrm>
          <a:prstGeom prst="roundRect">
            <a:avLst/>
          </a:prstGeom>
          <a:solidFill>
            <a:srgbClr val="755D9B"/>
          </a:solidFill>
          <a:ln w="15240">
            <a:solidFill>
              <a:srgbClr val="755D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392A0-72B2-5C37-550C-0370E77EE701}"/>
              </a:ext>
            </a:extLst>
          </p:cNvPr>
          <p:cNvSpPr txBox="1"/>
          <p:nvPr/>
        </p:nvSpPr>
        <p:spPr>
          <a:xfrm>
            <a:off x="3352800" y="4495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5 SAVED FIXES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41321B-C0C7-6473-677E-DE11B475A4ED}"/>
              </a:ext>
            </a:extLst>
          </p:cNvPr>
          <p:cNvSpPr/>
          <p:nvPr/>
        </p:nvSpPr>
        <p:spPr>
          <a:xfrm>
            <a:off x="6223000" y="4445000"/>
            <a:ext cx="2159000" cy="381000"/>
          </a:xfrm>
          <a:prstGeom prst="roundRect">
            <a:avLst/>
          </a:prstGeom>
          <a:solidFill>
            <a:srgbClr val="B03E3E"/>
          </a:solidFill>
          <a:ln w="15240">
            <a:solidFill>
              <a:srgbClr val="B0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DC895-A0C4-DF55-BF2D-DC251EB213F2}"/>
              </a:ext>
            </a:extLst>
          </p:cNvPr>
          <p:cNvSpPr txBox="1"/>
          <p:nvPr/>
        </p:nvSpPr>
        <p:spPr>
          <a:xfrm>
            <a:off x="6223000" y="4495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0 OF 5 PASSED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10D8D-A8D8-4B8C-294A-33CF041CAA02}"/>
              </a:ext>
            </a:extLst>
          </p:cNvPr>
          <p:cNvSpPr txBox="1"/>
          <p:nvPr/>
        </p:nvSpPr>
        <p:spPr>
          <a:xfrm>
            <a:off x="736600" y="62484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B4CAE6"/>
                </a:solidFill>
                <a:latin typeface="Aptos" panose="020B0004020202020204" pitchFamily="34" charset="0"/>
              </a:rPr>
              <a:t>Tony Tran | CS6727 Cyber Security Practicum | October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3D929D-558F-741B-24AC-674FE6159704}"/>
              </a:ext>
            </a:extLst>
          </p:cNvPr>
          <p:cNvSpPr txBox="1"/>
          <p:nvPr/>
        </p:nvSpPr>
        <p:spPr>
          <a:xfrm>
            <a:off x="11239500" y="62484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>
                <a:solidFill>
                  <a:srgbClr val="B4CAE6"/>
                </a:solidFill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771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5D46AE-CF37-E192-2DDF-09BA932400AD}"/>
              </a:ext>
            </a:extLst>
          </p:cNvPr>
          <p:cNvSpPr txBox="1"/>
          <p:nvPr/>
        </p:nvSpPr>
        <p:spPr>
          <a:xfrm>
            <a:off x="609600" y="304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1. WHY THE FIRST RESULT WAS UNCLEAR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E29D9-038D-B3DB-C452-5EA40EFE2862}"/>
              </a:ext>
            </a:extLst>
          </p:cNvPr>
          <p:cNvSpPr txBox="1"/>
          <p:nvPr/>
        </p:nvSpPr>
        <p:spPr>
          <a:xfrm>
            <a:off x="609600" y="609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102646"/>
                </a:solidFill>
                <a:latin typeface="Aptos" panose="020B0004020202020204" pitchFamily="34" charset="0"/>
              </a:rPr>
              <a:t>Windows could not run the symbolic link test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2E2F49-48EC-0425-6454-46EC11F9EDD0}"/>
              </a:ext>
            </a:extLst>
          </p:cNvPr>
          <p:cNvCxnSpPr/>
          <p:nvPr/>
        </p:nvCxnSpPr>
        <p:spPr>
          <a:xfrm>
            <a:off x="609600" y="1333500"/>
            <a:ext cx="10972800" cy="0"/>
          </a:xfrm>
          <a:prstGeom prst="line">
            <a:avLst/>
          </a:prstGeom>
          <a:ln w="12700">
            <a:solidFill>
              <a:srgbClr val="BEC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892DCE-1A6A-FEDC-E7CD-A5316D1D4803}"/>
              </a:ext>
            </a:extLst>
          </p:cNvPr>
          <p:cNvSpPr txBox="1"/>
          <p:nvPr/>
        </p:nvSpPr>
        <p:spPr>
          <a:xfrm>
            <a:off x="609600" y="647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CS6727 | FixProof Video IV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4EFA1-4CB9-0E78-91B1-135CBE416332}"/>
              </a:ext>
            </a:extLst>
          </p:cNvPr>
          <p:cNvSpPr txBox="1"/>
          <p:nvPr/>
        </p:nvSpPr>
        <p:spPr>
          <a:xfrm>
            <a:off x="112395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D794B2-537D-86E8-8F55-3F2079413F52}"/>
              </a:ext>
            </a:extLst>
          </p:cNvPr>
          <p:cNvSpPr/>
          <p:nvPr/>
        </p:nvSpPr>
        <p:spPr>
          <a:xfrm>
            <a:off x="609600" y="1676400"/>
            <a:ext cx="3302000" cy="1600200"/>
          </a:xfrm>
          <a:prstGeom prst="roundRect">
            <a:avLst/>
          </a:prstGeom>
          <a:solidFill>
            <a:srgbClr val="E6F5F0"/>
          </a:solidFill>
          <a:ln w="15240">
            <a:solidFill>
              <a:srgbClr val="3D8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D689F-4517-6DAC-9A4D-CC92995A8148}"/>
              </a:ext>
            </a:extLst>
          </p:cNvPr>
          <p:cNvSpPr txBox="1"/>
          <p:nvPr/>
        </p:nvSpPr>
        <p:spPr>
          <a:xfrm>
            <a:off x="863600" y="1905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3D8974"/>
                </a:solidFill>
                <a:latin typeface="Aptos" panose="020B0004020202020204" pitchFamily="34" charset="0"/>
              </a:rPr>
              <a:t>DIRECT TRAVERSAL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88991-A6A2-5C73-B3AB-422D98CBF6D8}"/>
              </a:ext>
            </a:extLst>
          </p:cNvPr>
          <p:cNvSpPr txBox="1"/>
          <p:nvPr/>
        </p:nvSpPr>
        <p:spPr>
          <a:xfrm>
            <a:off x="863600" y="2286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92D4B"/>
                </a:solidFill>
                <a:latin typeface="Consolas" panose="020B0609020204030204" pitchFamily="49" charset="0"/>
              </a:rPr>
              <a:t>../outside-zone/outside-secret.txt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B104B-3A28-4FDB-E0AA-FD7DEB7AF9D1}"/>
              </a:ext>
            </a:extLst>
          </p:cNvPr>
          <p:cNvSpPr txBox="1"/>
          <p:nvPr/>
        </p:nvSpPr>
        <p:spPr>
          <a:xfrm>
            <a:off x="863600" y="2870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3D8974"/>
                </a:solidFill>
                <a:latin typeface="Aptos" panose="020B0004020202020204" pitchFamily="34" charset="0"/>
              </a:rPr>
              <a:t>HTTP 400, blocked as expected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1AF93D-2FAC-A022-97A7-2B9C42F2046B}"/>
              </a:ext>
            </a:extLst>
          </p:cNvPr>
          <p:cNvSpPr/>
          <p:nvPr/>
        </p:nvSpPr>
        <p:spPr>
          <a:xfrm>
            <a:off x="4267200" y="1676400"/>
            <a:ext cx="3302000" cy="1600200"/>
          </a:xfrm>
          <a:prstGeom prst="roundRect">
            <a:avLst/>
          </a:prstGeom>
          <a:solidFill>
            <a:srgbClr val="FCEBEB"/>
          </a:solidFill>
          <a:ln w="15240">
            <a:solidFill>
              <a:srgbClr val="B0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D3A99-A815-8431-70D6-C6DC0F89E089}"/>
              </a:ext>
            </a:extLst>
          </p:cNvPr>
          <p:cNvSpPr txBox="1"/>
          <p:nvPr/>
        </p:nvSpPr>
        <p:spPr>
          <a:xfrm>
            <a:off x="4521200" y="1905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B03E3E"/>
                </a:solidFill>
                <a:latin typeface="Aptos" panose="020B0004020202020204" pitchFamily="34" charset="0"/>
              </a:rPr>
              <a:t>SYMBOLIC-LINK TRAVERSAL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953FDA-2080-63B6-18BA-98FFE8F0C22A}"/>
              </a:ext>
            </a:extLst>
          </p:cNvPr>
          <p:cNvSpPr txBox="1"/>
          <p:nvPr/>
        </p:nvSpPr>
        <p:spPr>
          <a:xfrm>
            <a:off x="4521200" y="2286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92D4B"/>
                </a:solidFill>
                <a:latin typeface="Consolas" panose="020B0609020204030204" pitchFamily="49" charset="0"/>
              </a:rPr>
              <a:t>link/outside-secret.txt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6C4C0-F000-73D3-5D87-0A7AB97B336F}"/>
              </a:ext>
            </a:extLst>
          </p:cNvPr>
          <p:cNvSpPr txBox="1"/>
          <p:nvPr/>
        </p:nvSpPr>
        <p:spPr>
          <a:xfrm>
            <a:off x="4521200" y="2768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B03E3E"/>
                </a:solidFill>
                <a:latin typeface="Aptos" panose="020B0004020202020204" pitchFamily="34" charset="0"/>
              </a:rPr>
              <a:t>Needed Linux or another system that supports links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D5D7EA-B564-36FB-4B54-0595E8FAFBB4}"/>
              </a:ext>
            </a:extLst>
          </p:cNvPr>
          <p:cNvSpPr/>
          <p:nvPr/>
        </p:nvSpPr>
        <p:spPr>
          <a:xfrm>
            <a:off x="7924800" y="1676400"/>
            <a:ext cx="3657600" cy="1600200"/>
          </a:xfrm>
          <a:prstGeom prst="roundRect">
            <a:avLst/>
          </a:prstGeom>
          <a:solidFill>
            <a:srgbClr val="FFF4E0"/>
          </a:solidFill>
          <a:ln w="15240">
            <a:solidFill>
              <a:srgbClr val="E096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E0CF2-00FC-72F8-CB50-9B95B30A9AF1}"/>
              </a:ext>
            </a:extLst>
          </p:cNvPr>
          <p:cNvSpPr txBox="1"/>
          <p:nvPr/>
        </p:nvSpPr>
        <p:spPr>
          <a:xfrm>
            <a:off x="8178800" y="19050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E09630"/>
                </a:solidFill>
                <a:latin typeface="Aptos" panose="020B0004020202020204" pitchFamily="34" charset="0"/>
              </a:rPr>
              <a:t>ORIGINAL OUTCOME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EDACE6-902F-224B-C56E-33AB75173D5A}"/>
              </a:ext>
            </a:extLst>
          </p:cNvPr>
          <p:cNvSpPr txBox="1"/>
          <p:nvPr/>
        </p:nvSpPr>
        <p:spPr>
          <a:xfrm>
            <a:off x="8178800" y="22987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02646"/>
                </a:solidFill>
                <a:latin typeface="Aptos" panose="020B0004020202020204" pitchFamily="34" charset="0"/>
              </a:rPr>
              <a:t>PATH-S06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D92AD2-A3B1-0D5D-181D-997FA19B0D61}"/>
              </a:ext>
            </a:extLst>
          </p:cNvPr>
          <p:cNvSpPr txBox="1"/>
          <p:nvPr/>
        </p:nvSpPr>
        <p:spPr>
          <a:xfrm>
            <a:off x="8178800" y="26289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02646"/>
                </a:solidFill>
                <a:latin typeface="Aptos" panose="020B0004020202020204" pitchFamily="34" charset="0"/>
              </a:rPr>
              <a:t>INCONCLUSIVE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A402F-A988-DD13-A20E-2BCCD5C47148}"/>
              </a:ext>
            </a:extLst>
          </p:cNvPr>
          <p:cNvSpPr txBox="1"/>
          <p:nvPr/>
        </p:nvSpPr>
        <p:spPr>
          <a:xfrm>
            <a:off x="8178800" y="29591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46987"/>
                </a:solidFill>
                <a:latin typeface="Aptos" panose="020B0004020202020204" pitchFamily="34" charset="0"/>
              </a:rPr>
              <a:t>Windows could not create the test link, so this case did not pass or fail.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DB73800-8D9C-905F-6D16-290E777FD6BC}"/>
              </a:ext>
            </a:extLst>
          </p:cNvPr>
          <p:cNvSpPr/>
          <p:nvPr/>
        </p:nvSpPr>
        <p:spPr>
          <a:xfrm>
            <a:off x="914400" y="3860800"/>
            <a:ext cx="67310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03DC8E-CD1E-E4D2-8FDF-A3D2DF78D8B7}"/>
              </a:ext>
            </a:extLst>
          </p:cNvPr>
          <p:cNvSpPr txBox="1"/>
          <p:nvPr/>
        </p:nvSpPr>
        <p:spPr>
          <a:xfrm>
            <a:off x="1168400" y="41148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02646"/>
                </a:solidFill>
                <a:latin typeface="Consolas" panose="020B0609020204030204" pitchFamily="49" charset="0"/>
              </a:rPr>
              <a:t>Allowed root: public-files/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B04C26C-9F71-4F59-43D8-8FFA857850B3}"/>
              </a:ext>
            </a:extLst>
          </p:cNvPr>
          <p:cNvSpPr/>
          <p:nvPr/>
        </p:nvSpPr>
        <p:spPr>
          <a:xfrm>
            <a:off x="1219200" y="4572000"/>
            <a:ext cx="2032000" cy="685800"/>
          </a:xfrm>
          <a:prstGeom prst="roundRect">
            <a:avLst/>
          </a:prstGeom>
          <a:solidFill>
            <a:srgbClr val="E8F0FA"/>
          </a:solidFill>
          <a:ln w="15240">
            <a:solidFill>
              <a:srgbClr val="496F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216A7-CAB9-726C-C121-56B107A1B9AE}"/>
              </a:ext>
            </a:extLst>
          </p:cNvPr>
          <p:cNvSpPr txBox="1"/>
          <p:nvPr/>
        </p:nvSpPr>
        <p:spPr>
          <a:xfrm>
            <a:off x="1219200" y="47625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>
                <a:solidFill>
                  <a:srgbClr val="2A4974"/>
                </a:solidFill>
                <a:latin typeface="Consolas" panose="020B0609020204030204" pitchFamily="49" charset="0"/>
              </a:rPr>
              <a:t>link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3591EA-A810-BBC7-23F9-DBDD8EE5856D}"/>
              </a:ext>
            </a:extLst>
          </p:cNvPr>
          <p:cNvCxnSpPr/>
          <p:nvPr/>
        </p:nvCxnSpPr>
        <p:spPr>
          <a:xfrm>
            <a:off x="3251200" y="4914900"/>
            <a:ext cx="1955800" cy="0"/>
          </a:xfrm>
          <a:prstGeom prst="line">
            <a:avLst/>
          </a:prstGeom>
          <a:ln w="38100">
            <a:solidFill>
              <a:srgbClr val="B03E3E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0FD855-6498-81EA-CE6A-72EB919FEB26}"/>
              </a:ext>
            </a:extLst>
          </p:cNvPr>
          <p:cNvSpPr/>
          <p:nvPr/>
        </p:nvSpPr>
        <p:spPr>
          <a:xfrm>
            <a:off x="5207000" y="4445000"/>
            <a:ext cx="2108200" cy="965200"/>
          </a:xfrm>
          <a:prstGeom prst="roundRect">
            <a:avLst/>
          </a:prstGeom>
          <a:solidFill>
            <a:srgbClr val="FCEBEB"/>
          </a:solidFill>
          <a:ln w="15240">
            <a:solidFill>
              <a:srgbClr val="B0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04D3B0-40FC-BE6E-B715-90E8CBEA67C5}"/>
              </a:ext>
            </a:extLst>
          </p:cNvPr>
          <p:cNvSpPr txBox="1"/>
          <p:nvPr/>
        </p:nvSpPr>
        <p:spPr>
          <a:xfrm>
            <a:off x="5384800" y="46228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B03E3E"/>
                </a:solidFill>
                <a:latin typeface="Consolas" panose="020B0609020204030204" pitchFamily="49" charset="0"/>
              </a:rPr>
              <a:t>outside-zone/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62C98-C397-E16E-6EB3-E880D755A193}"/>
              </a:ext>
            </a:extLst>
          </p:cNvPr>
          <p:cNvSpPr txBox="1"/>
          <p:nvPr/>
        </p:nvSpPr>
        <p:spPr>
          <a:xfrm>
            <a:off x="5384800" y="49657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>
                <a:solidFill>
                  <a:srgbClr val="192D4B"/>
                </a:solidFill>
                <a:latin typeface="Consolas" panose="020B0609020204030204" pitchFamily="49" charset="0"/>
              </a:rPr>
              <a:t>outside-secret.txt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A6DEF8-1F19-EF2D-60CE-3E296EE5A08D}"/>
              </a:ext>
            </a:extLst>
          </p:cNvPr>
          <p:cNvSpPr txBox="1"/>
          <p:nvPr/>
        </p:nvSpPr>
        <p:spPr>
          <a:xfrm>
            <a:off x="8026400" y="41910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102646"/>
                </a:solidFill>
                <a:latin typeface="Aptos" panose="020B0004020202020204" pitchFamily="34" charset="0"/>
              </a:rPr>
              <a:t>A path can look safe but still point outside the allowed folder.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653315-F534-604A-BFD7-89A5BCCECE92}"/>
              </a:ext>
            </a:extLst>
          </p:cNvPr>
          <p:cNvSpPr txBox="1"/>
          <p:nvPr/>
        </p:nvSpPr>
        <p:spPr>
          <a:xfrm>
            <a:off x="8026400" y="5257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46987"/>
                </a:solidFill>
                <a:latin typeface="Aptos" panose="020B0004020202020204" pitchFamily="34" charset="0"/>
              </a:rPr>
              <a:t>Checking the path text is not the same as checking the final file location.</a:t>
            </a:r>
          </a:p>
        </p:txBody>
      </p:sp>
    </p:spTree>
    <p:extLst>
      <p:ext uri="{BB962C8B-B14F-4D97-AF65-F5344CB8AC3E}">
        <p14:creationId xmlns:p14="http://schemas.microsoft.com/office/powerpoint/2010/main" val="250187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385EF-1A0F-EDFE-648F-B5A4F3CD8C42}"/>
              </a:ext>
            </a:extLst>
          </p:cNvPr>
          <p:cNvSpPr txBox="1"/>
          <p:nvPr/>
        </p:nvSpPr>
        <p:spPr>
          <a:xfrm>
            <a:off x="609600" y="304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2. HOW I RAN THE EXTRA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E9BE0-203A-571D-4EEC-55206AC8AB94}"/>
              </a:ext>
            </a:extLst>
          </p:cNvPr>
          <p:cNvSpPr txBox="1"/>
          <p:nvPr/>
        </p:nvSpPr>
        <p:spPr>
          <a:xfrm>
            <a:off x="609600" y="609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102646"/>
                </a:solidFill>
                <a:latin typeface="Aptos" panose="020B0004020202020204" pitchFamily="34" charset="0"/>
              </a:rPr>
              <a:t>I set the rules before running the test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33F23A-21FB-66D2-6DAD-0796F2CDAA3C}"/>
              </a:ext>
            </a:extLst>
          </p:cNvPr>
          <p:cNvCxnSpPr/>
          <p:nvPr/>
        </p:nvCxnSpPr>
        <p:spPr>
          <a:xfrm>
            <a:off x="609600" y="1333500"/>
            <a:ext cx="10972800" cy="0"/>
          </a:xfrm>
          <a:prstGeom prst="line">
            <a:avLst/>
          </a:prstGeom>
          <a:ln w="12700">
            <a:solidFill>
              <a:srgbClr val="BEC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F78BA5-4348-424A-1F96-CAB55275B4C3}"/>
              </a:ext>
            </a:extLst>
          </p:cNvPr>
          <p:cNvSpPr txBox="1"/>
          <p:nvPr/>
        </p:nvSpPr>
        <p:spPr>
          <a:xfrm>
            <a:off x="609600" y="647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CS6727 | FixProof Video IV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1DD09-9EAC-49B4-F050-DE9DBBFE4FB4}"/>
              </a:ext>
            </a:extLst>
          </p:cNvPr>
          <p:cNvSpPr txBox="1"/>
          <p:nvPr/>
        </p:nvSpPr>
        <p:spPr>
          <a:xfrm>
            <a:off x="112395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327C32-FB94-3964-36A7-F813AFC265FA}"/>
              </a:ext>
            </a:extLst>
          </p:cNvPr>
          <p:cNvSpPr/>
          <p:nvPr/>
        </p:nvSpPr>
        <p:spPr>
          <a:xfrm>
            <a:off x="609600" y="1727200"/>
            <a:ext cx="2514600" cy="1295400"/>
          </a:xfrm>
          <a:prstGeom prst="roundRect">
            <a:avLst/>
          </a:prstGeom>
          <a:solidFill>
            <a:srgbClr val="E8F0FA"/>
          </a:solidFill>
          <a:ln w="15240">
            <a:solidFill>
              <a:srgbClr val="496F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24BD2-2AAE-2A48-5843-71F800BC97EE}"/>
              </a:ext>
            </a:extLst>
          </p:cNvPr>
          <p:cNvSpPr txBox="1"/>
          <p:nvPr/>
        </p:nvSpPr>
        <p:spPr>
          <a:xfrm>
            <a:off x="812800" y="1917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02646"/>
                </a:solidFill>
                <a:latin typeface="Aptos" panose="020B0004020202020204" pitchFamily="34" charset="0"/>
              </a:rPr>
              <a:t>1. Set 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7569E-8937-0093-3739-FC25C966103E}"/>
              </a:ext>
            </a:extLst>
          </p:cNvPr>
          <p:cNvSpPr txBox="1"/>
          <p:nvPr/>
        </p:nvSpPr>
        <p:spPr>
          <a:xfrm>
            <a:off x="812800" y="2298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Save the test case, input, rules, and environment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0DEE09-69D4-F8BC-1585-3E30A3A0BD91}"/>
              </a:ext>
            </a:extLst>
          </p:cNvPr>
          <p:cNvSpPr/>
          <p:nvPr/>
        </p:nvSpPr>
        <p:spPr>
          <a:xfrm>
            <a:off x="3429000" y="1727200"/>
            <a:ext cx="2514600" cy="1295400"/>
          </a:xfrm>
          <a:prstGeom prst="roundRect">
            <a:avLst/>
          </a:prstGeom>
          <a:solidFill>
            <a:srgbClr val="FFF4E0"/>
          </a:solidFill>
          <a:ln w="15240">
            <a:solidFill>
              <a:srgbClr val="E096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B9BD91-2B9A-D8F7-9E79-E1186B117B35}"/>
              </a:ext>
            </a:extLst>
          </p:cNvPr>
          <p:cNvSpPr txBox="1"/>
          <p:nvPr/>
        </p:nvSpPr>
        <p:spPr>
          <a:xfrm>
            <a:off x="3632200" y="1917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02646"/>
                </a:solidFill>
                <a:latin typeface="Aptos" panose="020B0004020202020204" pitchFamily="34" charset="0"/>
              </a:rPr>
              <a:t>2. Check baseline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96129C-6E30-2CE7-FD21-5C8D0A0391F0}"/>
              </a:ext>
            </a:extLst>
          </p:cNvPr>
          <p:cNvSpPr txBox="1"/>
          <p:nvPr/>
        </p:nvSpPr>
        <p:spPr>
          <a:xfrm>
            <a:off x="3632200" y="2298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Baseline must show the test marker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01B869-CAF3-6C60-C4A2-71486500856B}"/>
              </a:ext>
            </a:extLst>
          </p:cNvPr>
          <p:cNvSpPr/>
          <p:nvPr/>
        </p:nvSpPr>
        <p:spPr>
          <a:xfrm>
            <a:off x="6248400" y="1727200"/>
            <a:ext cx="2514600" cy="1295400"/>
          </a:xfrm>
          <a:prstGeom prst="roundRect">
            <a:avLst/>
          </a:prstGeom>
          <a:solidFill>
            <a:srgbClr val="F2EDFA"/>
          </a:solidFill>
          <a:ln w="15240">
            <a:solidFill>
              <a:srgbClr val="755D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F4E23-7F19-F2B2-9591-58BB11791ADB}"/>
              </a:ext>
            </a:extLst>
          </p:cNvPr>
          <p:cNvSpPr txBox="1"/>
          <p:nvPr/>
        </p:nvSpPr>
        <p:spPr>
          <a:xfrm>
            <a:off x="6451600" y="1917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02646"/>
                </a:solidFill>
                <a:latin typeface="Aptos" panose="020B0004020202020204" pitchFamily="34" charset="0"/>
              </a:rPr>
              <a:t>3. Test fixes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B1C6E-A159-A990-0878-4561014ACAAC}"/>
              </a:ext>
            </a:extLst>
          </p:cNvPr>
          <p:cNvSpPr txBox="1"/>
          <p:nvPr/>
        </p:nvSpPr>
        <p:spPr>
          <a:xfrm>
            <a:off x="6451600" y="2298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Reuse five saved fixes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5D364A-ABCA-927D-11F9-4FC4CDBA1F44}"/>
              </a:ext>
            </a:extLst>
          </p:cNvPr>
          <p:cNvSpPr/>
          <p:nvPr/>
        </p:nvSpPr>
        <p:spPr>
          <a:xfrm>
            <a:off x="9067800" y="1727200"/>
            <a:ext cx="2514600" cy="1295400"/>
          </a:xfrm>
          <a:prstGeom prst="roundRect">
            <a:avLst/>
          </a:prstGeom>
          <a:solidFill>
            <a:srgbClr val="E6F5F0"/>
          </a:solidFill>
          <a:ln w="15240">
            <a:solidFill>
              <a:srgbClr val="3D8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149314-D72D-B319-983C-8571A2C0CA19}"/>
              </a:ext>
            </a:extLst>
          </p:cNvPr>
          <p:cNvSpPr txBox="1"/>
          <p:nvPr/>
        </p:nvSpPr>
        <p:spPr>
          <a:xfrm>
            <a:off x="9271000" y="1917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02646"/>
                </a:solidFill>
                <a:latin typeface="Aptos" panose="020B0004020202020204" pitchFamily="34" charset="0"/>
              </a:rPr>
              <a:t>4. Record result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01B49-2642-FE72-5CB5-5A9884B1E0C2}"/>
              </a:ext>
            </a:extLst>
          </p:cNvPr>
          <p:cNvSpPr txBox="1"/>
          <p:nvPr/>
        </p:nvSpPr>
        <p:spPr>
          <a:xfrm>
            <a:off x="9271000" y="22987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Keep later human review separate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BFBC60-79EB-0F26-4E55-B2C16F446E67}"/>
              </a:ext>
            </a:extLst>
          </p:cNvPr>
          <p:cNvCxnSpPr/>
          <p:nvPr/>
        </p:nvCxnSpPr>
        <p:spPr>
          <a:xfrm>
            <a:off x="3124200" y="2374900"/>
            <a:ext cx="304800" cy="0"/>
          </a:xfrm>
          <a:prstGeom prst="line">
            <a:avLst/>
          </a:prstGeom>
          <a:ln w="25400">
            <a:solidFill>
              <a:srgbClr val="2A497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B26275-FBC0-D574-4E19-5170B4AB478A}"/>
              </a:ext>
            </a:extLst>
          </p:cNvPr>
          <p:cNvCxnSpPr/>
          <p:nvPr/>
        </p:nvCxnSpPr>
        <p:spPr>
          <a:xfrm>
            <a:off x="5943600" y="2374900"/>
            <a:ext cx="304800" cy="0"/>
          </a:xfrm>
          <a:prstGeom prst="line">
            <a:avLst/>
          </a:prstGeom>
          <a:ln w="25400">
            <a:solidFill>
              <a:srgbClr val="2A497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AC929C-3E31-85FA-B867-3EB0D56F163B}"/>
              </a:ext>
            </a:extLst>
          </p:cNvPr>
          <p:cNvCxnSpPr/>
          <p:nvPr/>
        </p:nvCxnSpPr>
        <p:spPr>
          <a:xfrm>
            <a:off x="8763000" y="2374900"/>
            <a:ext cx="304800" cy="0"/>
          </a:xfrm>
          <a:prstGeom prst="line">
            <a:avLst/>
          </a:prstGeom>
          <a:ln w="25400">
            <a:solidFill>
              <a:srgbClr val="2A497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89E6354-B7EE-537F-BBFB-AD37B93940AF}"/>
              </a:ext>
            </a:extLst>
          </p:cNvPr>
          <p:cNvSpPr/>
          <p:nvPr/>
        </p:nvSpPr>
        <p:spPr>
          <a:xfrm>
            <a:off x="609600" y="3530600"/>
            <a:ext cx="5207000" cy="2311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82A1C4-3536-751C-155F-9403A45F4537}"/>
              </a:ext>
            </a:extLst>
          </p:cNvPr>
          <p:cNvSpPr txBox="1"/>
          <p:nvPr/>
        </p:nvSpPr>
        <p:spPr>
          <a:xfrm>
            <a:off x="863600" y="37846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TEST RULES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DB654D-AC6F-FF19-8E8D-3CE698FEC532}"/>
              </a:ext>
            </a:extLst>
          </p:cNvPr>
          <p:cNvSpPr txBox="1"/>
          <p:nvPr/>
        </p:nvSpPr>
        <p:spPr>
          <a:xfrm>
            <a:off x="863600" y="42291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546987"/>
                </a:solidFill>
                <a:latin typeface="Aptos" panose="020B0004020202020204" pitchFamily="34" charset="0"/>
              </a:rPr>
              <a:t>Environment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5F50A-7DB5-836C-4E10-5C102EADC087}"/>
              </a:ext>
            </a:extLst>
          </p:cNvPr>
          <p:cNvSpPr txBox="1"/>
          <p:nvPr/>
        </p:nvSpPr>
        <p:spPr>
          <a:xfrm>
            <a:off x="2413000" y="42291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92D4B"/>
                </a:solidFill>
                <a:latin typeface="Aptos" panose="020B0004020202020204" pitchFamily="34" charset="0"/>
              </a:rPr>
              <a:t>WSL2 Ubuntu with a Linux symbolic link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B5B1C3-66AF-D3F6-4F28-65D9CE3FB8DF}"/>
              </a:ext>
            </a:extLst>
          </p:cNvPr>
          <p:cNvSpPr txBox="1"/>
          <p:nvPr/>
        </p:nvSpPr>
        <p:spPr>
          <a:xfrm>
            <a:off x="863600" y="46609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546987"/>
                </a:solidFill>
                <a:latin typeface="Aptos" panose="020B0004020202020204" pitchFamily="34" charset="0"/>
              </a:rPr>
              <a:t>Fix passes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4D1C55-FE5D-22B3-9A30-B1329EDDF627}"/>
              </a:ext>
            </a:extLst>
          </p:cNvPr>
          <p:cNvSpPr txBox="1"/>
          <p:nvPr/>
        </p:nvSpPr>
        <p:spPr>
          <a:xfrm>
            <a:off x="2413000" y="46609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3D8974"/>
                </a:solidFill>
                <a:latin typeface="Aptos" panose="020B0004020202020204" pitchFamily="34" charset="0"/>
              </a:rPr>
              <a:t>Marker is missing and HTTP is 400, 403, or 404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D49320-FADA-E8A2-E963-D6A0BDD596BC}"/>
              </a:ext>
            </a:extLst>
          </p:cNvPr>
          <p:cNvSpPr txBox="1"/>
          <p:nvPr/>
        </p:nvSpPr>
        <p:spPr>
          <a:xfrm>
            <a:off x="863600" y="52832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546987"/>
                </a:solidFill>
                <a:latin typeface="Aptos" panose="020B0004020202020204" pitchFamily="34" charset="0"/>
              </a:rPr>
              <a:t>Fix fails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56FE71-39D1-60CE-F041-9DEF48DEAD07}"/>
              </a:ext>
            </a:extLst>
          </p:cNvPr>
          <p:cNvSpPr txBox="1"/>
          <p:nvPr/>
        </p:nvSpPr>
        <p:spPr>
          <a:xfrm>
            <a:off x="2413000" y="5283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B03E3E"/>
                </a:solidFill>
                <a:latin typeface="Aptos" panose="020B0004020202020204" pitchFamily="34" charset="0"/>
              </a:rPr>
              <a:t>Test marker is shown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EB0E96D-013F-38E9-F6CE-E7D68C110BF7}"/>
              </a:ext>
            </a:extLst>
          </p:cNvPr>
          <p:cNvSpPr/>
          <p:nvPr/>
        </p:nvSpPr>
        <p:spPr>
          <a:xfrm>
            <a:off x="6121400" y="3530600"/>
            <a:ext cx="5461000" cy="2311400"/>
          </a:xfrm>
          <a:prstGeom prst="roundRect">
            <a:avLst/>
          </a:prstGeom>
          <a:solidFill>
            <a:srgbClr val="102646"/>
          </a:solidFill>
          <a:ln w="15240">
            <a:solidFill>
              <a:srgbClr val="102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CCFF32-B4ED-3942-26AB-0855F45CA273}"/>
              </a:ext>
            </a:extLst>
          </p:cNvPr>
          <p:cNvSpPr txBox="1"/>
          <p:nvPr/>
        </p:nvSpPr>
        <p:spPr>
          <a:xfrm>
            <a:off x="6400800" y="3784600"/>
            <a:ext cx="4902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92B4E0"/>
                </a:solidFill>
                <a:latin typeface="Aptos" panose="020B0004020202020204" pitchFamily="34" charset="0"/>
              </a:rPr>
              <a:t>TEST LIMITS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94367E-1302-D36F-71CA-2BF557A6EAEF}"/>
              </a:ext>
            </a:extLst>
          </p:cNvPr>
          <p:cNvSpPr/>
          <p:nvPr/>
        </p:nvSpPr>
        <p:spPr>
          <a:xfrm>
            <a:off x="6400800" y="4254500"/>
            <a:ext cx="279400" cy="279400"/>
          </a:xfrm>
          <a:prstGeom prst="ellipse">
            <a:avLst/>
          </a:prstGeom>
          <a:solidFill>
            <a:srgbClr val="3D89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7BBBAC-F4C9-1088-C709-9A1CF5CCD94D}"/>
              </a:ext>
            </a:extLst>
          </p:cNvPr>
          <p:cNvSpPr txBox="1"/>
          <p:nvPr/>
        </p:nvSpPr>
        <p:spPr>
          <a:xfrm>
            <a:off x="6426200" y="4318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Arial" panose="020B0604020202020204" pitchFamily="34" charset="0"/>
              </a:rPr>
              <a:t>OK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8CB26A-513D-7296-3D37-202B08122DFB}"/>
              </a:ext>
            </a:extLst>
          </p:cNvPr>
          <p:cNvSpPr txBox="1"/>
          <p:nvPr/>
        </p:nvSpPr>
        <p:spPr>
          <a:xfrm>
            <a:off x="6807200" y="4241800"/>
            <a:ext cx="422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No new AI calls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6A8794-5622-A51E-67C1-3ECF98F66165}"/>
              </a:ext>
            </a:extLst>
          </p:cNvPr>
          <p:cNvSpPr/>
          <p:nvPr/>
        </p:nvSpPr>
        <p:spPr>
          <a:xfrm>
            <a:off x="6400800" y="4711700"/>
            <a:ext cx="279400" cy="279400"/>
          </a:xfrm>
          <a:prstGeom prst="ellipse">
            <a:avLst/>
          </a:prstGeom>
          <a:solidFill>
            <a:srgbClr val="3D89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9D017D-D357-ED10-6585-632CAFFE40A3}"/>
              </a:ext>
            </a:extLst>
          </p:cNvPr>
          <p:cNvSpPr txBox="1"/>
          <p:nvPr/>
        </p:nvSpPr>
        <p:spPr>
          <a:xfrm>
            <a:off x="6426200" y="4775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Arial" panose="020B0604020202020204" pitchFamily="34" charset="0"/>
              </a:rPr>
              <a:t>OK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F5DD40-AF73-E863-DB10-C6D33A19C80D}"/>
              </a:ext>
            </a:extLst>
          </p:cNvPr>
          <p:cNvSpPr txBox="1"/>
          <p:nvPr/>
        </p:nvSpPr>
        <p:spPr>
          <a:xfrm>
            <a:off x="6807200" y="4699000"/>
            <a:ext cx="422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No new SAST scans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E23FAD8-070B-2D18-5796-27143EDCA53C}"/>
              </a:ext>
            </a:extLst>
          </p:cNvPr>
          <p:cNvSpPr/>
          <p:nvPr/>
        </p:nvSpPr>
        <p:spPr>
          <a:xfrm>
            <a:off x="6400800" y="5168900"/>
            <a:ext cx="279400" cy="279400"/>
          </a:xfrm>
          <a:prstGeom prst="ellipse">
            <a:avLst/>
          </a:prstGeom>
          <a:solidFill>
            <a:srgbClr val="3D89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BA8BBA-D260-08E7-45A5-6014E1C15B54}"/>
              </a:ext>
            </a:extLst>
          </p:cNvPr>
          <p:cNvSpPr txBox="1"/>
          <p:nvPr/>
        </p:nvSpPr>
        <p:spPr>
          <a:xfrm>
            <a:off x="6426200" y="52324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Arial" panose="020B0604020202020204" pitchFamily="34" charset="0"/>
              </a:rPr>
              <a:t>OK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DBBA75-F41B-657D-394E-2267FDAA7D32}"/>
              </a:ext>
            </a:extLst>
          </p:cNvPr>
          <p:cNvSpPr txBox="1"/>
          <p:nvPr/>
        </p:nvSpPr>
        <p:spPr>
          <a:xfrm>
            <a:off x="6807200" y="5156200"/>
            <a:ext cx="422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Tested on copies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92A895-2CD7-D19B-4543-7E610981DE7A}"/>
              </a:ext>
            </a:extLst>
          </p:cNvPr>
          <p:cNvSpPr txBox="1"/>
          <p:nvPr/>
        </p:nvSpPr>
        <p:spPr>
          <a:xfrm>
            <a:off x="6400800" y="5549900"/>
            <a:ext cx="463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DDBEF"/>
                </a:solidFill>
                <a:latin typeface="Aptos" panose="020B0004020202020204" pitchFamily="34" charset="0"/>
              </a:rPr>
              <a:t>Primary-v1 and supplemental-v1 stayed unchanged.</a:t>
            </a:r>
          </a:p>
        </p:txBody>
      </p:sp>
    </p:spTree>
    <p:extLst>
      <p:ext uri="{BB962C8B-B14F-4D97-AF65-F5344CB8AC3E}">
        <p14:creationId xmlns:p14="http://schemas.microsoft.com/office/powerpoint/2010/main" val="47714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82D7DB-3281-23F1-6293-BA9614F01428}"/>
              </a:ext>
            </a:extLst>
          </p:cNvPr>
          <p:cNvSpPr txBox="1"/>
          <p:nvPr/>
        </p:nvSpPr>
        <p:spPr>
          <a:xfrm>
            <a:off x="609600" y="304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3. TEST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9FF1D-FB41-D988-2E4C-A0B28A48A600}"/>
              </a:ext>
            </a:extLst>
          </p:cNvPr>
          <p:cNvSpPr txBox="1"/>
          <p:nvPr/>
        </p:nvSpPr>
        <p:spPr>
          <a:xfrm>
            <a:off x="609600" y="609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102646"/>
                </a:solidFill>
                <a:latin typeface="Aptos" panose="020B0004020202020204" pitchFamily="34" charset="0"/>
              </a:rPr>
              <a:t>All five saved fixes still exposed the test file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E4669E-CD48-0E7F-1809-48455B244B5A}"/>
              </a:ext>
            </a:extLst>
          </p:cNvPr>
          <p:cNvCxnSpPr/>
          <p:nvPr/>
        </p:nvCxnSpPr>
        <p:spPr>
          <a:xfrm>
            <a:off x="609600" y="1333500"/>
            <a:ext cx="10972800" cy="0"/>
          </a:xfrm>
          <a:prstGeom prst="line">
            <a:avLst/>
          </a:prstGeom>
          <a:ln w="12700">
            <a:solidFill>
              <a:srgbClr val="BEC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E9758D-9C91-A66D-0CE7-27B6662DEC01}"/>
              </a:ext>
            </a:extLst>
          </p:cNvPr>
          <p:cNvSpPr txBox="1"/>
          <p:nvPr/>
        </p:nvSpPr>
        <p:spPr>
          <a:xfrm>
            <a:off x="609600" y="647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CS6727 | FixProof Video IV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F0EB6-7C93-E8D7-6C77-C7E17B80A7C1}"/>
              </a:ext>
            </a:extLst>
          </p:cNvPr>
          <p:cNvSpPr txBox="1"/>
          <p:nvPr/>
        </p:nvSpPr>
        <p:spPr>
          <a:xfrm>
            <a:off x="112395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87707E-085B-38FD-5DE8-1A35B167B00D}"/>
              </a:ext>
            </a:extLst>
          </p:cNvPr>
          <p:cNvSpPr/>
          <p:nvPr/>
        </p:nvSpPr>
        <p:spPr>
          <a:xfrm>
            <a:off x="609600" y="1676400"/>
            <a:ext cx="2946400" cy="4191000"/>
          </a:xfrm>
          <a:prstGeom prst="roundRect">
            <a:avLst/>
          </a:prstGeom>
          <a:solidFill>
            <a:srgbClr val="102646"/>
          </a:solidFill>
          <a:ln w="15240">
            <a:solidFill>
              <a:srgbClr val="102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8BBB4-BF24-F068-07EA-3D52F92445D3}"/>
              </a:ext>
            </a:extLst>
          </p:cNvPr>
          <p:cNvSpPr txBox="1"/>
          <p:nvPr/>
        </p:nvSpPr>
        <p:spPr>
          <a:xfrm>
            <a:off x="838200" y="21590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5000" b="1">
                <a:solidFill>
                  <a:srgbClr val="FFFFFF"/>
                </a:solidFill>
                <a:latin typeface="Aptos Display" panose="020B0004020202020204" pitchFamily="34" charset="0"/>
              </a:rPr>
              <a:t>0 /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8B5EED-3469-EA08-42C8-F35AF23632E5}"/>
              </a:ext>
            </a:extLst>
          </p:cNvPr>
          <p:cNvSpPr txBox="1"/>
          <p:nvPr/>
        </p:nvSpPr>
        <p:spPr>
          <a:xfrm>
            <a:off x="838200" y="31369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CADAEF"/>
                </a:solidFill>
                <a:latin typeface="Aptos" panose="020B0004020202020204" pitchFamily="34" charset="0"/>
              </a:rPr>
              <a:t>fixes passed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03FF37-61A5-EE80-F0A7-CB2B88A2F8BA}"/>
              </a:ext>
            </a:extLst>
          </p:cNvPr>
          <p:cNvCxnSpPr/>
          <p:nvPr/>
        </p:nvCxnSpPr>
        <p:spPr>
          <a:xfrm>
            <a:off x="990600" y="3810000"/>
            <a:ext cx="2184400" cy="0"/>
          </a:xfrm>
          <a:prstGeom prst="line">
            <a:avLst/>
          </a:prstGeom>
          <a:ln w="12700">
            <a:solidFill>
              <a:srgbClr val="5F7F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F6C1CBB-A032-7E15-CF8A-90F665204BFF}"/>
              </a:ext>
            </a:extLst>
          </p:cNvPr>
          <p:cNvSpPr txBox="1"/>
          <p:nvPr/>
        </p:nvSpPr>
        <p:spPr>
          <a:xfrm>
            <a:off x="914400" y="4140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All five returned HTTP 200 and showed the outside test marker.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F37797-A90B-73F1-31F2-D0A49BAFDB22}"/>
              </a:ext>
            </a:extLst>
          </p:cNvPr>
          <p:cNvSpPr txBox="1"/>
          <p:nvPr/>
        </p:nvSpPr>
        <p:spPr>
          <a:xfrm>
            <a:off x="914400" y="5410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>
                <a:solidFill>
                  <a:srgbClr val="AEC6E4"/>
                </a:solidFill>
                <a:latin typeface="Aptos" panose="020B0004020202020204" pitchFamily="34" charset="0"/>
              </a:rPr>
              <a:t>The baseline check is separate from the five fixes.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A190F-A127-D760-3B21-42711E3DCF59}"/>
              </a:ext>
            </a:extLst>
          </p:cNvPr>
          <p:cNvSpPr/>
          <p:nvPr/>
        </p:nvSpPr>
        <p:spPr>
          <a:xfrm>
            <a:off x="3937000" y="1676400"/>
            <a:ext cx="2413000" cy="482600"/>
          </a:xfrm>
          <a:prstGeom prst="rect">
            <a:avLst/>
          </a:prstGeom>
          <a:solidFill>
            <a:srgbClr val="2A4974"/>
          </a:solidFill>
          <a:ln w="15240">
            <a:solidFill>
              <a:srgbClr val="2A4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106CF-E381-5D9A-2E33-E820275BECC0}"/>
              </a:ext>
            </a:extLst>
          </p:cNvPr>
          <p:cNvSpPr txBox="1"/>
          <p:nvPr/>
        </p:nvSpPr>
        <p:spPr>
          <a:xfrm>
            <a:off x="4038600" y="18034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Target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9F189-EB8E-8999-BC90-AA9D8275CD6D}"/>
              </a:ext>
            </a:extLst>
          </p:cNvPr>
          <p:cNvSpPr/>
          <p:nvPr/>
        </p:nvSpPr>
        <p:spPr>
          <a:xfrm>
            <a:off x="6350000" y="1676400"/>
            <a:ext cx="1333500" cy="482600"/>
          </a:xfrm>
          <a:prstGeom prst="rect">
            <a:avLst/>
          </a:prstGeom>
          <a:solidFill>
            <a:srgbClr val="2A4974"/>
          </a:solidFill>
          <a:ln w="15240">
            <a:solidFill>
              <a:srgbClr val="2A4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1A057-958A-F41F-689B-1665EA6E54DE}"/>
              </a:ext>
            </a:extLst>
          </p:cNvPr>
          <p:cNvSpPr txBox="1"/>
          <p:nvPr/>
        </p:nvSpPr>
        <p:spPr>
          <a:xfrm>
            <a:off x="6451600" y="18034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HTTP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6263F4-D6D6-3928-5268-72573BC69929}"/>
              </a:ext>
            </a:extLst>
          </p:cNvPr>
          <p:cNvSpPr/>
          <p:nvPr/>
        </p:nvSpPr>
        <p:spPr>
          <a:xfrm>
            <a:off x="7683500" y="1676400"/>
            <a:ext cx="1714500" cy="482600"/>
          </a:xfrm>
          <a:prstGeom prst="rect">
            <a:avLst/>
          </a:prstGeom>
          <a:solidFill>
            <a:srgbClr val="2A4974"/>
          </a:solidFill>
          <a:ln w="15240">
            <a:solidFill>
              <a:srgbClr val="2A4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E4D1E3-9715-8E80-0583-FE531DA31634}"/>
              </a:ext>
            </a:extLst>
          </p:cNvPr>
          <p:cNvSpPr txBox="1"/>
          <p:nvPr/>
        </p:nvSpPr>
        <p:spPr>
          <a:xfrm>
            <a:off x="7785100" y="1803400"/>
            <a:ext cx="151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Test marker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50448-6C87-2DF3-C146-1E548CCC9D99}"/>
              </a:ext>
            </a:extLst>
          </p:cNvPr>
          <p:cNvSpPr/>
          <p:nvPr/>
        </p:nvSpPr>
        <p:spPr>
          <a:xfrm>
            <a:off x="9398000" y="1676400"/>
            <a:ext cx="1651000" cy="482600"/>
          </a:xfrm>
          <a:prstGeom prst="rect">
            <a:avLst/>
          </a:prstGeom>
          <a:solidFill>
            <a:srgbClr val="2A4974"/>
          </a:solidFill>
          <a:ln w="15240">
            <a:solidFill>
              <a:srgbClr val="2A4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E1FCCB-2B3A-9A0D-62D4-8020B444F5AB}"/>
              </a:ext>
            </a:extLst>
          </p:cNvPr>
          <p:cNvSpPr txBox="1"/>
          <p:nvPr/>
        </p:nvSpPr>
        <p:spPr>
          <a:xfrm>
            <a:off x="9499600" y="18034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Outcome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488FCC-D157-1D66-6A66-B925B0591514}"/>
              </a:ext>
            </a:extLst>
          </p:cNvPr>
          <p:cNvSpPr/>
          <p:nvPr/>
        </p:nvSpPr>
        <p:spPr>
          <a:xfrm>
            <a:off x="3937000" y="2159000"/>
            <a:ext cx="2413000" cy="609600"/>
          </a:xfrm>
          <a:prstGeom prst="rect">
            <a:avLst/>
          </a:prstGeom>
          <a:solidFill>
            <a:srgbClr val="FFF4E0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EE0D34-AAA7-35B9-338F-8DFF6E86E8A1}"/>
              </a:ext>
            </a:extLst>
          </p:cNvPr>
          <p:cNvSpPr txBox="1"/>
          <p:nvPr/>
        </p:nvSpPr>
        <p:spPr>
          <a:xfrm>
            <a:off x="4038600" y="2336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92D4B"/>
                </a:solidFill>
                <a:latin typeface="Aptos" panose="020B0004020202020204" pitchFamily="34" charset="0"/>
              </a:rPr>
              <a:t>Vulnerable baseline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29AB8B-4AFD-E659-06CE-283D2C1BE050}"/>
              </a:ext>
            </a:extLst>
          </p:cNvPr>
          <p:cNvSpPr/>
          <p:nvPr/>
        </p:nvSpPr>
        <p:spPr>
          <a:xfrm>
            <a:off x="6350000" y="2159000"/>
            <a:ext cx="1333500" cy="609600"/>
          </a:xfrm>
          <a:prstGeom prst="rect">
            <a:avLst/>
          </a:prstGeom>
          <a:solidFill>
            <a:srgbClr val="FFF4E0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5383A5-ECA4-1348-D3AE-9F24E40F8FB5}"/>
              </a:ext>
            </a:extLst>
          </p:cNvPr>
          <p:cNvSpPr txBox="1"/>
          <p:nvPr/>
        </p:nvSpPr>
        <p:spPr>
          <a:xfrm>
            <a:off x="6451600" y="23368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8A7BEE-05FC-8888-1D4F-27AD16C4EABE}"/>
              </a:ext>
            </a:extLst>
          </p:cNvPr>
          <p:cNvSpPr/>
          <p:nvPr/>
        </p:nvSpPr>
        <p:spPr>
          <a:xfrm>
            <a:off x="7683500" y="2159000"/>
            <a:ext cx="1714500" cy="609600"/>
          </a:xfrm>
          <a:prstGeom prst="rect">
            <a:avLst/>
          </a:prstGeom>
          <a:solidFill>
            <a:srgbClr val="FFF4E0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D2392B-5080-A138-340E-8597F6F8626E}"/>
              </a:ext>
            </a:extLst>
          </p:cNvPr>
          <p:cNvSpPr txBox="1"/>
          <p:nvPr/>
        </p:nvSpPr>
        <p:spPr>
          <a:xfrm>
            <a:off x="7785100" y="2336800"/>
            <a:ext cx="151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Shown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58AF24-4E30-D4E5-46E4-CFC2E54C64D8}"/>
              </a:ext>
            </a:extLst>
          </p:cNvPr>
          <p:cNvSpPr/>
          <p:nvPr/>
        </p:nvSpPr>
        <p:spPr>
          <a:xfrm>
            <a:off x="9398000" y="2159000"/>
            <a:ext cx="1651000" cy="609600"/>
          </a:xfrm>
          <a:prstGeom prst="rect">
            <a:avLst/>
          </a:prstGeom>
          <a:solidFill>
            <a:srgbClr val="FFF4E0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5F3D7-AD5E-EF0E-35A6-F02E046F1BCA}"/>
              </a:ext>
            </a:extLst>
          </p:cNvPr>
          <p:cNvSpPr txBox="1"/>
          <p:nvPr/>
        </p:nvSpPr>
        <p:spPr>
          <a:xfrm>
            <a:off x="9499600" y="23368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E09630"/>
                </a:solidFill>
                <a:latin typeface="Aptos" panose="020B0004020202020204" pitchFamily="34" charset="0"/>
              </a:rPr>
              <a:t>Check passed</a:t>
            </a:r>
            <a:endParaRPr lang="en-US" sz="1300" b="1" dirty="0">
              <a:solidFill>
                <a:srgbClr val="E09630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E4C962-C7C4-3F06-7506-84450F982A4F}"/>
              </a:ext>
            </a:extLst>
          </p:cNvPr>
          <p:cNvSpPr/>
          <p:nvPr/>
        </p:nvSpPr>
        <p:spPr>
          <a:xfrm>
            <a:off x="3937000" y="2768600"/>
            <a:ext cx="2413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DB381B-8F85-AB6D-E712-B7736F98D2E9}"/>
              </a:ext>
            </a:extLst>
          </p:cNvPr>
          <p:cNvSpPr txBox="1"/>
          <p:nvPr/>
        </p:nvSpPr>
        <p:spPr>
          <a:xfrm>
            <a:off x="4038600" y="29464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92D4B"/>
                </a:solidFill>
                <a:latin typeface="Aptos" panose="020B0004020202020204" pitchFamily="34" charset="0"/>
              </a:rPr>
              <a:t>Traversal 01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B8A8A5-8C76-7722-917E-26A56B5B29BF}"/>
              </a:ext>
            </a:extLst>
          </p:cNvPr>
          <p:cNvSpPr/>
          <p:nvPr/>
        </p:nvSpPr>
        <p:spPr>
          <a:xfrm>
            <a:off x="6350000" y="2768600"/>
            <a:ext cx="13335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60E7C1-23E0-5E5C-EAF9-FF5D7FAA2151}"/>
              </a:ext>
            </a:extLst>
          </p:cNvPr>
          <p:cNvSpPr txBox="1"/>
          <p:nvPr/>
        </p:nvSpPr>
        <p:spPr>
          <a:xfrm>
            <a:off x="6451600" y="29464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CE749D-63AB-9242-D123-CC545EB60C97}"/>
              </a:ext>
            </a:extLst>
          </p:cNvPr>
          <p:cNvSpPr/>
          <p:nvPr/>
        </p:nvSpPr>
        <p:spPr>
          <a:xfrm>
            <a:off x="7683500" y="2768600"/>
            <a:ext cx="17145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08216D-4C1B-238F-F6F9-357947374D90}"/>
              </a:ext>
            </a:extLst>
          </p:cNvPr>
          <p:cNvSpPr txBox="1"/>
          <p:nvPr/>
        </p:nvSpPr>
        <p:spPr>
          <a:xfrm>
            <a:off x="7785100" y="2946400"/>
            <a:ext cx="151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Shown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BC6B4D-E507-39A8-1D4D-408C32B892B6}"/>
              </a:ext>
            </a:extLst>
          </p:cNvPr>
          <p:cNvSpPr/>
          <p:nvPr/>
        </p:nvSpPr>
        <p:spPr>
          <a:xfrm>
            <a:off x="9398000" y="2768600"/>
            <a:ext cx="1651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285076-0228-DE73-AE10-A3AC523258BB}"/>
              </a:ext>
            </a:extLst>
          </p:cNvPr>
          <p:cNvSpPr txBox="1"/>
          <p:nvPr/>
        </p:nvSpPr>
        <p:spPr>
          <a:xfrm>
            <a:off x="9499600" y="29464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B03E3E"/>
                </a:solidFill>
                <a:latin typeface="Aptos" panose="020B0004020202020204" pitchFamily="34" charset="0"/>
              </a:rPr>
              <a:t>FAIL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7CB65D-033A-6D04-00A4-C32AE8791E9A}"/>
              </a:ext>
            </a:extLst>
          </p:cNvPr>
          <p:cNvSpPr/>
          <p:nvPr/>
        </p:nvSpPr>
        <p:spPr>
          <a:xfrm>
            <a:off x="3937000" y="3378200"/>
            <a:ext cx="24130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A6EF61-2953-3FF7-6DA9-CC0D190C71C7}"/>
              </a:ext>
            </a:extLst>
          </p:cNvPr>
          <p:cNvSpPr txBox="1"/>
          <p:nvPr/>
        </p:nvSpPr>
        <p:spPr>
          <a:xfrm>
            <a:off x="4038600" y="35560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92D4B"/>
                </a:solidFill>
                <a:latin typeface="Aptos" panose="020B0004020202020204" pitchFamily="34" charset="0"/>
              </a:rPr>
              <a:t>Traversal 02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4E97B7-D51C-3C3D-67B5-0E84F27B5E8A}"/>
              </a:ext>
            </a:extLst>
          </p:cNvPr>
          <p:cNvSpPr/>
          <p:nvPr/>
        </p:nvSpPr>
        <p:spPr>
          <a:xfrm>
            <a:off x="6350000" y="3378200"/>
            <a:ext cx="13335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E104DB-382F-8D07-3776-0C9D3542EBB6}"/>
              </a:ext>
            </a:extLst>
          </p:cNvPr>
          <p:cNvSpPr txBox="1"/>
          <p:nvPr/>
        </p:nvSpPr>
        <p:spPr>
          <a:xfrm>
            <a:off x="6451600" y="35560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152A6D-FFC2-63A0-54B4-477CBC8E4C02}"/>
              </a:ext>
            </a:extLst>
          </p:cNvPr>
          <p:cNvSpPr/>
          <p:nvPr/>
        </p:nvSpPr>
        <p:spPr>
          <a:xfrm>
            <a:off x="7683500" y="3378200"/>
            <a:ext cx="17145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6CC1A0-59CC-8BCC-30E0-9F0B5D864A51}"/>
              </a:ext>
            </a:extLst>
          </p:cNvPr>
          <p:cNvSpPr txBox="1"/>
          <p:nvPr/>
        </p:nvSpPr>
        <p:spPr>
          <a:xfrm>
            <a:off x="7785100" y="3556000"/>
            <a:ext cx="151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Shown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D6EB6E-03E3-2081-0870-2F91DD0E8A21}"/>
              </a:ext>
            </a:extLst>
          </p:cNvPr>
          <p:cNvSpPr/>
          <p:nvPr/>
        </p:nvSpPr>
        <p:spPr>
          <a:xfrm>
            <a:off x="9398000" y="3378200"/>
            <a:ext cx="16510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CB356F-90A1-6145-8FCF-87493FDE5065}"/>
              </a:ext>
            </a:extLst>
          </p:cNvPr>
          <p:cNvSpPr txBox="1"/>
          <p:nvPr/>
        </p:nvSpPr>
        <p:spPr>
          <a:xfrm>
            <a:off x="9499600" y="35560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B03E3E"/>
                </a:solidFill>
                <a:latin typeface="Aptos" panose="020B0004020202020204" pitchFamily="34" charset="0"/>
              </a:rPr>
              <a:t>FAIL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98B830-58DB-12C5-3414-E2626324B485}"/>
              </a:ext>
            </a:extLst>
          </p:cNvPr>
          <p:cNvSpPr/>
          <p:nvPr/>
        </p:nvSpPr>
        <p:spPr>
          <a:xfrm>
            <a:off x="3937000" y="3987800"/>
            <a:ext cx="2413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B5481C-C3CC-9370-7F40-1FEC018ECB9D}"/>
              </a:ext>
            </a:extLst>
          </p:cNvPr>
          <p:cNvSpPr txBox="1"/>
          <p:nvPr/>
        </p:nvSpPr>
        <p:spPr>
          <a:xfrm>
            <a:off x="4038600" y="41656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92D4B"/>
                </a:solidFill>
                <a:latin typeface="Aptos" panose="020B0004020202020204" pitchFamily="34" charset="0"/>
              </a:rPr>
              <a:t>Traversal 03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274FB0-9845-6082-A25A-B1D1779DD1E9}"/>
              </a:ext>
            </a:extLst>
          </p:cNvPr>
          <p:cNvSpPr/>
          <p:nvPr/>
        </p:nvSpPr>
        <p:spPr>
          <a:xfrm>
            <a:off x="6350000" y="3987800"/>
            <a:ext cx="13335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0AB96A-3E7F-0031-CD2F-971D788F31F1}"/>
              </a:ext>
            </a:extLst>
          </p:cNvPr>
          <p:cNvSpPr txBox="1"/>
          <p:nvPr/>
        </p:nvSpPr>
        <p:spPr>
          <a:xfrm>
            <a:off x="6451600" y="41656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862ADF3-0E63-F5D0-C589-6E3658CF5444}"/>
              </a:ext>
            </a:extLst>
          </p:cNvPr>
          <p:cNvSpPr/>
          <p:nvPr/>
        </p:nvSpPr>
        <p:spPr>
          <a:xfrm>
            <a:off x="7683500" y="3987800"/>
            <a:ext cx="17145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642156-4459-C9BF-0B1F-C76BB949F372}"/>
              </a:ext>
            </a:extLst>
          </p:cNvPr>
          <p:cNvSpPr txBox="1"/>
          <p:nvPr/>
        </p:nvSpPr>
        <p:spPr>
          <a:xfrm>
            <a:off x="7785100" y="4165600"/>
            <a:ext cx="151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Shown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FE216C-F3C5-B29A-DA67-6EBE394CC385}"/>
              </a:ext>
            </a:extLst>
          </p:cNvPr>
          <p:cNvSpPr/>
          <p:nvPr/>
        </p:nvSpPr>
        <p:spPr>
          <a:xfrm>
            <a:off x="9398000" y="3987800"/>
            <a:ext cx="1651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6881D7-C9EF-48EB-65D1-6C817D150877}"/>
              </a:ext>
            </a:extLst>
          </p:cNvPr>
          <p:cNvSpPr txBox="1"/>
          <p:nvPr/>
        </p:nvSpPr>
        <p:spPr>
          <a:xfrm>
            <a:off x="9499600" y="4165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B03E3E"/>
                </a:solidFill>
                <a:latin typeface="Aptos" panose="020B0004020202020204" pitchFamily="34" charset="0"/>
              </a:rPr>
              <a:t>FAIL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DB66804-976E-E4F0-F23B-6C06FA298D29}"/>
              </a:ext>
            </a:extLst>
          </p:cNvPr>
          <p:cNvSpPr/>
          <p:nvPr/>
        </p:nvSpPr>
        <p:spPr>
          <a:xfrm>
            <a:off x="3937000" y="4597400"/>
            <a:ext cx="24130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F5A192-3E57-B033-0D41-3892866DE9CA}"/>
              </a:ext>
            </a:extLst>
          </p:cNvPr>
          <p:cNvSpPr txBox="1"/>
          <p:nvPr/>
        </p:nvSpPr>
        <p:spPr>
          <a:xfrm>
            <a:off x="4038600" y="47752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92D4B"/>
                </a:solidFill>
                <a:latin typeface="Aptos" panose="020B0004020202020204" pitchFamily="34" charset="0"/>
              </a:rPr>
              <a:t>Traversal 04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DF5FB6-6516-9CD8-F2C0-76588F024E5B}"/>
              </a:ext>
            </a:extLst>
          </p:cNvPr>
          <p:cNvSpPr/>
          <p:nvPr/>
        </p:nvSpPr>
        <p:spPr>
          <a:xfrm>
            <a:off x="6350000" y="4597400"/>
            <a:ext cx="13335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68C60E-0C2F-74B0-DCFC-E2837A91A6E0}"/>
              </a:ext>
            </a:extLst>
          </p:cNvPr>
          <p:cNvSpPr txBox="1"/>
          <p:nvPr/>
        </p:nvSpPr>
        <p:spPr>
          <a:xfrm>
            <a:off x="6451600" y="47752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867CAE-0904-6A0E-7707-F7867E6DB250}"/>
              </a:ext>
            </a:extLst>
          </p:cNvPr>
          <p:cNvSpPr/>
          <p:nvPr/>
        </p:nvSpPr>
        <p:spPr>
          <a:xfrm>
            <a:off x="7683500" y="4597400"/>
            <a:ext cx="17145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1E472F-E997-3DFE-81B1-C53DB3C4087D}"/>
              </a:ext>
            </a:extLst>
          </p:cNvPr>
          <p:cNvSpPr txBox="1"/>
          <p:nvPr/>
        </p:nvSpPr>
        <p:spPr>
          <a:xfrm>
            <a:off x="7785100" y="4775200"/>
            <a:ext cx="151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Shown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83BC54-5A60-E1C4-037F-B32C64F5B914}"/>
              </a:ext>
            </a:extLst>
          </p:cNvPr>
          <p:cNvSpPr/>
          <p:nvPr/>
        </p:nvSpPr>
        <p:spPr>
          <a:xfrm>
            <a:off x="9398000" y="4597400"/>
            <a:ext cx="1651000" cy="609600"/>
          </a:xfrm>
          <a:prstGeom prst="rect">
            <a:avLst/>
          </a:prstGeom>
          <a:solidFill>
            <a:srgbClr val="F7F9FC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A59803-1996-55D7-77AD-1DE6B15B9F47}"/>
              </a:ext>
            </a:extLst>
          </p:cNvPr>
          <p:cNvSpPr txBox="1"/>
          <p:nvPr/>
        </p:nvSpPr>
        <p:spPr>
          <a:xfrm>
            <a:off x="9499600" y="47752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B03E3E"/>
                </a:solidFill>
                <a:latin typeface="Aptos" panose="020B0004020202020204" pitchFamily="34" charset="0"/>
              </a:rPr>
              <a:t>FAIL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61ED1EE-3A8C-857D-5539-C9EE85B20A6E}"/>
              </a:ext>
            </a:extLst>
          </p:cNvPr>
          <p:cNvSpPr/>
          <p:nvPr/>
        </p:nvSpPr>
        <p:spPr>
          <a:xfrm>
            <a:off x="3937000" y="5207000"/>
            <a:ext cx="2413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08A41C-AFCB-904F-ED9C-BB6A4B17A835}"/>
              </a:ext>
            </a:extLst>
          </p:cNvPr>
          <p:cNvSpPr txBox="1"/>
          <p:nvPr/>
        </p:nvSpPr>
        <p:spPr>
          <a:xfrm>
            <a:off x="4038600" y="5384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192D4B"/>
                </a:solidFill>
                <a:latin typeface="Aptos" panose="020B0004020202020204" pitchFamily="34" charset="0"/>
              </a:rPr>
              <a:t>Traversal 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042007-46AA-D428-93C4-C9C6A878FF83}"/>
              </a:ext>
            </a:extLst>
          </p:cNvPr>
          <p:cNvSpPr/>
          <p:nvPr/>
        </p:nvSpPr>
        <p:spPr>
          <a:xfrm>
            <a:off x="6350000" y="5207000"/>
            <a:ext cx="13335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9D012B-3F69-B361-D7ED-28AED45463F2}"/>
              </a:ext>
            </a:extLst>
          </p:cNvPr>
          <p:cNvSpPr txBox="1"/>
          <p:nvPr/>
        </p:nvSpPr>
        <p:spPr>
          <a:xfrm>
            <a:off x="6451600" y="53848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D42DE1-CBCD-985D-334A-EB1B018840E0}"/>
              </a:ext>
            </a:extLst>
          </p:cNvPr>
          <p:cNvSpPr/>
          <p:nvPr/>
        </p:nvSpPr>
        <p:spPr>
          <a:xfrm>
            <a:off x="7683500" y="5207000"/>
            <a:ext cx="17145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883DF7-CED4-2C82-F8C0-06DD8E92B908}"/>
              </a:ext>
            </a:extLst>
          </p:cNvPr>
          <p:cNvSpPr txBox="1"/>
          <p:nvPr/>
        </p:nvSpPr>
        <p:spPr>
          <a:xfrm>
            <a:off x="7785100" y="5384800"/>
            <a:ext cx="151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192D4B"/>
                </a:solidFill>
                <a:latin typeface="Aptos" panose="020B0004020202020204" pitchFamily="34" charset="0"/>
              </a:rPr>
              <a:t>Shown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85B057F-47DE-B270-E61E-07948652DE4F}"/>
              </a:ext>
            </a:extLst>
          </p:cNvPr>
          <p:cNvSpPr/>
          <p:nvPr/>
        </p:nvSpPr>
        <p:spPr>
          <a:xfrm>
            <a:off x="9398000" y="5207000"/>
            <a:ext cx="1651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024420-CB3F-186F-E7B4-996855360BE8}"/>
              </a:ext>
            </a:extLst>
          </p:cNvPr>
          <p:cNvSpPr txBox="1"/>
          <p:nvPr/>
        </p:nvSpPr>
        <p:spPr>
          <a:xfrm>
            <a:off x="9499600" y="53848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B03E3E"/>
                </a:solidFill>
                <a:latin typeface="Aptos" panose="020B0004020202020204" pitchFamily="34" charset="0"/>
              </a:rPr>
              <a:t>FAIL</a:t>
            </a:r>
          </a:p>
        </p:txBody>
      </p:sp>
    </p:spTree>
    <p:extLst>
      <p:ext uri="{BB962C8B-B14F-4D97-AF65-F5344CB8AC3E}">
        <p14:creationId xmlns:p14="http://schemas.microsoft.com/office/powerpoint/2010/main" val="109856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DD6D07-29D3-F396-6C81-3314978B977E}"/>
              </a:ext>
            </a:extLst>
          </p:cNvPr>
          <p:cNvSpPr txBox="1"/>
          <p:nvPr/>
        </p:nvSpPr>
        <p:spPr>
          <a:xfrm>
            <a:off x="609600" y="304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4. ONE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60981-29FD-67F2-9F62-709575404910}"/>
              </a:ext>
            </a:extLst>
          </p:cNvPr>
          <p:cNvSpPr txBox="1"/>
          <p:nvPr/>
        </p:nvSpPr>
        <p:spPr>
          <a:xfrm>
            <a:off x="609600" y="609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102646"/>
                </a:solidFill>
                <a:latin typeface="Aptos" panose="020B0004020202020204" pitchFamily="34" charset="0"/>
              </a:rPr>
              <a:t>Traversal 02 shows exactly where the fix failed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D56292-3DA6-8FFD-1F04-496B5A5DA0B6}"/>
              </a:ext>
            </a:extLst>
          </p:cNvPr>
          <p:cNvCxnSpPr/>
          <p:nvPr/>
        </p:nvCxnSpPr>
        <p:spPr>
          <a:xfrm>
            <a:off x="609600" y="1333500"/>
            <a:ext cx="10972800" cy="0"/>
          </a:xfrm>
          <a:prstGeom prst="line">
            <a:avLst/>
          </a:prstGeom>
          <a:ln w="12700">
            <a:solidFill>
              <a:srgbClr val="BEC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F41C6A-BED2-D8AC-0E68-11098D3CBD82}"/>
              </a:ext>
            </a:extLst>
          </p:cNvPr>
          <p:cNvSpPr txBox="1"/>
          <p:nvPr/>
        </p:nvSpPr>
        <p:spPr>
          <a:xfrm>
            <a:off x="609600" y="647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CS6727 | FixProof Video IV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4E83E-2ECC-1A6E-84F2-A0E7E8568250}"/>
              </a:ext>
            </a:extLst>
          </p:cNvPr>
          <p:cNvSpPr txBox="1"/>
          <p:nvPr/>
        </p:nvSpPr>
        <p:spPr>
          <a:xfrm>
            <a:off x="112395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04DEAE-5035-B072-3AA8-E41425FF5156}"/>
              </a:ext>
            </a:extLst>
          </p:cNvPr>
          <p:cNvSpPr/>
          <p:nvPr/>
        </p:nvSpPr>
        <p:spPr>
          <a:xfrm>
            <a:off x="609600" y="1676400"/>
            <a:ext cx="3505200" cy="2032000"/>
          </a:xfrm>
          <a:prstGeom prst="roundRect">
            <a:avLst/>
          </a:prstGeom>
          <a:solidFill>
            <a:srgbClr val="E6F5F0"/>
          </a:solidFill>
          <a:ln w="15240">
            <a:solidFill>
              <a:srgbClr val="3D8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C2EE9-D2A4-FE21-D2A4-55F4D461C0F3}"/>
              </a:ext>
            </a:extLst>
          </p:cNvPr>
          <p:cNvSpPr txBox="1"/>
          <p:nvPr/>
        </p:nvSpPr>
        <p:spPr>
          <a:xfrm>
            <a:off x="838200" y="18923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3D8974"/>
                </a:solidFill>
                <a:latin typeface="Aptos" panose="020B0004020202020204" pitchFamily="34" charset="0"/>
              </a:rPr>
              <a:t>NORMAL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C4BA6-FA00-04FE-F845-A82DAEF5EC36}"/>
              </a:ext>
            </a:extLst>
          </p:cNvPr>
          <p:cNvSpPr txBox="1"/>
          <p:nvPr/>
        </p:nvSpPr>
        <p:spPr>
          <a:xfrm>
            <a:off x="838200" y="2286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92D4B"/>
                </a:solidFill>
                <a:latin typeface="Consolas" panose="020B0609020204030204" pitchFamily="49" charset="0"/>
              </a:rPr>
              <a:t>welcome.txt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804A0-A6B8-74E4-4C61-CDC3316AFD37}"/>
              </a:ext>
            </a:extLst>
          </p:cNvPr>
          <p:cNvSpPr txBox="1"/>
          <p:nvPr/>
        </p:nvSpPr>
        <p:spPr>
          <a:xfrm>
            <a:off x="838200" y="2882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02646"/>
                </a:solidFill>
                <a:latin typeface="Aptos" panose="020B0004020202020204" pitchFamily="34" charset="0"/>
              </a:rPr>
              <a:t>HTTP 200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516CE0-2796-E0F6-EF28-2F755F1AA4FB}"/>
              </a:ext>
            </a:extLst>
          </p:cNvPr>
          <p:cNvSpPr/>
          <p:nvPr/>
        </p:nvSpPr>
        <p:spPr>
          <a:xfrm>
            <a:off x="2667000" y="2819400"/>
            <a:ext cx="1168400" cy="381000"/>
          </a:xfrm>
          <a:prstGeom prst="roundRect">
            <a:avLst/>
          </a:prstGeom>
          <a:solidFill>
            <a:srgbClr val="3D8974"/>
          </a:solidFill>
          <a:ln w="15240">
            <a:solidFill>
              <a:srgbClr val="3D8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A007A-EFB5-546F-80DB-443899E98AF2}"/>
              </a:ext>
            </a:extLst>
          </p:cNvPr>
          <p:cNvSpPr txBox="1"/>
          <p:nvPr/>
        </p:nvSpPr>
        <p:spPr>
          <a:xfrm>
            <a:off x="2667000" y="2870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23DAD3-269F-A57B-FBBD-E1E1D7896D6A}"/>
              </a:ext>
            </a:extLst>
          </p:cNvPr>
          <p:cNvSpPr txBox="1"/>
          <p:nvPr/>
        </p:nvSpPr>
        <p:spPr>
          <a:xfrm>
            <a:off x="838200" y="3352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Expected file shown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E188BC-A9BC-B44C-FBED-7422F732F30B}"/>
              </a:ext>
            </a:extLst>
          </p:cNvPr>
          <p:cNvSpPr/>
          <p:nvPr/>
        </p:nvSpPr>
        <p:spPr>
          <a:xfrm>
            <a:off x="4343400" y="1676400"/>
            <a:ext cx="3505200" cy="2032000"/>
          </a:xfrm>
          <a:prstGeom prst="roundRect">
            <a:avLst/>
          </a:prstGeom>
          <a:solidFill>
            <a:srgbClr val="E6F5F0"/>
          </a:solidFill>
          <a:ln w="15240">
            <a:solidFill>
              <a:srgbClr val="3D8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CB68CF-CF78-316C-8E73-E17316F86789}"/>
              </a:ext>
            </a:extLst>
          </p:cNvPr>
          <p:cNvSpPr txBox="1"/>
          <p:nvPr/>
        </p:nvSpPr>
        <p:spPr>
          <a:xfrm>
            <a:off x="4572000" y="18923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3D8974"/>
                </a:solidFill>
                <a:latin typeface="Aptos" panose="020B0004020202020204" pitchFamily="34" charset="0"/>
              </a:rPr>
              <a:t>DIRECT TRAVERSAL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40467-90F7-AA1D-5248-9EF3D80940D8}"/>
              </a:ext>
            </a:extLst>
          </p:cNvPr>
          <p:cNvSpPr txBox="1"/>
          <p:nvPr/>
        </p:nvSpPr>
        <p:spPr>
          <a:xfrm>
            <a:off x="4572000" y="2286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92D4B"/>
                </a:solidFill>
                <a:latin typeface="Consolas" panose="020B0609020204030204" pitchFamily="49" charset="0"/>
              </a:rPr>
              <a:t>../outside-zone/...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D74AD9-F98C-2EBD-9332-7228DC3FE605}"/>
              </a:ext>
            </a:extLst>
          </p:cNvPr>
          <p:cNvSpPr txBox="1"/>
          <p:nvPr/>
        </p:nvSpPr>
        <p:spPr>
          <a:xfrm>
            <a:off x="4572000" y="2882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02646"/>
                </a:solidFill>
                <a:latin typeface="Aptos" panose="020B0004020202020204" pitchFamily="34" charset="0"/>
              </a:rPr>
              <a:t>HTTP 400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373866-20FC-106C-AACA-5C313F83E089}"/>
              </a:ext>
            </a:extLst>
          </p:cNvPr>
          <p:cNvSpPr/>
          <p:nvPr/>
        </p:nvSpPr>
        <p:spPr>
          <a:xfrm>
            <a:off x="6400800" y="2819400"/>
            <a:ext cx="1168400" cy="381000"/>
          </a:xfrm>
          <a:prstGeom prst="roundRect">
            <a:avLst/>
          </a:prstGeom>
          <a:solidFill>
            <a:srgbClr val="3D8974"/>
          </a:solidFill>
          <a:ln w="15240">
            <a:solidFill>
              <a:srgbClr val="3D8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F5AEED-6860-2E24-6DBA-B4F25A1D5FC8}"/>
              </a:ext>
            </a:extLst>
          </p:cNvPr>
          <p:cNvSpPr txBox="1"/>
          <p:nvPr/>
        </p:nvSpPr>
        <p:spPr>
          <a:xfrm>
            <a:off x="6400800" y="2870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6B2B6B-70A0-5B20-6FF0-7CA579AABE3E}"/>
              </a:ext>
            </a:extLst>
          </p:cNvPr>
          <p:cNvSpPr txBox="1"/>
          <p:nvPr/>
        </p:nvSpPr>
        <p:spPr>
          <a:xfrm>
            <a:off x="4572000" y="3352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Blocked as expected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BADB33-91A6-A44B-EB36-0F8173941A5D}"/>
              </a:ext>
            </a:extLst>
          </p:cNvPr>
          <p:cNvSpPr/>
          <p:nvPr/>
        </p:nvSpPr>
        <p:spPr>
          <a:xfrm>
            <a:off x="8077200" y="1676400"/>
            <a:ext cx="3505200" cy="2032000"/>
          </a:xfrm>
          <a:prstGeom prst="roundRect">
            <a:avLst/>
          </a:prstGeom>
          <a:solidFill>
            <a:srgbClr val="FCEBEB"/>
          </a:solidFill>
          <a:ln w="15240">
            <a:solidFill>
              <a:srgbClr val="B0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9E2DEE-6EF7-5A8D-B826-045AF295EF59}"/>
              </a:ext>
            </a:extLst>
          </p:cNvPr>
          <p:cNvSpPr txBox="1"/>
          <p:nvPr/>
        </p:nvSpPr>
        <p:spPr>
          <a:xfrm>
            <a:off x="8305800" y="18923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B03E3E"/>
                </a:solidFill>
                <a:latin typeface="Aptos" panose="020B0004020202020204" pitchFamily="34" charset="0"/>
              </a:rPr>
              <a:t>SYMLINK PATH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FF6DAE-8990-B4AA-AB26-40B509D773A1}"/>
              </a:ext>
            </a:extLst>
          </p:cNvPr>
          <p:cNvSpPr txBox="1"/>
          <p:nvPr/>
        </p:nvSpPr>
        <p:spPr>
          <a:xfrm>
            <a:off x="8305800" y="2286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92D4B"/>
                </a:solidFill>
                <a:latin typeface="Consolas" panose="020B0609020204030204" pitchFamily="49" charset="0"/>
              </a:rPr>
              <a:t>link/outside-secret.txt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58633A-0630-7557-06DD-CE3581013B03}"/>
              </a:ext>
            </a:extLst>
          </p:cNvPr>
          <p:cNvSpPr txBox="1"/>
          <p:nvPr/>
        </p:nvSpPr>
        <p:spPr>
          <a:xfrm>
            <a:off x="8305800" y="2882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02646"/>
                </a:solidFill>
                <a:latin typeface="Aptos" panose="020B0004020202020204" pitchFamily="34" charset="0"/>
              </a:rPr>
              <a:t>HTTP 200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FAE5FCB-4344-7E6B-0CEC-6A3DCF4C6583}"/>
              </a:ext>
            </a:extLst>
          </p:cNvPr>
          <p:cNvSpPr/>
          <p:nvPr/>
        </p:nvSpPr>
        <p:spPr>
          <a:xfrm>
            <a:off x="10134600" y="2819400"/>
            <a:ext cx="1168400" cy="381000"/>
          </a:xfrm>
          <a:prstGeom prst="roundRect">
            <a:avLst/>
          </a:prstGeom>
          <a:solidFill>
            <a:srgbClr val="B03E3E"/>
          </a:solidFill>
          <a:ln w="15240">
            <a:solidFill>
              <a:srgbClr val="B0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3F9FB7-F027-19EE-2CCA-29BD80399749}"/>
              </a:ext>
            </a:extLst>
          </p:cNvPr>
          <p:cNvSpPr txBox="1"/>
          <p:nvPr/>
        </p:nvSpPr>
        <p:spPr>
          <a:xfrm>
            <a:off x="10134600" y="2870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FAIL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59828A-688E-3895-83E7-A4337CE88394}"/>
              </a:ext>
            </a:extLst>
          </p:cNvPr>
          <p:cNvSpPr txBox="1"/>
          <p:nvPr/>
        </p:nvSpPr>
        <p:spPr>
          <a:xfrm>
            <a:off x="8305800" y="3352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Test marker shown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0BB9EDB-BD4B-A6DC-C224-1391A3FBE742}"/>
              </a:ext>
            </a:extLst>
          </p:cNvPr>
          <p:cNvSpPr/>
          <p:nvPr/>
        </p:nvSpPr>
        <p:spPr>
          <a:xfrm>
            <a:off x="609600" y="4114800"/>
            <a:ext cx="10972800" cy="1905000"/>
          </a:xfrm>
          <a:prstGeom prst="roundRect">
            <a:avLst/>
          </a:prstGeom>
          <a:solidFill>
            <a:srgbClr val="192130"/>
          </a:solidFill>
          <a:ln w="15240">
            <a:solidFill>
              <a:srgbClr val="192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CCF805-BC65-47AE-AB42-2226A740A0DC}"/>
              </a:ext>
            </a:extLst>
          </p:cNvPr>
          <p:cNvSpPr txBox="1"/>
          <p:nvPr/>
        </p:nvSpPr>
        <p:spPr>
          <a:xfrm>
            <a:off x="863600" y="43688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89B2E2"/>
                </a:solidFill>
                <a:latin typeface="Aptos" panose="020B0004020202020204" pitchFamily="34" charset="0"/>
              </a:rPr>
              <a:t>WHY THE LINK REQUEST FAILED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D54656-A6C7-65CA-89CC-B0CB25B54DEB}"/>
              </a:ext>
            </a:extLst>
          </p:cNvPr>
          <p:cNvSpPr txBox="1"/>
          <p:nvPr/>
        </p:nvSpPr>
        <p:spPr>
          <a:xfrm>
            <a:off x="863600" y="4787900"/>
            <a:ext cx="641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DEEBF9"/>
                </a:solidFill>
                <a:latin typeface="Consolas" panose="020B0609020204030204" pitchFamily="49" charset="0"/>
              </a:rPr>
              <a:t>Request:  /file?name=link%2Foutside-secret.txt
Observed: HTTP 200  |  FIXPROOF_CONTROLLED_TRAVERSAL_SECRET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4B3B6B-FD90-57F9-6777-C12D1B16569D}"/>
              </a:ext>
            </a:extLst>
          </p:cNvPr>
          <p:cNvCxnSpPr/>
          <p:nvPr/>
        </p:nvCxnSpPr>
        <p:spPr>
          <a:xfrm>
            <a:off x="7569200" y="4673600"/>
            <a:ext cx="0" cy="1016000"/>
          </a:xfrm>
          <a:prstGeom prst="line">
            <a:avLst/>
          </a:prstGeom>
          <a:ln w="12700">
            <a:solidFill>
              <a:srgbClr val="5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E3FC27A-1856-A442-CF35-AABE603FB66B}"/>
              </a:ext>
            </a:extLst>
          </p:cNvPr>
          <p:cNvSpPr txBox="1"/>
          <p:nvPr/>
        </p:nvSpPr>
        <p:spPr>
          <a:xfrm>
            <a:off x="7874000" y="4749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The fix checked only the path text. fs.readFile followed the link to a file outside the allowed folder.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6CE5E6-1248-2352-9E0E-37D47997B765}"/>
              </a:ext>
            </a:extLst>
          </p:cNvPr>
          <p:cNvSpPr txBox="1"/>
          <p:nvPr/>
        </p:nvSpPr>
        <p:spPr>
          <a:xfrm>
            <a:off x="7874000" y="56515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7C3E4"/>
                </a:solidFill>
                <a:latin typeface="Aptos" panose="020B0004020202020204" pitchFamily="34" charset="0"/>
              </a:rPr>
              <a:t>Recorded manual example: Traversal 02</a:t>
            </a:r>
          </a:p>
        </p:txBody>
      </p:sp>
    </p:spTree>
    <p:extLst>
      <p:ext uri="{BB962C8B-B14F-4D97-AF65-F5344CB8AC3E}">
        <p14:creationId xmlns:p14="http://schemas.microsoft.com/office/powerpoint/2010/main" val="119518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375E9-8A65-7082-4BA8-6333D819F9D3}"/>
              </a:ext>
            </a:extLst>
          </p:cNvPr>
          <p:cNvSpPr txBox="1"/>
          <p:nvPr/>
        </p:nvSpPr>
        <p:spPr>
          <a:xfrm>
            <a:off x="609600" y="304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5. WHAT STAYED THE SAME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8E89A-475B-E7A4-84AF-E5E1C5565627}"/>
              </a:ext>
            </a:extLst>
          </p:cNvPr>
          <p:cNvSpPr txBox="1"/>
          <p:nvPr/>
        </p:nvSpPr>
        <p:spPr>
          <a:xfrm>
            <a:off x="609600" y="609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102646"/>
                </a:solidFill>
                <a:latin typeface="Aptos" panose="020B0004020202020204" pitchFamily="34" charset="0"/>
              </a:rPr>
              <a:t>The new test gives more detail but does not change old results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6C48E6-ED74-7EDC-7300-639BE36B5451}"/>
              </a:ext>
            </a:extLst>
          </p:cNvPr>
          <p:cNvCxnSpPr/>
          <p:nvPr/>
        </p:nvCxnSpPr>
        <p:spPr>
          <a:xfrm>
            <a:off x="609600" y="1333500"/>
            <a:ext cx="10972800" cy="0"/>
          </a:xfrm>
          <a:prstGeom prst="line">
            <a:avLst/>
          </a:prstGeom>
          <a:ln w="12700">
            <a:solidFill>
              <a:srgbClr val="BEC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207BB5-A992-CCD4-A751-10608B53ECF3}"/>
              </a:ext>
            </a:extLst>
          </p:cNvPr>
          <p:cNvSpPr txBox="1"/>
          <p:nvPr/>
        </p:nvSpPr>
        <p:spPr>
          <a:xfrm>
            <a:off x="609600" y="647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CS6727 | FixProof Video IV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38AD9-FD47-C3BA-B94F-A04E347AC519}"/>
              </a:ext>
            </a:extLst>
          </p:cNvPr>
          <p:cNvSpPr txBox="1"/>
          <p:nvPr/>
        </p:nvSpPr>
        <p:spPr>
          <a:xfrm>
            <a:off x="112395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9947CF-6283-7663-135D-F7D0EC18FE5B}"/>
              </a:ext>
            </a:extLst>
          </p:cNvPr>
          <p:cNvCxnSpPr/>
          <p:nvPr/>
        </p:nvCxnSpPr>
        <p:spPr>
          <a:xfrm>
            <a:off x="1778000" y="2489200"/>
            <a:ext cx="8636000" cy="0"/>
          </a:xfrm>
          <a:prstGeom prst="line">
            <a:avLst/>
          </a:prstGeom>
          <a:ln w="38100">
            <a:solidFill>
              <a:srgbClr val="2A4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52723D1-562F-9D34-0310-53504A08D230}"/>
              </a:ext>
            </a:extLst>
          </p:cNvPr>
          <p:cNvSpPr/>
          <p:nvPr/>
        </p:nvSpPr>
        <p:spPr>
          <a:xfrm>
            <a:off x="1498600" y="2209800"/>
            <a:ext cx="558800" cy="558800"/>
          </a:xfrm>
          <a:prstGeom prst="ellipse">
            <a:avLst/>
          </a:prstGeom>
          <a:solidFill>
            <a:srgbClr val="49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A9D1B-7DEE-024F-AAA2-6F9A3088E2B7}"/>
              </a:ext>
            </a:extLst>
          </p:cNvPr>
          <p:cNvSpPr txBox="1"/>
          <p:nvPr/>
        </p:nvSpPr>
        <p:spPr>
          <a:xfrm>
            <a:off x="1625600" y="23241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99EECB-F059-A37A-2B16-BD17F18A9DC0}"/>
              </a:ext>
            </a:extLst>
          </p:cNvPr>
          <p:cNvSpPr/>
          <p:nvPr/>
        </p:nvSpPr>
        <p:spPr>
          <a:xfrm>
            <a:off x="190500" y="3022600"/>
            <a:ext cx="3175000" cy="1803400"/>
          </a:xfrm>
          <a:prstGeom prst="roundRect">
            <a:avLst/>
          </a:prstGeom>
          <a:solidFill>
            <a:srgbClr val="E8F0FA"/>
          </a:solidFill>
          <a:ln w="15240">
            <a:solidFill>
              <a:srgbClr val="496F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FEBB0-E2E9-6B10-DA95-96AC35876E70}"/>
              </a:ext>
            </a:extLst>
          </p:cNvPr>
          <p:cNvSpPr txBox="1"/>
          <p:nvPr/>
        </p:nvSpPr>
        <p:spPr>
          <a:xfrm>
            <a:off x="444500" y="3225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496FA8"/>
                </a:solidFill>
                <a:latin typeface="Aptos" panose="020B0004020202020204" pitchFamily="34" charset="0"/>
              </a:rPr>
              <a:t>PRIMARY-v1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D3611-E6F8-674F-8376-429699C514A1}"/>
              </a:ext>
            </a:extLst>
          </p:cNvPr>
          <p:cNvSpPr txBox="1"/>
          <p:nvPr/>
        </p:nvSpPr>
        <p:spPr>
          <a:xfrm>
            <a:off x="444500" y="358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02646"/>
                </a:solidFill>
                <a:latin typeface="Aptos" panose="020B0004020202020204" pitchFamily="34" charset="0"/>
              </a:rPr>
              <a:t>15 original attempts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DBC074-1C41-69D6-EE68-2D7E2F4DD14B}"/>
              </a:ext>
            </a:extLst>
          </p:cNvPr>
          <p:cNvSpPr txBox="1"/>
          <p:nvPr/>
        </p:nvSpPr>
        <p:spPr>
          <a:xfrm>
            <a:off x="444500" y="400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Runtime traversal tests passed. Five cases needed manual review.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A5460C-23E4-5D93-F84C-E48B91A035C8}"/>
              </a:ext>
            </a:extLst>
          </p:cNvPr>
          <p:cNvSpPr/>
          <p:nvPr/>
        </p:nvSpPr>
        <p:spPr>
          <a:xfrm>
            <a:off x="5816600" y="2209800"/>
            <a:ext cx="558800" cy="558800"/>
          </a:xfrm>
          <a:prstGeom prst="ellipse">
            <a:avLst/>
          </a:prstGeom>
          <a:solidFill>
            <a:srgbClr val="E096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E4C06E-27C8-A8BF-4D97-366650C8D6DF}"/>
              </a:ext>
            </a:extLst>
          </p:cNvPr>
          <p:cNvSpPr txBox="1"/>
          <p:nvPr/>
        </p:nvSpPr>
        <p:spPr>
          <a:xfrm>
            <a:off x="5943600" y="23241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E288F9-426A-227B-EDC7-FC0DFDFD90A9}"/>
              </a:ext>
            </a:extLst>
          </p:cNvPr>
          <p:cNvSpPr/>
          <p:nvPr/>
        </p:nvSpPr>
        <p:spPr>
          <a:xfrm>
            <a:off x="4508500" y="3022600"/>
            <a:ext cx="3175000" cy="1803400"/>
          </a:xfrm>
          <a:prstGeom prst="roundRect">
            <a:avLst/>
          </a:prstGeom>
          <a:solidFill>
            <a:srgbClr val="FFF4E0"/>
          </a:solidFill>
          <a:ln w="15240">
            <a:solidFill>
              <a:srgbClr val="E096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711A4B-4684-3CEF-C72F-6A721A670D92}"/>
              </a:ext>
            </a:extLst>
          </p:cNvPr>
          <p:cNvSpPr txBox="1"/>
          <p:nvPr/>
        </p:nvSpPr>
        <p:spPr>
          <a:xfrm>
            <a:off x="4762500" y="3225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E09630"/>
                </a:solidFill>
                <a:latin typeface="Aptos" panose="020B0004020202020204" pitchFamily="34" charset="0"/>
              </a:rPr>
              <a:t>SUPPLEMENTAL-v1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E7787-A1A7-C5F8-E3A2-32476FF64DC5}"/>
              </a:ext>
            </a:extLst>
          </p:cNvPr>
          <p:cNvSpPr txBox="1"/>
          <p:nvPr/>
        </p:nvSpPr>
        <p:spPr>
          <a:xfrm>
            <a:off x="4762500" y="358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02646"/>
                </a:solidFill>
                <a:latin typeface="Aptos" panose="020B0004020202020204" pitchFamily="34" charset="0"/>
              </a:rPr>
              <a:t>140 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18BE8-B892-FAA9-B6FD-BA079CDDCEE3}"/>
              </a:ext>
            </a:extLst>
          </p:cNvPr>
          <p:cNvSpPr txBox="1"/>
          <p:nvPr/>
        </p:nvSpPr>
        <p:spPr>
          <a:xfrm>
            <a:off x="4762500" y="400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PATH-S06 could not run on Windows, so the original result stays unchanged.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67ED70-F2C5-F57C-64BB-7878DFB41A03}"/>
              </a:ext>
            </a:extLst>
          </p:cNvPr>
          <p:cNvSpPr/>
          <p:nvPr/>
        </p:nvSpPr>
        <p:spPr>
          <a:xfrm>
            <a:off x="10134600" y="2209800"/>
            <a:ext cx="558800" cy="558800"/>
          </a:xfrm>
          <a:prstGeom prst="ellipse">
            <a:avLst/>
          </a:prstGeom>
          <a:solidFill>
            <a:srgbClr val="755D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CEF98C-E63D-5CD2-DC55-FAE8D6124E45}"/>
              </a:ext>
            </a:extLst>
          </p:cNvPr>
          <p:cNvSpPr txBox="1"/>
          <p:nvPr/>
        </p:nvSpPr>
        <p:spPr>
          <a:xfrm>
            <a:off x="10261600" y="23241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5F3338-5042-7CAE-8946-01F70124ADD4}"/>
              </a:ext>
            </a:extLst>
          </p:cNvPr>
          <p:cNvSpPr/>
          <p:nvPr/>
        </p:nvSpPr>
        <p:spPr>
          <a:xfrm>
            <a:off x="8826500" y="3022600"/>
            <a:ext cx="3175000" cy="1803400"/>
          </a:xfrm>
          <a:prstGeom prst="roundRect">
            <a:avLst/>
          </a:prstGeom>
          <a:solidFill>
            <a:srgbClr val="F2EDFA"/>
          </a:solidFill>
          <a:ln w="15240">
            <a:solidFill>
              <a:srgbClr val="755D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AB55C4-08E6-6FE0-39D0-D377278550FB}"/>
              </a:ext>
            </a:extLst>
          </p:cNvPr>
          <p:cNvSpPr txBox="1"/>
          <p:nvPr/>
        </p:nvSpPr>
        <p:spPr>
          <a:xfrm>
            <a:off x="9080500" y="3225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755D9B"/>
                </a:solidFill>
                <a:latin typeface="Aptos" panose="020B0004020202020204" pitchFamily="34" charset="0"/>
              </a:rPr>
              <a:t>PATH-S06 EXTENSION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135E0A-B841-04A1-08B9-4682714BD967}"/>
              </a:ext>
            </a:extLst>
          </p:cNvPr>
          <p:cNvSpPr txBox="1"/>
          <p:nvPr/>
        </p:nvSpPr>
        <p:spPr>
          <a:xfrm>
            <a:off x="9080500" y="358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02646"/>
                </a:solidFill>
                <a:latin typeface="Aptos" panose="020B0004020202020204" pitchFamily="34" charset="0"/>
              </a:rPr>
              <a:t>5 new test results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9319F6-64FE-6FDA-CEF0-684BAD4B406F}"/>
              </a:ext>
            </a:extLst>
          </p:cNvPr>
          <p:cNvSpPr txBox="1"/>
          <p:nvPr/>
        </p:nvSpPr>
        <p:spPr>
          <a:xfrm>
            <a:off x="9080500" y="400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46987"/>
                </a:solidFill>
                <a:latin typeface="Aptos" panose="020B0004020202020204" pitchFamily="34" charset="0"/>
              </a:rPr>
              <a:t>All five failed the test. I later reviewed and rejected all five fixes.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663C077-27EC-9BC9-38B9-E28F7CDC529F}"/>
              </a:ext>
            </a:extLst>
          </p:cNvPr>
          <p:cNvSpPr/>
          <p:nvPr/>
        </p:nvSpPr>
        <p:spPr>
          <a:xfrm>
            <a:off x="1460500" y="5257800"/>
            <a:ext cx="9271000" cy="736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F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97DF47-2532-0C28-0D6F-00B06BE4965A}"/>
              </a:ext>
            </a:extLst>
          </p:cNvPr>
          <p:cNvSpPr txBox="1"/>
          <p:nvPr/>
        </p:nvSpPr>
        <p:spPr>
          <a:xfrm>
            <a:off x="1727200" y="5486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UNCHANGED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5216BF-CFC0-294B-42AE-C4A8C042A179}"/>
              </a:ext>
            </a:extLst>
          </p:cNvPr>
          <p:cNvSpPr txBox="1"/>
          <p:nvPr/>
        </p:nvSpPr>
        <p:spPr>
          <a:xfrm>
            <a:off x="2946400" y="5448300"/>
            <a:ext cx="361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92D4B"/>
                </a:solidFill>
                <a:latin typeface="Aptos" panose="020B0004020202020204" pitchFamily="34" charset="0"/>
              </a:rPr>
              <a:t>Original reviews, results, and totals.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7DF1A6-C46B-C197-F336-0A3D38544164}"/>
              </a:ext>
            </a:extLst>
          </p:cNvPr>
          <p:cNvSpPr txBox="1"/>
          <p:nvPr/>
        </p:nvSpPr>
        <p:spPr>
          <a:xfrm>
            <a:off x="6921500" y="54864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755D9B"/>
                </a:solidFill>
                <a:latin typeface="Aptos" panose="020B0004020202020204" pitchFamily="34" charset="0"/>
              </a:rPr>
              <a:t>NEW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7A5DC4-2622-DC44-A9B8-AD46CA226AB6}"/>
              </a:ext>
            </a:extLst>
          </p:cNvPr>
          <p:cNvSpPr txBox="1"/>
          <p:nvPr/>
        </p:nvSpPr>
        <p:spPr>
          <a:xfrm>
            <a:off x="7581900" y="54483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92D4B"/>
                </a:solidFill>
                <a:latin typeface="Aptos" panose="020B0004020202020204" pitchFamily="34" charset="0"/>
              </a:rPr>
              <a:t>New test evidence and my later review.</a:t>
            </a:r>
          </a:p>
        </p:txBody>
      </p:sp>
    </p:spTree>
    <p:extLst>
      <p:ext uri="{BB962C8B-B14F-4D97-AF65-F5344CB8AC3E}">
        <p14:creationId xmlns:p14="http://schemas.microsoft.com/office/powerpoint/2010/main" val="3882167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8D8F37-4487-948E-7D19-4254D387915B}"/>
              </a:ext>
            </a:extLst>
          </p:cNvPr>
          <p:cNvSpPr txBox="1"/>
          <p:nvPr/>
        </p:nvSpPr>
        <p:spPr>
          <a:xfrm>
            <a:off x="609600" y="304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96FA8"/>
                </a:solidFill>
                <a:latin typeface="Aptos" panose="020B0004020202020204" pitchFamily="34" charset="0"/>
              </a:rPr>
              <a:t>6. WHAT THIS MEANS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938FA-9896-8A57-9FBA-CFE6BD362B8E}"/>
              </a:ext>
            </a:extLst>
          </p:cNvPr>
          <p:cNvSpPr txBox="1"/>
          <p:nvPr/>
        </p:nvSpPr>
        <p:spPr>
          <a:xfrm>
            <a:off x="609600" y="609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102646"/>
                </a:solidFill>
                <a:latin typeface="Aptos" panose="020B0004020202020204" pitchFamily="34" charset="0"/>
              </a:rPr>
              <a:t>One clear finding and my 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5FDD25-C913-8BE1-BD4D-5DDA0609CED1}"/>
              </a:ext>
            </a:extLst>
          </p:cNvPr>
          <p:cNvCxnSpPr/>
          <p:nvPr/>
        </p:nvCxnSpPr>
        <p:spPr>
          <a:xfrm>
            <a:off x="609600" y="1333500"/>
            <a:ext cx="10972800" cy="0"/>
          </a:xfrm>
          <a:prstGeom prst="line">
            <a:avLst/>
          </a:prstGeom>
          <a:ln w="12700">
            <a:solidFill>
              <a:srgbClr val="BEC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F39A0C-DA1F-9CB2-51C8-D8BBB7F5A011}"/>
              </a:ext>
            </a:extLst>
          </p:cNvPr>
          <p:cNvSpPr txBox="1"/>
          <p:nvPr/>
        </p:nvSpPr>
        <p:spPr>
          <a:xfrm>
            <a:off x="609600" y="647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CS6727 | FixProof Video IV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5C29C-56D5-0BE8-377A-611E7BD01500}"/>
              </a:ext>
            </a:extLst>
          </p:cNvPr>
          <p:cNvSpPr txBox="1"/>
          <p:nvPr/>
        </p:nvSpPr>
        <p:spPr>
          <a:xfrm>
            <a:off x="112395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546987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B2943B-C6E2-7B9C-C738-4CDCF3F04BB7}"/>
              </a:ext>
            </a:extLst>
          </p:cNvPr>
          <p:cNvSpPr/>
          <p:nvPr/>
        </p:nvSpPr>
        <p:spPr>
          <a:xfrm>
            <a:off x="609600" y="1676400"/>
            <a:ext cx="5207000" cy="2844800"/>
          </a:xfrm>
          <a:prstGeom prst="roundRect">
            <a:avLst/>
          </a:prstGeom>
          <a:solidFill>
            <a:srgbClr val="E6F5F0"/>
          </a:solidFill>
          <a:ln w="15240">
            <a:solidFill>
              <a:srgbClr val="3D89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FE394-9881-D96F-7B3F-64B2F13CC254}"/>
              </a:ext>
            </a:extLst>
          </p:cNvPr>
          <p:cNvSpPr txBox="1"/>
          <p:nvPr/>
        </p:nvSpPr>
        <p:spPr>
          <a:xfrm>
            <a:off x="863600" y="19177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3D8974"/>
                </a:solidFill>
                <a:latin typeface="Aptos" panose="020B0004020202020204" pitchFamily="34" charset="0"/>
              </a:rPr>
              <a:t>WHAT I CAN SAY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AB68EA-416C-48B1-E481-8AE4DB5FF67B}"/>
              </a:ext>
            </a:extLst>
          </p:cNvPr>
          <p:cNvSpPr/>
          <p:nvPr/>
        </p:nvSpPr>
        <p:spPr>
          <a:xfrm>
            <a:off x="863600" y="2425700"/>
            <a:ext cx="279400" cy="279400"/>
          </a:xfrm>
          <a:prstGeom prst="ellipse">
            <a:avLst/>
          </a:prstGeom>
          <a:solidFill>
            <a:srgbClr val="3D89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CD90C-D3C6-BFDB-CCC6-531005DD5345}"/>
              </a:ext>
            </a:extLst>
          </p:cNvPr>
          <p:cNvSpPr txBox="1"/>
          <p:nvPr/>
        </p:nvSpPr>
        <p:spPr>
          <a:xfrm>
            <a:off x="889000" y="2489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Arial" panose="020B0604020202020204" pitchFamily="34" charset="0"/>
              </a:rPr>
              <a:t>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999C2-DC57-1D44-CD48-B13B60069B6F}"/>
              </a:ext>
            </a:extLst>
          </p:cNvPr>
          <p:cNvSpPr txBox="1"/>
          <p:nvPr/>
        </p:nvSpPr>
        <p:spPr>
          <a:xfrm>
            <a:off x="1270000" y="2413000"/>
            <a:ext cx="410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192D4B"/>
                </a:solidFill>
                <a:latin typeface="Aptos" panose="020B0004020202020204" pitchFamily="34" charset="0"/>
              </a:rPr>
              <a:t>All five saved fixes fail the PATH-S06 test.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405562-BA7F-95D6-AE13-6506A45FC700}"/>
              </a:ext>
            </a:extLst>
          </p:cNvPr>
          <p:cNvSpPr/>
          <p:nvPr/>
        </p:nvSpPr>
        <p:spPr>
          <a:xfrm>
            <a:off x="863600" y="3035300"/>
            <a:ext cx="279400" cy="279400"/>
          </a:xfrm>
          <a:prstGeom prst="ellipse">
            <a:avLst/>
          </a:prstGeom>
          <a:solidFill>
            <a:srgbClr val="3D89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3DFE8-897A-F299-958F-0C980E7E6453}"/>
              </a:ext>
            </a:extLst>
          </p:cNvPr>
          <p:cNvSpPr txBox="1"/>
          <p:nvPr/>
        </p:nvSpPr>
        <p:spPr>
          <a:xfrm>
            <a:off x="889000" y="30988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Arial" panose="020B0604020202020204" pitchFamily="34" charset="0"/>
              </a:rPr>
              <a:t>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AFDA4E-41D7-2248-55CF-D1BD95149AB1}"/>
              </a:ext>
            </a:extLst>
          </p:cNvPr>
          <p:cNvSpPr txBox="1"/>
          <p:nvPr/>
        </p:nvSpPr>
        <p:spPr>
          <a:xfrm>
            <a:off x="1270000" y="3022600"/>
            <a:ext cx="410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192D4B"/>
                </a:solidFill>
                <a:latin typeface="Aptos" panose="020B0004020202020204" pitchFamily="34" charset="0"/>
              </a:rPr>
              <a:t>Blocking ../ does not stop a symbolic link from leaving the allowed folder.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283AA0-02B3-3FCE-F8D7-7CF02AFAA709}"/>
              </a:ext>
            </a:extLst>
          </p:cNvPr>
          <p:cNvSpPr/>
          <p:nvPr/>
        </p:nvSpPr>
        <p:spPr>
          <a:xfrm>
            <a:off x="863600" y="3644900"/>
            <a:ext cx="279400" cy="279400"/>
          </a:xfrm>
          <a:prstGeom prst="ellipse">
            <a:avLst/>
          </a:prstGeom>
          <a:solidFill>
            <a:srgbClr val="3D89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4E42C8-D2D1-DED2-4600-7EE1C3A379DA}"/>
              </a:ext>
            </a:extLst>
          </p:cNvPr>
          <p:cNvSpPr txBox="1"/>
          <p:nvPr/>
        </p:nvSpPr>
        <p:spPr>
          <a:xfrm>
            <a:off x="889000" y="37084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Arial" panose="020B0604020202020204" pitchFamily="34" charset="0"/>
              </a:rPr>
              <a:t>OK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3E1CFC-D772-E706-E5A3-506819B873BE}"/>
              </a:ext>
            </a:extLst>
          </p:cNvPr>
          <p:cNvSpPr txBox="1"/>
          <p:nvPr/>
        </p:nvSpPr>
        <p:spPr>
          <a:xfrm>
            <a:off x="1270000" y="3632200"/>
            <a:ext cx="410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192D4B"/>
                </a:solidFill>
                <a:latin typeface="Aptos" panose="020B0004020202020204" pitchFamily="34" charset="0"/>
              </a:rPr>
              <a:t>The new test gives more detail without changing older results.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CB8DDD-C24A-C314-CE7A-D37810386B15}"/>
              </a:ext>
            </a:extLst>
          </p:cNvPr>
          <p:cNvSpPr/>
          <p:nvPr/>
        </p:nvSpPr>
        <p:spPr>
          <a:xfrm>
            <a:off x="6121400" y="1676400"/>
            <a:ext cx="5461000" cy="2844800"/>
          </a:xfrm>
          <a:prstGeom prst="roundRect">
            <a:avLst/>
          </a:prstGeom>
          <a:solidFill>
            <a:srgbClr val="FFF4E0"/>
          </a:solidFill>
          <a:ln w="15240">
            <a:solidFill>
              <a:srgbClr val="E096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B940AB-56B5-2844-CA18-F518C7FB9269}"/>
              </a:ext>
            </a:extLst>
          </p:cNvPr>
          <p:cNvSpPr txBox="1"/>
          <p:nvPr/>
        </p:nvSpPr>
        <p:spPr>
          <a:xfrm>
            <a:off x="6375400" y="1917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E09630"/>
                </a:solidFill>
                <a:latin typeface="Aptos" panose="020B0004020202020204" pitchFamily="34" charset="0"/>
              </a:rPr>
              <a:t>WHAT I CANNOT SAY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27E6CA-B991-57DE-AD9A-0348B7D73804}"/>
              </a:ext>
            </a:extLst>
          </p:cNvPr>
          <p:cNvSpPr txBox="1"/>
          <p:nvPr/>
        </p:nvSpPr>
        <p:spPr>
          <a:xfrm>
            <a:off x="6375400" y="24511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92D4B"/>
                </a:solidFill>
                <a:latin typeface="Aptos" panose="020B0004020202020204" pitchFamily="34" charset="0"/>
              </a:rPr>
              <a:t>The whole app is safe from path traversal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3EFEB-572B-009B-7905-264F014C96AE}"/>
              </a:ext>
            </a:extLst>
          </p:cNvPr>
          <p:cNvSpPr txBox="1"/>
          <p:nvPr/>
        </p:nvSpPr>
        <p:spPr>
          <a:xfrm>
            <a:off x="6375400" y="30099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92D4B"/>
                </a:solidFill>
                <a:latin typeface="Aptos" panose="020B0004020202020204" pitchFamily="34" charset="0"/>
              </a:rPr>
              <a:t>How often fixes work in production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8F84EB-C132-4163-5EC0-568181C66C92}"/>
              </a:ext>
            </a:extLst>
          </p:cNvPr>
          <p:cNvSpPr txBox="1"/>
          <p:nvPr/>
        </p:nvSpPr>
        <p:spPr>
          <a:xfrm>
            <a:off x="6375400" y="35687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92D4B"/>
                </a:solidFill>
                <a:latin typeface="Aptos" panose="020B0004020202020204" pitchFamily="34" charset="0"/>
              </a:rPr>
              <a:t>That this applies beyond the three Express test apps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2967F4-10F7-C591-B7A1-D8E36B9B0129}"/>
              </a:ext>
            </a:extLst>
          </p:cNvPr>
          <p:cNvSpPr/>
          <p:nvPr/>
        </p:nvSpPr>
        <p:spPr>
          <a:xfrm>
            <a:off x="609600" y="4851400"/>
            <a:ext cx="10972800" cy="1168400"/>
          </a:xfrm>
          <a:prstGeom prst="roundRect">
            <a:avLst/>
          </a:prstGeom>
          <a:solidFill>
            <a:srgbClr val="102646"/>
          </a:solidFill>
          <a:ln w="15240">
            <a:solidFill>
              <a:srgbClr val="102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0A82BB-86E9-CF40-32EC-8BD719A65C1E}"/>
              </a:ext>
            </a:extLst>
          </p:cNvPr>
          <p:cNvSpPr txBox="1"/>
          <p:nvPr/>
        </p:nvSpPr>
        <p:spPr>
          <a:xfrm>
            <a:off x="863600" y="51054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92B4E0"/>
                </a:solidFill>
                <a:latin typeface="Aptos" panose="020B0004020202020204" pitchFamily="34" charset="0"/>
              </a:rPr>
              <a:t>NEXT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1BA106-8744-541D-93F3-4B4140BE8CF3}"/>
              </a:ext>
            </a:extLst>
          </p:cNvPr>
          <p:cNvSpPr txBox="1"/>
          <p:nvPr/>
        </p:nvSpPr>
        <p:spPr>
          <a:xfrm>
            <a:off x="1803400" y="5054600"/>
            <a:ext cx="927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Review peer feedback | rerun from a clean package | update docs and public evidence | finish the report and presentation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0829F3-834A-2CB6-A5ED-06AAAA7E462F}"/>
              </a:ext>
            </a:extLst>
          </p:cNvPr>
          <p:cNvSpPr txBox="1"/>
          <p:nvPr/>
        </p:nvSpPr>
        <p:spPr>
          <a:xfrm>
            <a:off x="1803400" y="5676900"/>
            <a:ext cx="927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BED2EB"/>
                </a:solidFill>
                <a:latin typeface="Aptos" panose="020B0004020202020204" pitchFamily="34" charset="0"/>
              </a:rPr>
              <a:t>Feedback: Which would add more confidence: an independent rerun or one more test case? What evidence would you want to see?</a:t>
            </a:r>
          </a:p>
        </p:txBody>
      </p:sp>
    </p:spTree>
    <p:extLst>
      <p:ext uri="{BB962C8B-B14F-4D97-AF65-F5344CB8AC3E}">
        <p14:creationId xmlns:p14="http://schemas.microsoft.com/office/powerpoint/2010/main" val="48086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63195-CB2B-2673-B195-881A39825438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Path Traversal 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FA684-54D0-5A06-D7AA-176BC8462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80" b="-1"/>
          <a:stretch>
            <a:fillRect/>
          </a:stretch>
        </p:blipFill>
        <p:spPr>
          <a:xfrm>
            <a:off x="5689888" y="643466"/>
            <a:ext cx="5473412" cy="615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8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0A1D7-B570-019F-FF66-331B98E5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68FE9-1963-6609-3433-1451949493BA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Path Traversal 02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8AD86-C33B-919A-DF06-189D3A8F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288" y="643466"/>
            <a:ext cx="4930141" cy="610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08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DEE67-887E-89AA-C9E8-71BB3CE0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own Arrow 7">
            <a:extLst>
              <a:ext uri="{FF2B5EF4-FFF2-40B4-BE49-F238E27FC236}">
                <a16:creationId xmlns:a16="http://schemas.microsoft.com/office/drawing/2014/main" id="{9C1FF04D-FD0A-ED0F-32BA-6A1B07926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31F40-C694-DCE9-7585-EFAC9CBDCFE1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Path Traversal 03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C9594D-73E3-D2A5-B0B8-9BC73EC72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337" y="353291"/>
            <a:ext cx="5833241" cy="61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01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D64D2-03C5-340F-D5D3-DF47E151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own Arrow 7">
            <a:extLst>
              <a:ext uri="{FF2B5EF4-FFF2-40B4-BE49-F238E27FC236}">
                <a16:creationId xmlns:a16="http://schemas.microsoft.com/office/drawing/2014/main" id="{05BF6B5C-7720-7E39-FF1F-A23470503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48480-8329-B09E-2786-4763659924B5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Path Traversal 04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7EFF5E-8C0E-DBB4-B9A6-BEFB5E58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311" y="0"/>
            <a:ext cx="6726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0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04EC7-9CD9-7B47-9B0F-8077512B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03258-BCDE-720D-1CA8-8A000822EE79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Path Traversal 05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1C126-B476-CBE5-674E-2ED0D7D77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909" y="0"/>
            <a:ext cx="6500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7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FB2845-6D59-4FCD-AB80-D12821F7AB44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ac2147dd-336e-4865-a8bc-bd44c2c9c31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1147</Words>
  <Application>Microsoft Office PowerPoint</Application>
  <PresentationFormat>Widescreen</PresentationFormat>
  <Paragraphs>172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Tran</dc:creator>
  <cp:lastModifiedBy>Tony Tran</cp:lastModifiedBy>
  <cp:revision>4</cp:revision>
  <dcterms:created xsi:type="dcterms:W3CDTF">2026-10-22T03:34:29Z</dcterms:created>
  <dcterms:modified xsi:type="dcterms:W3CDTF">2026-10-22T04:23:18Z</dcterms:modified>
</cp:coreProperties>
</file>